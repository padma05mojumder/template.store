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Raleway" pitchFamily="2" charset="0"/>
      <p:regular r:id="rId13"/>
    </p:embeddedFont>
    <p:embeddedFont>
      <p:font typeface="Raleway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1562100"/>
            <a:ext cx="8324850" cy="6798984"/>
            <a:chOff x="0" y="0"/>
            <a:chExt cx="11099800" cy="9065312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0"/>
              <a:ext cx="11099800" cy="74371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725"/>
                </a:lnSpc>
              </a:pPr>
              <a:r>
                <a:rPr lang="en-US" sz="10725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Data Visualization: Transforming Insights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7677837"/>
              <a:ext cx="11099800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Presented by [Presenter Name] at Organic Data Solutions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296400" y="9261475"/>
            <a:ext cx="6886575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October 15, 2025, at 10:00 AM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66750" y="666750"/>
            <a:ext cx="7191375" cy="8953500"/>
            <a:chOff x="0" y="0"/>
            <a:chExt cx="1036915" cy="129099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36915" cy="1290994"/>
            </a:xfrm>
            <a:custGeom>
              <a:avLst/>
              <a:gdLst/>
              <a:ahLst/>
              <a:cxnLst/>
              <a:rect l="l" t="t" r="r" b="b"/>
              <a:pathLst>
                <a:path w="1036915" h="1290994">
                  <a:moveTo>
                    <a:pt x="0" y="0"/>
                  </a:moveTo>
                  <a:lnTo>
                    <a:pt x="1036915" y="0"/>
                  </a:lnTo>
                  <a:lnTo>
                    <a:pt x="1036915" y="1290994"/>
                  </a:lnTo>
                  <a:lnTo>
                    <a:pt x="0" y="1290994"/>
                  </a:ln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296400" y="666750"/>
            <a:ext cx="5489342" cy="445682"/>
            <a:chOff x="0" y="0"/>
            <a:chExt cx="7319123" cy="594243"/>
          </a:xfrm>
        </p:grpSpPr>
        <p:sp>
          <p:nvSpPr>
            <p:cNvPr id="9" name="TextBox 9"/>
            <p:cNvSpPr txBox="1"/>
            <p:nvPr/>
          </p:nvSpPr>
          <p:spPr>
            <a:xfrm>
              <a:off x="956381" y="104226"/>
              <a:ext cx="6362742" cy="490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50"/>
                </a:lnSpc>
              </a:pPr>
              <a:r>
                <a:rPr lang="en-US" sz="25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Organic Data Solutions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594243" cy="594243"/>
            </a:xfrm>
            <a:custGeom>
              <a:avLst/>
              <a:gdLst/>
              <a:ahLst/>
              <a:cxnLst/>
              <a:rect l="l" t="t" r="r" b="b"/>
              <a:pathLst>
                <a:path w="594243" h="594243">
                  <a:moveTo>
                    <a:pt x="0" y="0"/>
                  </a:moveTo>
                  <a:lnTo>
                    <a:pt x="594243" y="0"/>
                  </a:lnTo>
                  <a:lnTo>
                    <a:pt x="594243" y="594243"/>
                  </a:lnTo>
                  <a:lnTo>
                    <a:pt x="0" y="594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4785" y="666750"/>
            <a:ext cx="11203365" cy="3258770"/>
            <a:chOff x="0" y="0"/>
            <a:chExt cx="14937820" cy="4345026"/>
          </a:xfrm>
        </p:grpSpPr>
        <p:sp>
          <p:nvSpPr>
            <p:cNvPr id="3" name="TextBox 3"/>
            <p:cNvSpPr txBox="1"/>
            <p:nvPr/>
          </p:nvSpPr>
          <p:spPr>
            <a:xfrm>
              <a:off x="0" y="76200"/>
              <a:ext cx="14937820" cy="3429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Introduction to Data Visualization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668751"/>
              <a:ext cx="1493782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Understanding its Importance and Role in Business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71512" y="6886575"/>
            <a:ext cx="2590269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Defining Data Visualization and Its Purpose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94990" y="6886575"/>
            <a:ext cx="2617503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Enhancing Decision-Making Through Effective Visualization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6400" y="6886575"/>
            <a:ext cx="2571750" cy="1163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Evolution of Data Visualization in Business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611225" y="6886575"/>
            <a:ext cx="2571750" cy="194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</a:pPr>
            <a:r>
              <a:rPr lang="en-US" sz="2199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Compelling Examples Illustrating the Power of Visualization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488928" y="9402749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6B7B6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62404" y="5469939"/>
            <a:ext cx="1137821" cy="568911"/>
          </a:xfrm>
          <a:custGeom>
            <a:avLst/>
            <a:gdLst/>
            <a:ahLst/>
            <a:cxnLst/>
            <a:rect l="l" t="t" r="r" b="b"/>
            <a:pathLst>
              <a:path w="1137821" h="568911">
                <a:moveTo>
                  <a:pt x="0" y="0"/>
                </a:moveTo>
                <a:lnTo>
                  <a:pt x="1137821" y="0"/>
                </a:lnTo>
                <a:lnTo>
                  <a:pt x="1137821" y="568911"/>
                </a:lnTo>
                <a:lnTo>
                  <a:pt x="0" y="568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0800000">
            <a:off x="4994990" y="5478820"/>
            <a:ext cx="1120060" cy="560030"/>
          </a:xfrm>
          <a:custGeom>
            <a:avLst/>
            <a:gdLst/>
            <a:ahLst/>
            <a:cxnLst/>
            <a:rect l="l" t="t" r="r" b="b"/>
            <a:pathLst>
              <a:path w="1120060" h="56003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>
            <a:off x="13611225" y="5478820"/>
            <a:ext cx="1120060" cy="560030"/>
          </a:xfrm>
          <a:custGeom>
            <a:avLst/>
            <a:gdLst/>
            <a:ahLst/>
            <a:cxnLst/>
            <a:rect l="l" t="t" r="r" b="b"/>
            <a:pathLst>
              <a:path w="1120060" h="56003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296400" y="5478820"/>
            <a:ext cx="1120060" cy="560030"/>
          </a:xfrm>
          <a:custGeom>
            <a:avLst/>
            <a:gdLst/>
            <a:ahLst/>
            <a:cxnLst/>
            <a:rect l="l" t="t" r="r" b="b"/>
            <a:pathLst>
              <a:path w="1120060" h="56003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6B7B6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66750" y="666750"/>
            <a:ext cx="13208441" cy="3382010"/>
            <a:chOff x="0" y="0"/>
            <a:chExt cx="17611255" cy="4509346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7611255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Key Principles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320925"/>
              <a:ext cx="1761125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Essential Guidelines for Effective Visualization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552825"/>
              <a:ext cx="17611255" cy="9565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</a:pPr>
              <a:r>
                <a:rPr lang="en-US" sz="22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To create impactful data visualizations, focus on </a:t>
              </a:r>
              <a:r>
                <a:rPr lang="en-US" sz="2200" b="1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clarity</a:t>
              </a:r>
              <a:r>
                <a:rPr lang="en-US" sz="22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, </a:t>
              </a:r>
              <a:r>
                <a:rPr lang="en-US" sz="2200" b="1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accuracy</a:t>
              </a:r>
              <a:r>
                <a:rPr lang="en-US" sz="22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, </a:t>
              </a:r>
              <a:r>
                <a:rPr lang="en-US" sz="2200" b="1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simplicity</a:t>
              </a:r>
              <a:r>
                <a:rPr lang="en-US" sz="22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, and </a:t>
              </a:r>
              <a:r>
                <a:rPr lang="en-US" sz="2200" b="1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storytelling</a:t>
              </a:r>
              <a:r>
                <a:rPr lang="en-US" sz="22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. These principles enhance understanding, allowing the audience to grasp complex information effortlessly.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5753100" cy="8080381"/>
            <a:chOff x="0" y="0"/>
            <a:chExt cx="891306" cy="12518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1306" cy="1251862"/>
            </a:xfrm>
            <a:custGeom>
              <a:avLst/>
              <a:gdLst/>
              <a:ahLst/>
              <a:cxnLst/>
              <a:rect l="l" t="t" r="r" b="b"/>
              <a:pathLst>
                <a:path w="891306" h="1251862">
                  <a:moveTo>
                    <a:pt x="0" y="0"/>
                  </a:moveTo>
                  <a:lnTo>
                    <a:pt x="891306" y="0"/>
                  </a:lnTo>
                  <a:lnTo>
                    <a:pt x="891306" y="1251862"/>
                  </a:lnTo>
                  <a:lnTo>
                    <a:pt x="0" y="1251862"/>
                  </a:lnTo>
                  <a:close/>
                </a:path>
              </a:pathLst>
            </a:custGeom>
            <a:blipFill>
              <a:blip r:embed="rId2"/>
              <a:stretch>
                <a:fillRect t="-316" b="-316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858125" y="666750"/>
            <a:ext cx="9763125" cy="3525493"/>
            <a:chOff x="0" y="0"/>
            <a:chExt cx="13017500" cy="4700657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3017500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Chart Types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49414"/>
              <a:ext cx="1301750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Selecting the Right Visualization for Your Data Needs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686139"/>
              <a:ext cx="1301750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Line charts are effective for illustrating trends over time, allowing viewers to easily grasp patterns and fluctuations in data.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</a:p>
        </p:txBody>
      </p:sp>
      <p:sp>
        <p:nvSpPr>
          <p:cNvPr id="9" name="AutoShape 9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6B7B6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5753100" cy="8058150"/>
            <a:chOff x="0" y="0"/>
            <a:chExt cx="876367" cy="12274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367" cy="1227494"/>
            </a:xfrm>
            <a:custGeom>
              <a:avLst/>
              <a:gdLst/>
              <a:ahLst/>
              <a:cxnLst/>
              <a:rect l="l" t="t" r="r" b="b"/>
              <a:pathLst>
                <a:path w="876367" h="1227494">
                  <a:moveTo>
                    <a:pt x="0" y="0"/>
                  </a:moveTo>
                  <a:lnTo>
                    <a:pt x="876367" y="0"/>
                  </a:lnTo>
                  <a:lnTo>
                    <a:pt x="876367" y="1227494"/>
                  </a:lnTo>
                  <a:lnTo>
                    <a:pt x="0" y="1227494"/>
                  </a:lnTo>
                  <a:close/>
                </a:path>
              </a:pathLst>
            </a:custGeom>
            <a:blipFill>
              <a:blip r:embed="rId2"/>
              <a:stretch>
                <a:fillRect t="-455" b="-455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858125" y="666750"/>
            <a:ext cx="9725330" cy="5982889"/>
            <a:chOff x="0" y="0"/>
            <a:chExt cx="12967107" cy="7977185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2926423" cy="3429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u="none" strike="noStrike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Common Pitfalls in Visualization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127392"/>
              <a:ext cx="12967107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Avoid these common mistakes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921267"/>
              <a:ext cx="12967107" cy="2055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Misleading or skewed scales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Cluttered and complex layouts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Overcomplicating the message</a:t>
              </a:r>
            </a:p>
            <a:p>
              <a:pPr marL="474979" lvl="1" indent="-237490" algn="l">
                <a:lnSpc>
                  <a:spcPts val="3079"/>
                </a:lnSpc>
                <a:buFont typeface="Arial"/>
                <a:buChar char="•"/>
              </a:pPr>
              <a:r>
                <a:rPr lang="en-US" sz="2199" u="none" strike="noStrike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Inconsistent use of colors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6B7B6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359380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6B7B6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97931" y="4248150"/>
            <a:ext cx="1790700" cy="895350"/>
          </a:xfrm>
          <a:custGeom>
            <a:avLst/>
            <a:gdLst/>
            <a:ahLst/>
            <a:cxnLst/>
            <a:rect l="l" t="t" r="r" b="b"/>
            <a:pathLst>
              <a:path w="1790700" h="895350">
                <a:moveTo>
                  <a:pt x="0" y="0"/>
                </a:moveTo>
                <a:lnTo>
                  <a:pt x="1790700" y="0"/>
                </a:lnTo>
                <a:lnTo>
                  <a:pt x="179070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8248650" y="4248150"/>
            <a:ext cx="1790700" cy="895350"/>
          </a:xfrm>
          <a:custGeom>
            <a:avLst/>
            <a:gdLst/>
            <a:ahLst/>
            <a:cxnLst/>
            <a:rect l="l" t="t" r="r" b="b"/>
            <a:pathLst>
              <a:path w="1790700" h="895350">
                <a:moveTo>
                  <a:pt x="0" y="0"/>
                </a:moveTo>
                <a:lnTo>
                  <a:pt x="1790700" y="0"/>
                </a:lnTo>
                <a:lnTo>
                  <a:pt x="179070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71513" y="6076950"/>
            <a:ext cx="5443538" cy="1554116"/>
            <a:chOff x="0" y="0"/>
            <a:chExt cx="7258050" cy="2072154"/>
          </a:xfrm>
        </p:grpSpPr>
        <p:sp>
          <p:nvSpPr>
            <p:cNvPr id="7" name="TextBox 7"/>
            <p:cNvSpPr txBox="1"/>
            <p:nvPr/>
          </p:nvSpPr>
          <p:spPr>
            <a:xfrm>
              <a:off x="0" y="-38100"/>
              <a:ext cx="725805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Bar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057636"/>
              <a:ext cx="725805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 b="1" u="none" strike="noStrike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Effective for</a:t>
              </a:r>
              <a:r>
                <a:rPr lang="en-US" sz="2200" u="none" strike="noStrike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 comparing quantities across different categories.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604444" y="742950"/>
            <a:ext cx="13383912" cy="255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00"/>
              </a:lnSpc>
            </a:pPr>
            <a:r>
              <a:rPr lang="en-US" sz="9000" u="none" strike="noStrike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Types of Data Visualization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419850" y="6076950"/>
            <a:ext cx="5448300" cy="1554116"/>
            <a:chOff x="0" y="0"/>
            <a:chExt cx="7264400" cy="207215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38100"/>
              <a:ext cx="72644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Line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057636"/>
              <a:ext cx="726440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 b="1" u="none" strike="noStrike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Ideal for</a:t>
              </a:r>
              <a:r>
                <a:rPr lang="en-US" sz="2200" u="none" strike="noStrike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 showing trends over time with continuous data.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72950" y="6076950"/>
            <a:ext cx="5448300" cy="1554116"/>
            <a:chOff x="0" y="0"/>
            <a:chExt cx="7264400" cy="2072154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38100"/>
              <a:ext cx="72644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Pie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057636"/>
              <a:ext cx="726440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 b="1" u="none" strike="noStrike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Useful for</a:t>
              </a:r>
              <a:r>
                <a:rPr lang="en-US" sz="2200" u="none" strike="noStrike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 illustrating proportions and percentages of a whole.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359380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</a:p>
        </p:txBody>
      </p:sp>
      <p:sp>
        <p:nvSpPr>
          <p:cNvPr id="17" name="Freeform 17"/>
          <p:cNvSpPr/>
          <p:nvPr/>
        </p:nvSpPr>
        <p:spPr>
          <a:xfrm>
            <a:off x="13999369" y="4248150"/>
            <a:ext cx="1790700" cy="895350"/>
          </a:xfrm>
          <a:custGeom>
            <a:avLst/>
            <a:gdLst/>
            <a:ahLst/>
            <a:cxnLst/>
            <a:rect l="l" t="t" r="r" b="b"/>
            <a:pathLst>
              <a:path w="1790700" h="895350">
                <a:moveTo>
                  <a:pt x="0" y="0"/>
                </a:moveTo>
                <a:lnTo>
                  <a:pt x="1790700" y="0"/>
                </a:lnTo>
                <a:lnTo>
                  <a:pt x="179070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6B7B6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97931" y="4248150"/>
            <a:ext cx="1790700" cy="895350"/>
          </a:xfrm>
          <a:custGeom>
            <a:avLst/>
            <a:gdLst/>
            <a:ahLst/>
            <a:cxnLst/>
            <a:rect l="l" t="t" r="r" b="b"/>
            <a:pathLst>
              <a:path w="1790700" h="895350">
                <a:moveTo>
                  <a:pt x="0" y="0"/>
                </a:moveTo>
                <a:lnTo>
                  <a:pt x="1790700" y="0"/>
                </a:lnTo>
                <a:lnTo>
                  <a:pt x="179070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8248650" y="4248150"/>
            <a:ext cx="1790700" cy="895350"/>
          </a:xfrm>
          <a:custGeom>
            <a:avLst/>
            <a:gdLst/>
            <a:ahLst/>
            <a:cxnLst/>
            <a:rect l="l" t="t" r="r" b="b"/>
            <a:pathLst>
              <a:path w="1790700" h="895350">
                <a:moveTo>
                  <a:pt x="0" y="0"/>
                </a:moveTo>
                <a:lnTo>
                  <a:pt x="1790700" y="0"/>
                </a:lnTo>
                <a:lnTo>
                  <a:pt x="179070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71513" y="6076950"/>
            <a:ext cx="5443538" cy="1554116"/>
            <a:chOff x="0" y="0"/>
            <a:chExt cx="7258050" cy="2072154"/>
          </a:xfrm>
        </p:grpSpPr>
        <p:sp>
          <p:nvSpPr>
            <p:cNvPr id="7" name="TextBox 7"/>
            <p:cNvSpPr txBox="1"/>
            <p:nvPr/>
          </p:nvSpPr>
          <p:spPr>
            <a:xfrm>
              <a:off x="0" y="-38100"/>
              <a:ext cx="725805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Geography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057636"/>
              <a:ext cx="725805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 u="none" strike="noStrike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Geographic maps show data across locations effectively.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604444" y="742950"/>
            <a:ext cx="13383912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00"/>
              </a:lnSpc>
            </a:pPr>
            <a:r>
              <a:rPr lang="en-US" sz="9000" u="none" strike="noStrike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Advanced Visualizations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419850" y="6076950"/>
            <a:ext cx="5448300" cy="1554116"/>
            <a:chOff x="0" y="0"/>
            <a:chExt cx="7264400" cy="207215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38100"/>
              <a:ext cx="72644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Networks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057636"/>
              <a:ext cx="726440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 u="none" strike="noStrike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Network graphs illustrate relationships and connections visually.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72950" y="6076950"/>
            <a:ext cx="5448300" cy="1554116"/>
            <a:chOff x="0" y="0"/>
            <a:chExt cx="7264400" cy="2072154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38100"/>
              <a:ext cx="72644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9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Infographics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057636"/>
              <a:ext cx="726440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 u="none" strike="noStrike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Infographics combine data and design for storytelling.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7359380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</a:p>
        </p:txBody>
      </p:sp>
      <p:sp>
        <p:nvSpPr>
          <p:cNvPr id="17" name="Freeform 17"/>
          <p:cNvSpPr/>
          <p:nvPr/>
        </p:nvSpPr>
        <p:spPr>
          <a:xfrm>
            <a:off x="13999369" y="4248150"/>
            <a:ext cx="1790700" cy="895350"/>
          </a:xfrm>
          <a:custGeom>
            <a:avLst/>
            <a:gdLst/>
            <a:ahLst/>
            <a:cxnLst/>
            <a:rect l="l" t="t" r="r" b="b"/>
            <a:pathLst>
              <a:path w="1790700" h="895350">
                <a:moveTo>
                  <a:pt x="0" y="0"/>
                </a:moveTo>
                <a:lnTo>
                  <a:pt x="1790700" y="0"/>
                </a:lnTo>
                <a:lnTo>
                  <a:pt x="179070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6B7B6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2105025" y="714375"/>
            <a:ext cx="14077950" cy="680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93"/>
              </a:lnSpc>
            </a:pPr>
            <a:r>
              <a:rPr lang="en-US" sz="4812" u="none" strike="noStrike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Essential Data Visualization Tools for Professionals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105025" y="7359963"/>
            <a:ext cx="5448300" cy="1364937"/>
            <a:chOff x="0" y="0"/>
            <a:chExt cx="7264400" cy="1819916"/>
          </a:xfrm>
        </p:grpSpPr>
        <p:sp>
          <p:nvSpPr>
            <p:cNvPr id="5" name="TextBox 5"/>
            <p:cNvSpPr txBox="1"/>
            <p:nvPr/>
          </p:nvSpPr>
          <p:spPr>
            <a:xfrm>
              <a:off x="0" y="19050"/>
              <a:ext cx="726440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u="none" strike="noStrike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Tableau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05398"/>
              <a:ext cx="726440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 u="none" strike="noStrike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Tableau is known for its user-friendly interface.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733423" y="7359963"/>
            <a:ext cx="5448300" cy="1364937"/>
            <a:chOff x="0" y="0"/>
            <a:chExt cx="7264400" cy="1819916"/>
          </a:xfrm>
        </p:grpSpPr>
        <p:sp>
          <p:nvSpPr>
            <p:cNvPr id="8" name="TextBox 8"/>
            <p:cNvSpPr txBox="1"/>
            <p:nvPr/>
          </p:nvSpPr>
          <p:spPr>
            <a:xfrm>
              <a:off x="0" y="19050"/>
              <a:ext cx="726440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00"/>
                </a:lnSpc>
              </a:pPr>
              <a:r>
                <a:rPr lang="en-US" sz="3000" b="1" u="none" strike="noStrike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Power BI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805398"/>
              <a:ext cx="7264400" cy="101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80"/>
                </a:lnSpc>
              </a:pPr>
              <a:r>
                <a:rPr lang="en-US" sz="2200" u="none" strike="noStrike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Power BI offers robust integration with Microsoft products.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359380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66750" y="2457450"/>
            <a:ext cx="8324850" cy="4476750"/>
            <a:chOff x="0" y="0"/>
            <a:chExt cx="1116961" cy="60065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16961" cy="600654"/>
            </a:xfrm>
            <a:custGeom>
              <a:avLst/>
              <a:gdLst/>
              <a:ahLst/>
              <a:cxnLst/>
              <a:rect l="l" t="t" r="r" b="b"/>
              <a:pathLst>
                <a:path w="1116961" h="600654">
                  <a:moveTo>
                    <a:pt x="0" y="0"/>
                  </a:moveTo>
                  <a:lnTo>
                    <a:pt x="1116961" y="0"/>
                  </a:lnTo>
                  <a:lnTo>
                    <a:pt x="1116961" y="600654"/>
                  </a:lnTo>
                  <a:lnTo>
                    <a:pt x="0" y="600654"/>
                  </a:lnTo>
                  <a:close/>
                </a:path>
              </a:pathLst>
            </a:custGeom>
            <a:blipFill>
              <a:blip r:embed="rId4"/>
              <a:stretch>
                <a:fillRect l="-140" r="-14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9296400" y="2457450"/>
            <a:ext cx="8322347" cy="4476750"/>
            <a:chOff x="0" y="0"/>
            <a:chExt cx="1116625" cy="60065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16625" cy="600654"/>
            </a:xfrm>
            <a:custGeom>
              <a:avLst/>
              <a:gdLst/>
              <a:ahLst/>
              <a:cxnLst/>
              <a:rect l="l" t="t" r="r" b="b"/>
              <a:pathLst>
                <a:path w="1116625" h="600654">
                  <a:moveTo>
                    <a:pt x="0" y="0"/>
                  </a:moveTo>
                  <a:lnTo>
                    <a:pt x="1116625" y="0"/>
                  </a:lnTo>
                  <a:lnTo>
                    <a:pt x="1116625" y="600654"/>
                  </a:lnTo>
                  <a:lnTo>
                    <a:pt x="0" y="600654"/>
                  </a:lnTo>
                  <a:close/>
                </a:path>
              </a:pathLst>
            </a:custGeom>
            <a:blipFill>
              <a:blip r:embed="rId5"/>
              <a:stretch>
                <a:fillRect l="-155" r="-155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5753100" cy="8080381"/>
            <a:chOff x="0" y="0"/>
            <a:chExt cx="891306" cy="12518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1306" cy="1251862"/>
            </a:xfrm>
            <a:custGeom>
              <a:avLst/>
              <a:gdLst/>
              <a:ahLst/>
              <a:cxnLst/>
              <a:rect l="l" t="t" r="r" b="b"/>
              <a:pathLst>
                <a:path w="891306" h="1251862">
                  <a:moveTo>
                    <a:pt x="0" y="0"/>
                  </a:moveTo>
                  <a:lnTo>
                    <a:pt x="891306" y="0"/>
                  </a:lnTo>
                  <a:lnTo>
                    <a:pt x="891306" y="1251862"/>
                  </a:lnTo>
                  <a:lnTo>
                    <a:pt x="0" y="1251862"/>
                  </a:lnTo>
                  <a:close/>
                </a:path>
              </a:pathLst>
            </a:custGeom>
            <a:blipFill>
              <a:blip r:embed="rId2"/>
              <a:stretch>
                <a:fillRect t="-316" b="-316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858125" y="666750"/>
            <a:ext cx="9763125" cy="5173318"/>
            <a:chOff x="0" y="0"/>
            <a:chExt cx="13017500" cy="6897757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3017500" cy="3429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Effective Visualizations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625814"/>
              <a:ext cx="13017500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Transforming Data into Clear and Actionable Insights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362539"/>
              <a:ext cx="13017500" cy="153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Real-world examples showcase how effective visualizations drive better understanding, helping professionals make informed decisions and communicate complex information clearly.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9</a:t>
            </a:r>
          </a:p>
        </p:txBody>
      </p:sp>
      <p:sp>
        <p:nvSpPr>
          <p:cNvPr id="9" name="AutoShape 9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6B7B6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w="19050" cap="flat">
            <a:solidFill>
              <a:srgbClr val="6B7B6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671512" y="9387884"/>
            <a:ext cx="445682" cy="445682"/>
          </a:xfrm>
          <a:custGeom>
            <a:avLst/>
            <a:gdLst/>
            <a:ahLst/>
            <a:cxnLst/>
            <a:rect l="l" t="t" r="r" b="b"/>
            <a:pathLst>
              <a:path w="445682" h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66750" y="666750"/>
            <a:ext cx="13208441" cy="3382010"/>
            <a:chOff x="0" y="0"/>
            <a:chExt cx="17611255" cy="4509346"/>
          </a:xfrm>
        </p:grpSpPr>
        <p:sp>
          <p:nvSpPr>
            <p:cNvPr id="5" name="TextBox 5"/>
            <p:cNvSpPr txBox="1"/>
            <p:nvPr/>
          </p:nvSpPr>
          <p:spPr>
            <a:xfrm>
              <a:off x="0" y="76200"/>
              <a:ext cx="17611255" cy="175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Conclusion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320925"/>
              <a:ext cx="1761125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Embracing Data Visualization Principles for Success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552825"/>
              <a:ext cx="17611255" cy="9565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60"/>
                </a:lnSpc>
              </a:pPr>
              <a:r>
                <a:rPr lang="en-US" sz="22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Understanding the </a:t>
              </a:r>
              <a:r>
                <a:rPr lang="en-US" sz="2200" b="1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value of data visualization</a:t>
              </a:r>
              <a:r>
                <a:rPr lang="en-US" sz="22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 fosters effective communication and supports informed decisions, driving impactful insights that can enhance professional success across all sectors.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485343" y="941227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638300"/>
            <a:ext cx="7191375" cy="381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00"/>
              </a:lnSpc>
            </a:pPr>
            <a:r>
              <a:rPr lang="en-US" sz="9000" u="none" strike="noStrike">
                <a:solidFill>
                  <a:srgbClr val="6B7B6F"/>
                </a:solidFill>
                <a:latin typeface="Raleway"/>
                <a:ea typeface="Raleway"/>
                <a:cs typeface="Raleway"/>
                <a:sym typeface="Raleway"/>
              </a:rPr>
              <a:t>Contact Us for More Information</a:t>
            </a:r>
          </a:p>
        </p:txBody>
      </p:sp>
      <p:sp>
        <p:nvSpPr>
          <p:cNvPr id="3" name="AutoShape 3"/>
          <p:cNvSpPr/>
          <p:nvPr/>
        </p:nvSpPr>
        <p:spPr>
          <a:xfrm flipH="1">
            <a:off x="9296400" y="3360089"/>
            <a:ext cx="8324850" cy="0"/>
          </a:xfrm>
          <a:prstGeom prst="line">
            <a:avLst/>
          </a:prstGeom>
          <a:ln w="19050" cap="rnd">
            <a:solidFill>
              <a:srgbClr val="6B7B6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H="1">
            <a:off x="9296400" y="6036614"/>
            <a:ext cx="8324850" cy="6369"/>
          </a:xfrm>
          <a:prstGeom prst="line">
            <a:avLst/>
          </a:prstGeom>
          <a:ln w="19050" cap="rnd">
            <a:solidFill>
              <a:srgbClr val="6B7B6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9296400" y="1585582"/>
            <a:ext cx="8324850" cy="871855"/>
            <a:chOff x="0" y="0"/>
            <a:chExt cx="11099800" cy="1162473"/>
          </a:xfrm>
        </p:grpSpPr>
        <p:sp>
          <p:nvSpPr>
            <p:cNvPr id="6" name="TextBox 6"/>
            <p:cNvSpPr txBox="1"/>
            <p:nvPr/>
          </p:nvSpPr>
          <p:spPr>
            <a:xfrm>
              <a:off x="0" y="-47625"/>
              <a:ext cx="110998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 u="none" strike="noStrike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Email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86198"/>
              <a:ext cx="110998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u="none" strike="noStrike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hello@reallygreatsite.com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4269409"/>
            <a:ext cx="8324850" cy="874077"/>
            <a:chOff x="0" y="0"/>
            <a:chExt cx="11099800" cy="1165437"/>
          </a:xfrm>
        </p:grpSpPr>
        <p:sp>
          <p:nvSpPr>
            <p:cNvPr id="9" name="TextBox 9"/>
            <p:cNvSpPr txBox="1"/>
            <p:nvPr/>
          </p:nvSpPr>
          <p:spPr>
            <a:xfrm>
              <a:off x="0" y="-47625"/>
              <a:ext cx="110998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 u="none" strike="noStrike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Social Media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89162"/>
              <a:ext cx="110998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u="none" strike="noStrike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@reallygreatsite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6945948"/>
            <a:ext cx="8324850" cy="883582"/>
            <a:chOff x="0" y="0"/>
            <a:chExt cx="11099800" cy="117811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47625"/>
              <a:ext cx="110998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 u="none" strike="noStrike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Phone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01835"/>
              <a:ext cx="11099800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00"/>
                </a:lnSpc>
              </a:pPr>
              <a:r>
                <a:rPr lang="en-US" sz="3000" b="1" u="none" strike="noStrike">
                  <a:solidFill>
                    <a:srgbClr val="6B7B6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123-456-7890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9174568"/>
            <a:ext cx="5484580" cy="445682"/>
            <a:chOff x="0" y="0"/>
            <a:chExt cx="7312773" cy="594243"/>
          </a:xfrm>
        </p:grpSpPr>
        <p:sp>
          <p:nvSpPr>
            <p:cNvPr id="15" name="TextBox 15"/>
            <p:cNvSpPr txBox="1"/>
            <p:nvPr/>
          </p:nvSpPr>
          <p:spPr>
            <a:xfrm>
              <a:off x="950031" y="56880"/>
              <a:ext cx="6362742" cy="490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50"/>
                </a:lnSpc>
              </a:pPr>
              <a:r>
                <a:rPr lang="en-US" sz="2500">
                  <a:solidFill>
                    <a:srgbClr val="6B7B6F"/>
                  </a:solidFill>
                  <a:latin typeface="Raleway"/>
                  <a:ea typeface="Raleway"/>
                  <a:cs typeface="Raleway"/>
                  <a:sym typeface="Raleway"/>
                </a:rPr>
                <a:t>Organic Data Visualization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594243" cy="594243"/>
            </a:xfrm>
            <a:custGeom>
              <a:avLst/>
              <a:gdLst/>
              <a:ahLst/>
              <a:cxnLst/>
              <a:rect l="l" t="t" r="r" b="b"/>
              <a:pathLst>
                <a:path w="594243" h="594243">
                  <a:moveTo>
                    <a:pt x="0" y="0"/>
                  </a:moveTo>
                  <a:lnTo>
                    <a:pt x="594243" y="0"/>
                  </a:lnTo>
                  <a:lnTo>
                    <a:pt x="594243" y="594243"/>
                  </a:lnTo>
                  <a:lnTo>
                    <a:pt x="0" y="594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Office PowerPoint</Application>
  <PresentationFormat>Custom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Raleway</vt:lpstr>
      <vt:lpstr>Calibri</vt:lpstr>
      <vt:lpstr>Raleway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Data Visualization: Transforming Insights</dc:title>
  <dc:creator>PADMANAVA</dc:creator>
  <dc:description>Presentation - Data Visualization: Transforming Insights</dc:description>
  <cp:lastModifiedBy>mojumderpadmanava@gmail.com</cp:lastModifiedBy>
  <cp:revision>1</cp:revision>
  <dcterms:created xsi:type="dcterms:W3CDTF">2006-08-16T00:00:00Z</dcterms:created>
  <dcterms:modified xsi:type="dcterms:W3CDTF">2025-10-18T05:51:19Z</dcterms:modified>
  <dc:identifier>DAG14HfkCmY</dc:identifier>
</cp:coreProperties>
</file>