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8288000" cy="10287000"/>
  <p:notesSz cx="6858000" cy="9144000"/>
  <p:embeddedFontLst>
    <p:embeddedFont>
      <p:font typeface="DM Sans" pitchFamily="2" charset="0"/>
      <p:regular r:id="rId14"/>
    </p:embeddedFont>
    <p:embeddedFont>
      <p:font typeface="DM Sans Bold" panose="020B0604020202020204" charset="0"/>
      <p:regular r:id="rId15"/>
    </p:embeddedFont>
    <p:embeddedFont>
      <p:font typeface="Georgia Pro Light" panose="020F0502020204030204" pitchFamily="18" charset="0"/>
      <p:regular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jpe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jpe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78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8991600" cy="10287000"/>
            <a:chOff x="0" y="0"/>
            <a:chExt cx="1035548" cy="118473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035548" cy="1184737"/>
            </a:xfrm>
            <a:custGeom>
              <a:avLst/>
              <a:gdLst/>
              <a:ahLst/>
              <a:cxnLst/>
              <a:rect l="l" t="t" r="r" b="b"/>
              <a:pathLst>
                <a:path w="1035548" h="1184737">
                  <a:moveTo>
                    <a:pt x="0" y="0"/>
                  </a:moveTo>
                  <a:lnTo>
                    <a:pt x="1035548" y="0"/>
                  </a:lnTo>
                  <a:lnTo>
                    <a:pt x="1035548" y="1184737"/>
                  </a:lnTo>
                  <a:lnTo>
                    <a:pt x="0" y="1184737"/>
                  </a:lnTo>
                  <a:close/>
                </a:path>
              </a:pathLst>
            </a:custGeom>
            <a:blipFill>
              <a:blip r:embed="rId2"/>
              <a:stretch>
                <a:fillRect t="-378" b="-378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10744200" y="666750"/>
            <a:ext cx="6877050" cy="585084"/>
            <a:chOff x="0" y="0"/>
            <a:chExt cx="9169400" cy="780112"/>
          </a:xfrm>
        </p:grpSpPr>
        <p:sp>
          <p:nvSpPr>
            <p:cNvPr id="5" name="Freeform 5"/>
            <p:cNvSpPr/>
            <p:nvPr/>
          </p:nvSpPr>
          <p:spPr>
            <a:xfrm rot="-5400000" flipH="1">
              <a:off x="36553" y="74861"/>
              <a:ext cx="555143" cy="628248"/>
            </a:xfrm>
            <a:custGeom>
              <a:avLst/>
              <a:gdLst/>
              <a:ahLst/>
              <a:cxnLst/>
              <a:rect l="l" t="t" r="r" b="b"/>
              <a:pathLst>
                <a:path w="555143" h="628248">
                  <a:moveTo>
                    <a:pt x="555143" y="0"/>
                  </a:moveTo>
                  <a:lnTo>
                    <a:pt x="0" y="0"/>
                  </a:lnTo>
                  <a:lnTo>
                    <a:pt x="0" y="628248"/>
                  </a:lnTo>
                  <a:lnTo>
                    <a:pt x="555143" y="628248"/>
                  </a:lnTo>
                  <a:lnTo>
                    <a:pt x="555143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6" name="TextBox 6"/>
            <p:cNvSpPr txBox="1"/>
            <p:nvPr/>
          </p:nvSpPr>
          <p:spPr>
            <a:xfrm>
              <a:off x="795304" y="95250"/>
              <a:ext cx="8374096" cy="68486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555"/>
                </a:lnSpc>
              </a:pPr>
              <a:r>
                <a:rPr lang="en-US" sz="3864" spc="-77">
                  <a:solidFill>
                    <a:srgbClr val="F5F7FA"/>
                  </a:solidFill>
                  <a:latin typeface="Georgia Pro Light"/>
                  <a:ea typeface="Georgia Pro Light"/>
                  <a:cs typeface="Georgia Pro Light"/>
                  <a:sym typeface="Georgia Pro Light"/>
                </a:rPr>
                <a:t>Project Management Co.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0734675" y="1562100"/>
            <a:ext cx="6886575" cy="3530038"/>
            <a:chOff x="0" y="0"/>
            <a:chExt cx="9182100" cy="4706718"/>
          </a:xfrm>
        </p:grpSpPr>
        <p:sp>
          <p:nvSpPr>
            <p:cNvPr id="8" name="TextBox 8"/>
            <p:cNvSpPr txBox="1"/>
            <p:nvPr/>
          </p:nvSpPr>
          <p:spPr>
            <a:xfrm>
              <a:off x="0" y="180975"/>
              <a:ext cx="9182100" cy="347916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9825"/>
                </a:lnSpc>
              </a:pPr>
              <a:r>
                <a:rPr lang="en-US" sz="9825">
                  <a:solidFill>
                    <a:srgbClr val="F5F7FA"/>
                  </a:solidFill>
                  <a:latin typeface="Georgia Pro Light"/>
                  <a:ea typeface="Georgia Pro Light"/>
                  <a:cs typeface="Georgia Pro Light"/>
                  <a:sym typeface="Georgia Pro Light"/>
                </a:rPr>
                <a:t>Streamlining Success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3911063"/>
              <a:ext cx="9172670" cy="79565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5039"/>
                </a:lnSpc>
              </a:pPr>
              <a:r>
                <a:rPr lang="en-US" sz="3599">
                  <a:solidFill>
                    <a:srgbClr val="F5F7FA"/>
                  </a:solidFill>
                  <a:latin typeface="DM Sans"/>
                  <a:ea typeface="DM Sans"/>
                  <a:cs typeface="DM Sans"/>
                  <a:sym typeface="DM Sans"/>
                </a:rPr>
                <a:t>John Doe, Project Manager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0744200" y="8740903"/>
            <a:ext cx="5743575" cy="888872"/>
            <a:chOff x="0" y="0"/>
            <a:chExt cx="7658100" cy="1185162"/>
          </a:xfrm>
        </p:grpSpPr>
        <p:sp>
          <p:nvSpPr>
            <p:cNvPr id="11" name="TextBox 11"/>
            <p:cNvSpPr txBox="1"/>
            <p:nvPr/>
          </p:nvSpPr>
          <p:spPr>
            <a:xfrm>
              <a:off x="0" y="691344"/>
              <a:ext cx="7658100" cy="49381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080"/>
                </a:lnSpc>
                <a:spcBef>
                  <a:spcPct val="0"/>
                </a:spcBef>
              </a:pPr>
              <a:r>
                <a:rPr lang="en-US" sz="2200">
                  <a:solidFill>
                    <a:srgbClr val="F5F7FA"/>
                  </a:solidFill>
                  <a:latin typeface="DM Sans"/>
                  <a:ea typeface="DM Sans"/>
                  <a:cs typeface="DM Sans"/>
                  <a:sym typeface="DM Sans"/>
                </a:rPr>
                <a:t>John Doe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47625"/>
              <a:ext cx="7658100" cy="56917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640"/>
                </a:lnSpc>
                <a:spcBef>
                  <a:spcPct val="0"/>
                </a:spcBef>
              </a:pPr>
              <a:r>
                <a:rPr lang="en-US" sz="2600" b="1">
                  <a:solidFill>
                    <a:srgbClr val="F5F7FA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PRESENTED BY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78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734675" y="0"/>
            <a:ext cx="7553325" cy="10287000"/>
            <a:chOff x="0" y="0"/>
            <a:chExt cx="1170208" cy="159372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170208" cy="1593725"/>
            </a:xfrm>
            <a:custGeom>
              <a:avLst/>
              <a:gdLst/>
              <a:ahLst/>
              <a:cxnLst/>
              <a:rect l="l" t="t" r="r" b="b"/>
              <a:pathLst>
                <a:path w="1170208" h="1593725">
                  <a:moveTo>
                    <a:pt x="0" y="0"/>
                  </a:moveTo>
                  <a:lnTo>
                    <a:pt x="1170208" y="0"/>
                  </a:lnTo>
                  <a:lnTo>
                    <a:pt x="1170208" y="1593725"/>
                  </a:lnTo>
                  <a:lnTo>
                    <a:pt x="0" y="1593725"/>
                  </a:lnTo>
                  <a:close/>
                </a:path>
              </a:pathLst>
            </a:custGeom>
            <a:blipFill>
              <a:blip r:embed="rId2"/>
              <a:stretch>
                <a:fillRect t="-205" b="-205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666750" y="666750"/>
            <a:ext cx="8324850" cy="3747081"/>
            <a:chOff x="0" y="0"/>
            <a:chExt cx="11099800" cy="4996108"/>
          </a:xfrm>
        </p:grpSpPr>
        <p:sp>
          <p:nvSpPr>
            <p:cNvPr id="5" name="TextBox 5"/>
            <p:cNvSpPr txBox="1"/>
            <p:nvPr/>
          </p:nvSpPr>
          <p:spPr>
            <a:xfrm>
              <a:off x="0" y="66675"/>
              <a:ext cx="11099800" cy="304059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8800"/>
                </a:lnSpc>
              </a:pPr>
              <a:r>
                <a:rPr lang="en-US" sz="8000">
                  <a:solidFill>
                    <a:srgbClr val="F5F7FA"/>
                  </a:solidFill>
                  <a:latin typeface="Georgia Pro Light"/>
                  <a:ea typeface="Georgia Pro Light"/>
                  <a:cs typeface="Georgia Pro Light"/>
                  <a:sym typeface="Georgia Pro Light"/>
                </a:rPr>
                <a:t>Defining Project Management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3533703"/>
              <a:ext cx="11099800" cy="146240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940"/>
                </a:lnSpc>
              </a:pPr>
              <a:r>
                <a:rPr lang="en-US" sz="2100">
                  <a:solidFill>
                    <a:srgbClr val="F5F7FA"/>
                  </a:solidFill>
                  <a:latin typeface="DM Sans"/>
                  <a:ea typeface="DM Sans"/>
                  <a:cs typeface="DM Sans"/>
                  <a:sym typeface="DM Sans"/>
                </a:rPr>
                <a:t>Project management is essential in achieving business goals, providing a structured approach to </a:t>
              </a:r>
              <a:r>
                <a:rPr lang="en-US" sz="2100" b="1">
                  <a:solidFill>
                    <a:srgbClr val="F5F7FA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deliver projects efficiently</a:t>
              </a:r>
              <a:r>
                <a:rPr lang="en-US" sz="2100">
                  <a:solidFill>
                    <a:srgbClr val="F5F7FA"/>
                  </a:solidFill>
                  <a:latin typeface="DM Sans"/>
                  <a:ea typeface="DM Sans"/>
                  <a:cs typeface="DM Sans"/>
                  <a:sym typeface="DM Sans"/>
                </a:rPr>
                <a:t>, aligning resources, and mitigating risks effectively.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78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66750" y="666750"/>
            <a:ext cx="8324850" cy="3840480"/>
            <a:chOff x="0" y="0"/>
            <a:chExt cx="11099800" cy="5120639"/>
          </a:xfrm>
        </p:grpSpPr>
        <p:sp>
          <p:nvSpPr>
            <p:cNvPr id="3" name="TextBox 3"/>
            <p:cNvSpPr txBox="1"/>
            <p:nvPr/>
          </p:nvSpPr>
          <p:spPr>
            <a:xfrm>
              <a:off x="0" y="2320925"/>
              <a:ext cx="11099800" cy="79565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5040"/>
                </a:lnSpc>
                <a:spcBef>
                  <a:spcPct val="0"/>
                </a:spcBef>
              </a:pPr>
              <a:r>
                <a:rPr lang="en-US" sz="3600" u="none" strike="noStrike">
                  <a:solidFill>
                    <a:srgbClr val="F5F7FA"/>
                  </a:solidFill>
                  <a:latin typeface="DM Sans"/>
                  <a:ea typeface="DM Sans"/>
                  <a:cs typeface="DM Sans"/>
                  <a:sym typeface="DM Sans"/>
                </a:rPr>
                <a:t>Increased project success rate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3500755"/>
              <a:ext cx="11099800" cy="161988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60"/>
                </a:lnSpc>
                <a:spcBef>
                  <a:spcPct val="0"/>
                </a:spcBef>
              </a:pPr>
              <a:r>
                <a:rPr lang="en-US" sz="2100" u="none" strike="noStrike">
                  <a:solidFill>
                    <a:srgbClr val="F5F7FA"/>
                  </a:solidFill>
                  <a:latin typeface="DM Sans"/>
                  <a:ea typeface="DM Sans"/>
                  <a:cs typeface="DM Sans"/>
                  <a:sym typeface="DM Sans"/>
                </a:rPr>
                <a:t>Effective project management leads to a </a:t>
              </a:r>
              <a:r>
                <a:rPr lang="en-US" sz="2100" b="1" u="none" strike="noStrike">
                  <a:solidFill>
                    <a:srgbClr val="F5F7FA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75% increase</a:t>
              </a:r>
              <a:r>
                <a:rPr lang="en-US" sz="2100" u="none" strike="noStrike">
                  <a:solidFill>
                    <a:srgbClr val="F5F7FA"/>
                  </a:solidFill>
                  <a:latin typeface="DM Sans"/>
                  <a:ea typeface="DM Sans"/>
                  <a:cs typeface="DM Sans"/>
                  <a:sym typeface="DM Sans"/>
                </a:rPr>
                <a:t> in project success rates, enabling organizations to achieve their objectives on time and within budget while satisfying stakeholder expectations.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200025"/>
              <a:ext cx="11099800" cy="192086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10499"/>
                </a:lnSpc>
                <a:spcBef>
                  <a:spcPct val="0"/>
                </a:spcBef>
              </a:pPr>
              <a:r>
                <a:rPr lang="en-US" sz="10499" u="none" strike="noStrike">
                  <a:solidFill>
                    <a:srgbClr val="F5F7FA"/>
                  </a:solidFill>
                  <a:latin typeface="Georgia Pro Light"/>
                  <a:ea typeface="Georgia Pro Light"/>
                  <a:cs typeface="Georgia Pro Light"/>
                  <a:sym typeface="Georgia Pro Light"/>
                </a:rPr>
                <a:t>75%</a:t>
              </a: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0734675" y="0"/>
            <a:ext cx="7553325" cy="10287000"/>
            <a:chOff x="0" y="0"/>
            <a:chExt cx="1908641" cy="259941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908641" cy="2599410"/>
            </a:xfrm>
            <a:custGeom>
              <a:avLst/>
              <a:gdLst/>
              <a:ahLst/>
              <a:cxnLst/>
              <a:rect l="l" t="t" r="r" b="b"/>
              <a:pathLst>
                <a:path w="1908641" h="2599410">
                  <a:moveTo>
                    <a:pt x="0" y="0"/>
                  </a:moveTo>
                  <a:lnTo>
                    <a:pt x="1908641" y="0"/>
                  </a:lnTo>
                  <a:lnTo>
                    <a:pt x="1908641" y="2599410"/>
                  </a:lnTo>
                  <a:lnTo>
                    <a:pt x="0" y="2599410"/>
                  </a:lnTo>
                  <a:close/>
                </a:path>
              </a:pathLst>
            </a:custGeom>
            <a:blipFill>
              <a:blip r:embed="rId2"/>
              <a:stretch>
                <a:fillRect t="-205" b="-205"/>
              </a:stretch>
            </a:blipFill>
          </p:spPr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78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734675" y="0"/>
            <a:ext cx="7553325" cy="10287000"/>
            <a:chOff x="0" y="0"/>
            <a:chExt cx="1170208" cy="159372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170208" cy="1593725"/>
            </a:xfrm>
            <a:custGeom>
              <a:avLst/>
              <a:gdLst/>
              <a:ahLst/>
              <a:cxnLst/>
              <a:rect l="l" t="t" r="r" b="b"/>
              <a:pathLst>
                <a:path w="1170208" h="1593725">
                  <a:moveTo>
                    <a:pt x="0" y="0"/>
                  </a:moveTo>
                  <a:lnTo>
                    <a:pt x="1170208" y="0"/>
                  </a:lnTo>
                  <a:lnTo>
                    <a:pt x="1170208" y="1593725"/>
                  </a:lnTo>
                  <a:lnTo>
                    <a:pt x="0" y="1593725"/>
                  </a:lnTo>
                  <a:close/>
                </a:path>
              </a:pathLst>
            </a:custGeom>
            <a:blipFill>
              <a:blip r:embed="rId2"/>
              <a:stretch>
                <a:fillRect t="-205" b="-205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666750" y="666750"/>
            <a:ext cx="8324850" cy="5232981"/>
            <a:chOff x="0" y="0"/>
            <a:chExt cx="11099800" cy="6977308"/>
          </a:xfrm>
        </p:grpSpPr>
        <p:sp>
          <p:nvSpPr>
            <p:cNvPr id="5" name="TextBox 5"/>
            <p:cNvSpPr txBox="1"/>
            <p:nvPr/>
          </p:nvSpPr>
          <p:spPr>
            <a:xfrm>
              <a:off x="0" y="66675"/>
              <a:ext cx="11099800" cy="452649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8800"/>
                </a:lnSpc>
              </a:pPr>
              <a:r>
                <a:rPr lang="en-US" sz="8000">
                  <a:solidFill>
                    <a:srgbClr val="F5F7FA"/>
                  </a:solidFill>
                  <a:latin typeface="Georgia Pro Light"/>
                  <a:ea typeface="Georgia Pro Light"/>
                  <a:cs typeface="Georgia Pro Light"/>
                  <a:sym typeface="Georgia Pro Light"/>
                </a:rPr>
                <a:t>Project Management Overview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5019603"/>
              <a:ext cx="11099800" cy="195770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940"/>
                </a:lnSpc>
              </a:pPr>
              <a:r>
                <a:rPr lang="en-US" sz="2100">
                  <a:solidFill>
                    <a:srgbClr val="F5F7FA"/>
                  </a:solidFill>
                  <a:latin typeface="DM Sans"/>
                  <a:ea typeface="DM Sans"/>
                  <a:cs typeface="DM Sans"/>
                  <a:sym typeface="DM Sans"/>
                </a:rPr>
                <a:t>Project management is essential for achieving business goals, enhancing efficiency, mitigating risks, and aligning stakeholders. Understanding its phases prepares teams for successful project execution.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78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0734675" cy="10287000"/>
          </a:xfrm>
          <a:prstGeom prst="rect">
            <a:avLst/>
          </a:prstGeom>
          <a:solidFill>
            <a:srgbClr val="0A1F44"/>
          </a:solidFill>
        </p:spPr>
      </p:sp>
      <p:sp>
        <p:nvSpPr>
          <p:cNvPr id="3" name="TextBox 3"/>
          <p:cNvSpPr txBox="1"/>
          <p:nvPr/>
        </p:nvSpPr>
        <p:spPr>
          <a:xfrm>
            <a:off x="666750" y="733425"/>
            <a:ext cx="9763125" cy="22637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800"/>
              </a:lnSpc>
              <a:spcBef>
                <a:spcPct val="0"/>
              </a:spcBef>
            </a:pPr>
            <a:r>
              <a:rPr lang="en-US" sz="8000">
                <a:solidFill>
                  <a:srgbClr val="F5F7FA"/>
                </a:solidFill>
                <a:latin typeface="Georgia Pro Light"/>
                <a:ea typeface="Georgia Pro Light"/>
                <a:cs typeface="Georgia Pro Light"/>
                <a:sym typeface="Georgia Pro Light"/>
              </a:rPr>
              <a:t>Project Management Methodologies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666750" y="4248150"/>
            <a:ext cx="4010025" cy="1277770"/>
            <a:chOff x="0" y="0"/>
            <a:chExt cx="5346700" cy="1703694"/>
          </a:xfrm>
        </p:grpSpPr>
        <p:sp>
          <p:nvSpPr>
            <p:cNvPr id="5" name="TextBox 5"/>
            <p:cNvSpPr txBox="1"/>
            <p:nvPr/>
          </p:nvSpPr>
          <p:spPr>
            <a:xfrm>
              <a:off x="0" y="1231889"/>
              <a:ext cx="5346700" cy="47180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940"/>
                </a:lnSpc>
              </a:pPr>
              <a:r>
                <a:rPr lang="en-US" sz="2100">
                  <a:solidFill>
                    <a:srgbClr val="F5F7FA"/>
                  </a:solidFill>
                  <a:latin typeface="DM Sans"/>
                  <a:ea typeface="DM Sans"/>
                  <a:cs typeface="DM Sans"/>
                  <a:sym typeface="DM Sans"/>
                </a:rPr>
                <a:t>Linear approach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57150"/>
              <a:ext cx="5346700" cy="114079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503"/>
                </a:lnSpc>
              </a:pPr>
              <a:r>
                <a:rPr lang="en-US" sz="2502" b="1">
                  <a:solidFill>
                    <a:srgbClr val="F5F7FA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WATERFALL METHODOLOGY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666750" y="6049448"/>
            <a:ext cx="4010025" cy="839620"/>
            <a:chOff x="0" y="0"/>
            <a:chExt cx="5346700" cy="1119494"/>
          </a:xfrm>
        </p:grpSpPr>
        <p:sp>
          <p:nvSpPr>
            <p:cNvPr id="8" name="TextBox 8"/>
            <p:cNvSpPr txBox="1"/>
            <p:nvPr/>
          </p:nvSpPr>
          <p:spPr>
            <a:xfrm>
              <a:off x="0" y="647689"/>
              <a:ext cx="5346700" cy="47180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940"/>
                </a:lnSpc>
              </a:pPr>
              <a:r>
                <a:rPr lang="en-US" sz="2100">
                  <a:solidFill>
                    <a:srgbClr val="F5F7FA"/>
                  </a:solidFill>
                  <a:latin typeface="DM Sans"/>
                  <a:ea typeface="DM Sans"/>
                  <a:cs typeface="DM Sans"/>
                  <a:sym typeface="DM Sans"/>
                </a:rPr>
                <a:t>Iterative approach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57150"/>
              <a:ext cx="5346700" cy="55659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503"/>
                </a:lnSpc>
              </a:pPr>
              <a:r>
                <a:rPr lang="en-US" sz="2502" b="1">
                  <a:solidFill>
                    <a:srgbClr val="F5F7FA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AGILE METHODOLOGY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666750" y="7829550"/>
            <a:ext cx="4010025" cy="839620"/>
            <a:chOff x="0" y="0"/>
            <a:chExt cx="5346700" cy="1119494"/>
          </a:xfrm>
        </p:grpSpPr>
        <p:sp>
          <p:nvSpPr>
            <p:cNvPr id="11" name="TextBox 11"/>
            <p:cNvSpPr txBox="1"/>
            <p:nvPr/>
          </p:nvSpPr>
          <p:spPr>
            <a:xfrm>
              <a:off x="0" y="647689"/>
              <a:ext cx="5346700" cy="47180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940"/>
                </a:lnSpc>
              </a:pPr>
              <a:r>
                <a:rPr lang="en-US" sz="2100">
                  <a:solidFill>
                    <a:srgbClr val="F5F7FA"/>
                  </a:solidFill>
                  <a:latin typeface="DM Sans"/>
                  <a:ea typeface="DM Sans"/>
                  <a:cs typeface="DM Sans"/>
                  <a:sym typeface="DM Sans"/>
                </a:rPr>
                <a:t>Team collaboration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57150"/>
              <a:ext cx="5346700" cy="55659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503"/>
                </a:lnSpc>
              </a:pPr>
              <a:r>
                <a:rPr lang="en-US" sz="2502" b="1">
                  <a:solidFill>
                    <a:srgbClr val="F5F7FA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SCRUM FRAMEWORK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3611225" y="3352800"/>
            <a:ext cx="4010025" cy="6267450"/>
            <a:chOff x="0" y="0"/>
            <a:chExt cx="621258" cy="970992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621258" cy="970992"/>
            </a:xfrm>
            <a:custGeom>
              <a:avLst/>
              <a:gdLst/>
              <a:ahLst/>
              <a:cxnLst/>
              <a:rect l="l" t="t" r="r" b="b"/>
              <a:pathLst>
                <a:path w="621258" h="970992">
                  <a:moveTo>
                    <a:pt x="0" y="0"/>
                  </a:moveTo>
                  <a:lnTo>
                    <a:pt x="621258" y="0"/>
                  </a:lnTo>
                  <a:lnTo>
                    <a:pt x="621258" y="970992"/>
                  </a:lnTo>
                  <a:lnTo>
                    <a:pt x="0" y="970992"/>
                  </a:lnTo>
                  <a:close/>
                </a:path>
              </a:pathLst>
            </a:custGeom>
            <a:blipFill>
              <a:blip r:embed="rId2"/>
              <a:stretch>
                <a:fillRect t="-478" b="-478"/>
              </a:stretch>
            </a:blipFill>
          </p:spPr>
        </p:sp>
      </p:grpSp>
      <p:grpSp>
        <p:nvGrpSpPr>
          <p:cNvPr id="15" name="Group 15"/>
          <p:cNvGrpSpPr/>
          <p:nvPr/>
        </p:nvGrpSpPr>
        <p:grpSpPr>
          <a:xfrm>
            <a:off x="9296400" y="3352800"/>
            <a:ext cx="4010025" cy="6267450"/>
            <a:chOff x="0" y="0"/>
            <a:chExt cx="621258" cy="970992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621258" cy="970992"/>
            </a:xfrm>
            <a:custGeom>
              <a:avLst/>
              <a:gdLst/>
              <a:ahLst/>
              <a:cxnLst/>
              <a:rect l="l" t="t" r="r" b="b"/>
              <a:pathLst>
                <a:path w="621258" h="970992">
                  <a:moveTo>
                    <a:pt x="0" y="0"/>
                  </a:moveTo>
                  <a:lnTo>
                    <a:pt x="621258" y="0"/>
                  </a:lnTo>
                  <a:lnTo>
                    <a:pt x="621258" y="970992"/>
                  </a:lnTo>
                  <a:lnTo>
                    <a:pt x="0" y="970992"/>
                  </a:lnTo>
                  <a:close/>
                </a:path>
              </a:pathLst>
            </a:custGeom>
            <a:blipFill>
              <a:blip r:embed="rId3"/>
              <a:stretch>
                <a:fillRect t="-478" b="-478"/>
              </a:stretch>
            </a:blipFill>
          </p:spPr>
        </p:sp>
      </p:grpSp>
      <p:grpSp>
        <p:nvGrpSpPr>
          <p:cNvPr id="17" name="Group 17"/>
          <p:cNvGrpSpPr/>
          <p:nvPr/>
        </p:nvGrpSpPr>
        <p:grpSpPr>
          <a:xfrm>
            <a:off x="4981575" y="3352800"/>
            <a:ext cx="4010025" cy="6267450"/>
            <a:chOff x="0" y="0"/>
            <a:chExt cx="621258" cy="970992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621258" cy="970992"/>
            </a:xfrm>
            <a:custGeom>
              <a:avLst/>
              <a:gdLst/>
              <a:ahLst/>
              <a:cxnLst/>
              <a:rect l="l" t="t" r="r" b="b"/>
              <a:pathLst>
                <a:path w="621258" h="970992">
                  <a:moveTo>
                    <a:pt x="0" y="0"/>
                  </a:moveTo>
                  <a:lnTo>
                    <a:pt x="621258" y="0"/>
                  </a:lnTo>
                  <a:lnTo>
                    <a:pt x="621258" y="970992"/>
                  </a:lnTo>
                  <a:lnTo>
                    <a:pt x="0" y="970992"/>
                  </a:lnTo>
                  <a:close/>
                </a:path>
              </a:pathLst>
            </a:custGeom>
            <a:blipFill>
              <a:blip r:embed="rId4"/>
              <a:stretch>
                <a:fillRect t="-478" b="-478"/>
              </a:stretch>
            </a:blipFill>
          </p:spPr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78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5000625" y="5157011"/>
            <a:ext cx="14907864" cy="0"/>
          </a:xfrm>
          <a:prstGeom prst="line">
            <a:avLst/>
          </a:prstGeom>
          <a:ln w="19050" cap="flat">
            <a:solidFill>
              <a:srgbClr val="F5F7FA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" name="TextBox 3"/>
          <p:cNvSpPr txBox="1"/>
          <p:nvPr/>
        </p:nvSpPr>
        <p:spPr>
          <a:xfrm>
            <a:off x="666750" y="733425"/>
            <a:ext cx="15821025" cy="11493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800"/>
              </a:lnSpc>
              <a:spcBef>
                <a:spcPct val="0"/>
              </a:spcBef>
            </a:pPr>
            <a:r>
              <a:rPr lang="en-US" sz="8000" u="none" strike="noStrike">
                <a:solidFill>
                  <a:srgbClr val="F5F7FA"/>
                </a:solidFill>
                <a:latin typeface="Georgia Pro Light"/>
                <a:ea typeface="Georgia Pro Light"/>
                <a:cs typeface="Georgia Pro Light"/>
                <a:sym typeface="Georgia Pro Light"/>
              </a:rPr>
              <a:t>Project Workflow Timeline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4676775" y="3809365"/>
            <a:ext cx="2876550" cy="4387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640"/>
              </a:lnSpc>
              <a:spcBef>
                <a:spcPct val="0"/>
              </a:spcBef>
            </a:pPr>
            <a:r>
              <a:rPr lang="en-US" sz="2600" u="none" strike="noStrike">
                <a:solidFill>
                  <a:srgbClr val="F5F7FA"/>
                </a:solidFill>
                <a:latin typeface="DM Sans"/>
                <a:ea typeface="DM Sans"/>
                <a:cs typeface="DM Sans"/>
                <a:sym typeface="DM Sans"/>
              </a:rPr>
              <a:t>INITIATION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4676775" y="5991225"/>
            <a:ext cx="2876550" cy="18516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940"/>
              </a:lnSpc>
              <a:spcBef>
                <a:spcPct val="0"/>
              </a:spcBef>
            </a:pPr>
            <a:r>
              <a:rPr lang="en-US" sz="2100" u="none" strike="noStrike">
                <a:solidFill>
                  <a:srgbClr val="F5F7FA"/>
                </a:solidFill>
                <a:latin typeface="DM Sans"/>
                <a:ea typeface="DM Sans"/>
                <a:cs typeface="DM Sans"/>
                <a:sym typeface="DM Sans"/>
              </a:rPr>
              <a:t>The project officially begins with defining scope, objectives, and forming the project team.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8991600" y="3809365"/>
            <a:ext cx="2876550" cy="4387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640"/>
              </a:lnSpc>
              <a:spcBef>
                <a:spcPct val="0"/>
              </a:spcBef>
            </a:pPr>
            <a:r>
              <a:rPr lang="en-US" sz="2600" u="none" strike="noStrike">
                <a:solidFill>
                  <a:srgbClr val="F5F7FA"/>
                </a:solidFill>
                <a:latin typeface="DM Sans"/>
                <a:ea typeface="DM Sans"/>
                <a:cs typeface="DM Sans"/>
                <a:sym typeface="DM Sans"/>
              </a:rPr>
              <a:t>PLANNING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8991600" y="5991225"/>
            <a:ext cx="2876550" cy="22231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940"/>
              </a:lnSpc>
              <a:spcBef>
                <a:spcPct val="0"/>
              </a:spcBef>
            </a:pPr>
            <a:r>
              <a:rPr lang="en-US" sz="2100" u="none" strike="noStrike">
                <a:solidFill>
                  <a:srgbClr val="F5F7FA"/>
                </a:solidFill>
                <a:latin typeface="DM Sans"/>
                <a:ea typeface="DM Sans"/>
                <a:cs typeface="DM Sans"/>
                <a:sym typeface="DM Sans"/>
              </a:rPr>
              <a:t>Detailed planning is conducted, including resource allocation, timelines, and risk assessment for project success.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3306425" y="3809365"/>
            <a:ext cx="2876550" cy="4387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640"/>
              </a:lnSpc>
              <a:spcBef>
                <a:spcPct val="0"/>
              </a:spcBef>
            </a:pPr>
            <a:r>
              <a:rPr lang="en-US" sz="2600" u="none" strike="noStrike">
                <a:solidFill>
                  <a:srgbClr val="F5F7FA"/>
                </a:solidFill>
                <a:latin typeface="DM Sans"/>
                <a:ea typeface="DM Sans"/>
                <a:cs typeface="DM Sans"/>
                <a:sym typeface="DM Sans"/>
              </a:rPr>
              <a:t>EXECUTION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3306425" y="5991225"/>
            <a:ext cx="2876550" cy="25946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940"/>
              </a:lnSpc>
              <a:spcBef>
                <a:spcPct val="0"/>
              </a:spcBef>
            </a:pPr>
            <a:r>
              <a:rPr lang="en-US" sz="2100" u="none" strike="noStrike">
                <a:solidFill>
                  <a:srgbClr val="F5F7FA"/>
                </a:solidFill>
                <a:latin typeface="DM Sans"/>
                <a:ea typeface="DM Sans"/>
                <a:cs typeface="DM Sans"/>
                <a:sym typeface="DM Sans"/>
              </a:rPr>
              <a:t>The project is executed according to the plan, with ongoing monitoring to ensure alignment with objectives and timelines.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4676775" y="4752524"/>
            <a:ext cx="796706" cy="781952"/>
            <a:chOff x="0" y="0"/>
            <a:chExt cx="685800" cy="6731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685800" cy="668020"/>
            </a:xfrm>
            <a:custGeom>
              <a:avLst/>
              <a:gdLst/>
              <a:ahLst/>
              <a:cxnLst/>
              <a:rect l="l" t="t" r="r" b="b"/>
              <a:pathLst>
                <a:path w="685800" h="668020">
                  <a:moveTo>
                    <a:pt x="342900" y="0"/>
                  </a:moveTo>
                  <a:lnTo>
                    <a:pt x="434340" y="162560"/>
                  </a:lnTo>
                  <a:lnTo>
                    <a:pt x="618490" y="132080"/>
                  </a:lnTo>
                  <a:lnTo>
                    <a:pt x="547370" y="304800"/>
                  </a:lnTo>
                  <a:lnTo>
                    <a:pt x="685800" y="430530"/>
                  </a:lnTo>
                  <a:lnTo>
                    <a:pt x="506730" y="482600"/>
                  </a:lnTo>
                  <a:lnTo>
                    <a:pt x="495300" y="668020"/>
                  </a:lnTo>
                  <a:lnTo>
                    <a:pt x="342900" y="561340"/>
                  </a:lnTo>
                  <a:lnTo>
                    <a:pt x="190500" y="668020"/>
                  </a:lnTo>
                  <a:lnTo>
                    <a:pt x="179070" y="482600"/>
                  </a:lnTo>
                  <a:lnTo>
                    <a:pt x="0" y="430530"/>
                  </a:lnTo>
                  <a:lnTo>
                    <a:pt x="138430" y="304800"/>
                  </a:lnTo>
                  <a:lnTo>
                    <a:pt x="67310" y="132080"/>
                  </a:lnTo>
                  <a:lnTo>
                    <a:pt x="251460" y="162560"/>
                  </a:lnTo>
                  <a:close/>
                </a:path>
              </a:pathLst>
            </a:custGeom>
            <a:solidFill>
              <a:srgbClr val="F5F7FA"/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139700" y="117475"/>
              <a:ext cx="406400" cy="4413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940"/>
                </a:lnSpc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8991600" y="4766036"/>
            <a:ext cx="796706" cy="781952"/>
            <a:chOff x="0" y="0"/>
            <a:chExt cx="685800" cy="6731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685800" cy="668020"/>
            </a:xfrm>
            <a:custGeom>
              <a:avLst/>
              <a:gdLst/>
              <a:ahLst/>
              <a:cxnLst/>
              <a:rect l="l" t="t" r="r" b="b"/>
              <a:pathLst>
                <a:path w="685800" h="668020">
                  <a:moveTo>
                    <a:pt x="342900" y="0"/>
                  </a:moveTo>
                  <a:lnTo>
                    <a:pt x="434340" y="162560"/>
                  </a:lnTo>
                  <a:lnTo>
                    <a:pt x="618490" y="132080"/>
                  </a:lnTo>
                  <a:lnTo>
                    <a:pt x="547370" y="304800"/>
                  </a:lnTo>
                  <a:lnTo>
                    <a:pt x="685800" y="430530"/>
                  </a:lnTo>
                  <a:lnTo>
                    <a:pt x="506730" y="482600"/>
                  </a:lnTo>
                  <a:lnTo>
                    <a:pt x="495300" y="668020"/>
                  </a:lnTo>
                  <a:lnTo>
                    <a:pt x="342900" y="561340"/>
                  </a:lnTo>
                  <a:lnTo>
                    <a:pt x="190500" y="668020"/>
                  </a:lnTo>
                  <a:lnTo>
                    <a:pt x="179070" y="482600"/>
                  </a:lnTo>
                  <a:lnTo>
                    <a:pt x="0" y="430530"/>
                  </a:lnTo>
                  <a:lnTo>
                    <a:pt x="138430" y="304800"/>
                  </a:lnTo>
                  <a:lnTo>
                    <a:pt x="67310" y="132080"/>
                  </a:lnTo>
                  <a:lnTo>
                    <a:pt x="251460" y="162560"/>
                  </a:lnTo>
                  <a:close/>
                </a:path>
              </a:pathLst>
            </a:custGeom>
            <a:solidFill>
              <a:srgbClr val="F5F7FA"/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139700" y="117475"/>
              <a:ext cx="406400" cy="4413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940"/>
                </a:lnSpc>
              </a:pPr>
              <a:endParaRPr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3306425" y="4739013"/>
            <a:ext cx="796706" cy="781952"/>
            <a:chOff x="0" y="0"/>
            <a:chExt cx="685800" cy="6731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685800" cy="668020"/>
            </a:xfrm>
            <a:custGeom>
              <a:avLst/>
              <a:gdLst/>
              <a:ahLst/>
              <a:cxnLst/>
              <a:rect l="l" t="t" r="r" b="b"/>
              <a:pathLst>
                <a:path w="685800" h="668020">
                  <a:moveTo>
                    <a:pt x="342900" y="0"/>
                  </a:moveTo>
                  <a:lnTo>
                    <a:pt x="434340" y="162560"/>
                  </a:lnTo>
                  <a:lnTo>
                    <a:pt x="618490" y="132080"/>
                  </a:lnTo>
                  <a:lnTo>
                    <a:pt x="547370" y="304800"/>
                  </a:lnTo>
                  <a:lnTo>
                    <a:pt x="685800" y="430530"/>
                  </a:lnTo>
                  <a:lnTo>
                    <a:pt x="506730" y="482600"/>
                  </a:lnTo>
                  <a:lnTo>
                    <a:pt x="495300" y="668020"/>
                  </a:lnTo>
                  <a:lnTo>
                    <a:pt x="342900" y="561340"/>
                  </a:lnTo>
                  <a:lnTo>
                    <a:pt x="190500" y="668020"/>
                  </a:lnTo>
                  <a:lnTo>
                    <a:pt x="179070" y="482600"/>
                  </a:lnTo>
                  <a:lnTo>
                    <a:pt x="0" y="430530"/>
                  </a:lnTo>
                  <a:lnTo>
                    <a:pt x="138430" y="304800"/>
                  </a:lnTo>
                  <a:lnTo>
                    <a:pt x="67310" y="132080"/>
                  </a:lnTo>
                  <a:lnTo>
                    <a:pt x="251460" y="162560"/>
                  </a:lnTo>
                  <a:close/>
                </a:path>
              </a:pathLst>
            </a:custGeom>
            <a:solidFill>
              <a:srgbClr val="F5F7FA"/>
            </a:solidFill>
          </p:spPr>
        </p:sp>
        <p:sp>
          <p:nvSpPr>
            <p:cNvPr id="18" name="TextBox 18"/>
            <p:cNvSpPr txBox="1"/>
            <p:nvPr/>
          </p:nvSpPr>
          <p:spPr>
            <a:xfrm>
              <a:off x="139700" y="117475"/>
              <a:ext cx="406400" cy="4413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940"/>
                </a:lnSpc>
              </a:pPr>
              <a:endParaRPr/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78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734675" y="0"/>
            <a:ext cx="7553325" cy="10287000"/>
            <a:chOff x="0" y="0"/>
            <a:chExt cx="1170208" cy="159372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170208" cy="1593725"/>
            </a:xfrm>
            <a:custGeom>
              <a:avLst/>
              <a:gdLst/>
              <a:ahLst/>
              <a:cxnLst/>
              <a:rect l="l" t="t" r="r" b="b"/>
              <a:pathLst>
                <a:path w="1170208" h="1593725">
                  <a:moveTo>
                    <a:pt x="0" y="0"/>
                  </a:moveTo>
                  <a:lnTo>
                    <a:pt x="1170208" y="0"/>
                  </a:lnTo>
                  <a:lnTo>
                    <a:pt x="1170208" y="1593725"/>
                  </a:lnTo>
                  <a:lnTo>
                    <a:pt x="0" y="1593725"/>
                  </a:lnTo>
                  <a:close/>
                </a:path>
              </a:pathLst>
            </a:custGeom>
            <a:blipFill>
              <a:blip r:embed="rId2"/>
              <a:stretch>
                <a:fillRect t="-205" b="-205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666750" y="666750"/>
            <a:ext cx="8324850" cy="2632656"/>
            <a:chOff x="0" y="0"/>
            <a:chExt cx="11099800" cy="3510208"/>
          </a:xfrm>
        </p:grpSpPr>
        <p:sp>
          <p:nvSpPr>
            <p:cNvPr id="5" name="TextBox 5"/>
            <p:cNvSpPr txBox="1"/>
            <p:nvPr/>
          </p:nvSpPr>
          <p:spPr>
            <a:xfrm>
              <a:off x="0" y="66675"/>
              <a:ext cx="11099800" cy="155469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8800"/>
                </a:lnSpc>
              </a:pPr>
              <a:r>
                <a:rPr lang="en-US" sz="8000">
                  <a:solidFill>
                    <a:srgbClr val="F5F7FA"/>
                  </a:solidFill>
                  <a:latin typeface="Georgia Pro Light"/>
                  <a:ea typeface="Georgia Pro Light"/>
                  <a:cs typeface="Georgia Pro Light"/>
                  <a:sym typeface="Georgia Pro Light"/>
                </a:rPr>
                <a:t>Tracking Progress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2047803"/>
              <a:ext cx="11099800" cy="146240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940"/>
                </a:lnSpc>
              </a:pPr>
              <a:r>
                <a:rPr lang="en-US" sz="2100">
                  <a:solidFill>
                    <a:srgbClr val="F5F7FA"/>
                  </a:solidFill>
                  <a:latin typeface="DM Sans"/>
                  <a:ea typeface="DM Sans"/>
                  <a:cs typeface="DM Sans"/>
                  <a:sym typeface="DM Sans"/>
                </a:rPr>
                <a:t>Monitoring project progress is crucial for success. Dashboards and reports provide visual insights, enabling teams to make informed decisions and maintain alignment with project goals.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78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66750" y="666750"/>
            <a:ext cx="8324850" cy="3840480"/>
            <a:chOff x="0" y="0"/>
            <a:chExt cx="11099800" cy="5120639"/>
          </a:xfrm>
        </p:grpSpPr>
        <p:sp>
          <p:nvSpPr>
            <p:cNvPr id="3" name="TextBox 3"/>
            <p:cNvSpPr txBox="1"/>
            <p:nvPr/>
          </p:nvSpPr>
          <p:spPr>
            <a:xfrm>
              <a:off x="0" y="2320925"/>
              <a:ext cx="11099800" cy="79565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5040"/>
                </a:lnSpc>
                <a:spcBef>
                  <a:spcPct val="0"/>
                </a:spcBef>
              </a:pPr>
              <a:r>
                <a:rPr lang="en-US" sz="3600" b="1" u="none" strike="noStrike">
                  <a:solidFill>
                    <a:srgbClr val="F5F7FA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Projects meeting deadlines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3500755"/>
              <a:ext cx="11099800" cy="161988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60"/>
                </a:lnSpc>
                <a:spcBef>
                  <a:spcPct val="0"/>
                </a:spcBef>
              </a:pPr>
              <a:r>
                <a:rPr lang="en-US" sz="2100" u="none" strike="noStrike">
                  <a:solidFill>
                    <a:srgbClr val="F5F7FA"/>
                  </a:solidFill>
                  <a:latin typeface="DM Sans"/>
                  <a:ea typeface="DM Sans"/>
                  <a:cs typeface="DM Sans"/>
                  <a:sym typeface="DM Sans"/>
                </a:rPr>
                <a:t>Meeting deadlines is crucial for project success. </a:t>
              </a:r>
              <a:r>
                <a:rPr lang="en-US" sz="2100" b="1" u="none" strike="noStrike">
                  <a:solidFill>
                    <a:srgbClr val="F5F7FA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85%</a:t>
              </a:r>
              <a:r>
                <a:rPr lang="en-US" sz="2100" u="none" strike="noStrike">
                  <a:solidFill>
                    <a:srgbClr val="F5F7FA"/>
                  </a:solidFill>
                  <a:latin typeface="DM Sans"/>
                  <a:ea typeface="DM Sans"/>
                  <a:cs typeface="DM Sans"/>
                  <a:sym typeface="DM Sans"/>
                </a:rPr>
                <a:t> of projects that adhere to schedules achieve their objectives, fostering stakeholder satisfaction and maintaining project momentum.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200025"/>
              <a:ext cx="11099800" cy="192086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10499"/>
                </a:lnSpc>
                <a:spcBef>
                  <a:spcPct val="0"/>
                </a:spcBef>
              </a:pPr>
              <a:r>
                <a:rPr lang="en-US" sz="10499" u="none" strike="noStrike">
                  <a:solidFill>
                    <a:srgbClr val="F5F7FA"/>
                  </a:solidFill>
                  <a:latin typeface="Georgia Pro Light"/>
                  <a:ea typeface="Georgia Pro Light"/>
                  <a:cs typeface="Georgia Pro Light"/>
                  <a:sym typeface="Georgia Pro Light"/>
                </a:rPr>
                <a:t>85%</a:t>
              </a: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0734675" y="0"/>
            <a:ext cx="7553325" cy="10287000"/>
            <a:chOff x="0" y="0"/>
            <a:chExt cx="1908641" cy="259941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908641" cy="2599410"/>
            </a:xfrm>
            <a:custGeom>
              <a:avLst/>
              <a:gdLst/>
              <a:ahLst/>
              <a:cxnLst/>
              <a:rect l="l" t="t" r="r" b="b"/>
              <a:pathLst>
                <a:path w="1908641" h="2599410">
                  <a:moveTo>
                    <a:pt x="0" y="0"/>
                  </a:moveTo>
                  <a:lnTo>
                    <a:pt x="1908641" y="0"/>
                  </a:lnTo>
                  <a:lnTo>
                    <a:pt x="1908641" y="2599410"/>
                  </a:lnTo>
                  <a:lnTo>
                    <a:pt x="0" y="2599410"/>
                  </a:lnTo>
                  <a:close/>
                </a:path>
              </a:pathLst>
            </a:custGeom>
            <a:blipFill>
              <a:blip r:embed="rId2"/>
              <a:stretch>
                <a:fillRect t="-205" b="-205"/>
              </a:stretch>
            </a:blipFill>
          </p:spPr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78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0734675" cy="10287000"/>
          </a:xfrm>
          <a:prstGeom prst="rect">
            <a:avLst/>
          </a:prstGeom>
          <a:solidFill>
            <a:srgbClr val="0A1F44"/>
          </a:solidFill>
        </p:spPr>
      </p:sp>
      <p:sp>
        <p:nvSpPr>
          <p:cNvPr id="3" name="TextBox 3"/>
          <p:cNvSpPr txBox="1"/>
          <p:nvPr/>
        </p:nvSpPr>
        <p:spPr>
          <a:xfrm>
            <a:off x="666750" y="733425"/>
            <a:ext cx="9763125" cy="22637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800"/>
              </a:lnSpc>
              <a:spcBef>
                <a:spcPct val="0"/>
              </a:spcBef>
            </a:pPr>
            <a:r>
              <a:rPr lang="en-US" sz="8000">
                <a:solidFill>
                  <a:srgbClr val="F5F7FA"/>
                </a:solidFill>
                <a:latin typeface="Georgia Pro Light"/>
                <a:ea typeface="Georgia Pro Light"/>
                <a:cs typeface="Georgia Pro Light"/>
                <a:sym typeface="Georgia Pro Light"/>
              </a:rPr>
              <a:t>Digital Project Management Tools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666750" y="4248150"/>
            <a:ext cx="4010025" cy="856194"/>
            <a:chOff x="0" y="0"/>
            <a:chExt cx="5346700" cy="1141592"/>
          </a:xfrm>
        </p:grpSpPr>
        <p:sp>
          <p:nvSpPr>
            <p:cNvPr id="5" name="TextBox 5"/>
            <p:cNvSpPr txBox="1"/>
            <p:nvPr/>
          </p:nvSpPr>
          <p:spPr>
            <a:xfrm>
              <a:off x="0" y="669787"/>
              <a:ext cx="5346700" cy="47180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940"/>
                </a:lnSpc>
              </a:pPr>
              <a:r>
                <a:rPr lang="en-US" sz="2100">
                  <a:solidFill>
                    <a:srgbClr val="F5F7FA"/>
                  </a:solidFill>
                  <a:latin typeface="DM Sans"/>
                  <a:ea typeface="DM Sans"/>
                  <a:cs typeface="DM Sans"/>
                  <a:sym typeface="DM Sans"/>
                </a:rPr>
                <a:t>Visual Planning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47625"/>
              <a:ext cx="5346700" cy="56917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640"/>
                </a:lnSpc>
              </a:pPr>
              <a:r>
                <a:rPr lang="en-US" sz="2600" b="1">
                  <a:solidFill>
                    <a:srgbClr val="F5F7FA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MS PROJECT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666750" y="6049448"/>
            <a:ext cx="4010025" cy="856194"/>
            <a:chOff x="0" y="0"/>
            <a:chExt cx="5346700" cy="1141592"/>
          </a:xfrm>
        </p:grpSpPr>
        <p:sp>
          <p:nvSpPr>
            <p:cNvPr id="8" name="TextBox 8"/>
            <p:cNvSpPr txBox="1"/>
            <p:nvPr/>
          </p:nvSpPr>
          <p:spPr>
            <a:xfrm>
              <a:off x="0" y="669787"/>
              <a:ext cx="5346700" cy="47180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940"/>
                </a:lnSpc>
              </a:pPr>
              <a:r>
                <a:rPr lang="en-US" sz="2100">
                  <a:solidFill>
                    <a:srgbClr val="F5F7FA"/>
                  </a:solidFill>
                  <a:latin typeface="DM Sans"/>
                  <a:ea typeface="DM Sans"/>
                  <a:cs typeface="DM Sans"/>
                  <a:sym typeface="DM Sans"/>
                </a:rPr>
                <a:t>Agile Tracking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47625"/>
              <a:ext cx="5346700" cy="56917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640"/>
                </a:lnSpc>
              </a:pPr>
              <a:r>
                <a:rPr lang="en-US" sz="2600" b="1">
                  <a:solidFill>
                    <a:srgbClr val="F5F7FA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JIRA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666750" y="7829550"/>
            <a:ext cx="4010025" cy="856194"/>
            <a:chOff x="0" y="0"/>
            <a:chExt cx="5346700" cy="1141592"/>
          </a:xfrm>
        </p:grpSpPr>
        <p:sp>
          <p:nvSpPr>
            <p:cNvPr id="11" name="TextBox 11"/>
            <p:cNvSpPr txBox="1"/>
            <p:nvPr/>
          </p:nvSpPr>
          <p:spPr>
            <a:xfrm>
              <a:off x="0" y="669787"/>
              <a:ext cx="5346700" cy="47180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940"/>
                </a:lnSpc>
              </a:pPr>
              <a:r>
                <a:rPr lang="en-US" sz="2100">
                  <a:solidFill>
                    <a:srgbClr val="F5F7FA"/>
                  </a:solidFill>
                  <a:latin typeface="DM Sans"/>
                  <a:ea typeface="DM Sans"/>
                  <a:cs typeface="DM Sans"/>
                  <a:sym typeface="DM Sans"/>
                </a:rPr>
                <a:t>Task Management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47625"/>
              <a:ext cx="5346700" cy="56917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640"/>
                </a:lnSpc>
              </a:pPr>
              <a:r>
                <a:rPr lang="en-US" sz="2600" b="1">
                  <a:solidFill>
                    <a:srgbClr val="F5F7FA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TRELLO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3611225" y="3352800"/>
            <a:ext cx="4010025" cy="6267450"/>
            <a:chOff x="0" y="0"/>
            <a:chExt cx="621258" cy="970992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621258" cy="970992"/>
            </a:xfrm>
            <a:custGeom>
              <a:avLst/>
              <a:gdLst/>
              <a:ahLst/>
              <a:cxnLst/>
              <a:rect l="l" t="t" r="r" b="b"/>
              <a:pathLst>
                <a:path w="621258" h="970992">
                  <a:moveTo>
                    <a:pt x="0" y="0"/>
                  </a:moveTo>
                  <a:lnTo>
                    <a:pt x="621258" y="0"/>
                  </a:lnTo>
                  <a:lnTo>
                    <a:pt x="621258" y="970992"/>
                  </a:lnTo>
                  <a:lnTo>
                    <a:pt x="0" y="970992"/>
                  </a:lnTo>
                  <a:close/>
                </a:path>
              </a:pathLst>
            </a:custGeom>
            <a:blipFill>
              <a:blip r:embed="rId2"/>
              <a:stretch>
                <a:fillRect t="-478" b="-478"/>
              </a:stretch>
            </a:blipFill>
          </p:spPr>
        </p:sp>
      </p:grpSp>
      <p:grpSp>
        <p:nvGrpSpPr>
          <p:cNvPr id="15" name="Group 15"/>
          <p:cNvGrpSpPr/>
          <p:nvPr/>
        </p:nvGrpSpPr>
        <p:grpSpPr>
          <a:xfrm>
            <a:off x="9296400" y="3352800"/>
            <a:ext cx="4010025" cy="6267450"/>
            <a:chOff x="0" y="0"/>
            <a:chExt cx="621258" cy="970992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621258" cy="970992"/>
            </a:xfrm>
            <a:custGeom>
              <a:avLst/>
              <a:gdLst/>
              <a:ahLst/>
              <a:cxnLst/>
              <a:rect l="l" t="t" r="r" b="b"/>
              <a:pathLst>
                <a:path w="621258" h="970992">
                  <a:moveTo>
                    <a:pt x="0" y="0"/>
                  </a:moveTo>
                  <a:lnTo>
                    <a:pt x="621258" y="0"/>
                  </a:lnTo>
                  <a:lnTo>
                    <a:pt x="621258" y="970992"/>
                  </a:lnTo>
                  <a:lnTo>
                    <a:pt x="0" y="970992"/>
                  </a:lnTo>
                  <a:close/>
                </a:path>
              </a:pathLst>
            </a:custGeom>
            <a:blipFill>
              <a:blip r:embed="rId3"/>
              <a:stretch>
                <a:fillRect t="-478" b="-478"/>
              </a:stretch>
            </a:blipFill>
          </p:spPr>
        </p:sp>
      </p:grpSp>
      <p:grpSp>
        <p:nvGrpSpPr>
          <p:cNvPr id="17" name="Group 17"/>
          <p:cNvGrpSpPr/>
          <p:nvPr/>
        </p:nvGrpSpPr>
        <p:grpSpPr>
          <a:xfrm>
            <a:off x="4981575" y="3352800"/>
            <a:ext cx="4010025" cy="6267450"/>
            <a:chOff x="0" y="0"/>
            <a:chExt cx="621258" cy="970992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621258" cy="970992"/>
            </a:xfrm>
            <a:custGeom>
              <a:avLst/>
              <a:gdLst/>
              <a:ahLst/>
              <a:cxnLst/>
              <a:rect l="l" t="t" r="r" b="b"/>
              <a:pathLst>
                <a:path w="621258" h="970992">
                  <a:moveTo>
                    <a:pt x="0" y="0"/>
                  </a:moveTo>
                  <a:lnTo>
                    <a:pt x="621258" y="0"/>
                  </a:lnTo>
                  <a:lnTo>
                    <a:pt x="621258" y="970992"/>
                  </a:lnTo>
                  <a:lnTo>
                    <a:pt x="0" y="970992"/>
                  </a:lnTo>
                  <a:close/>
                </a:path>
              </a:pathLst>
            </a:custGeom>
            <a:blipFill>
              <a:blip r:embed="rId4"/>
              <a:stretch>
                <a:fillRect t="-478" b="-478"/>
              </a:stretch>
            </a:blipFill>
          </p:spPr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78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66750" y="666750"/>
            <a:ext cx="8324850" cy="3840480"/>
            <a:chOff x="0" y="0"/>
            <a:chExt cx="11099800" cy="5120639"/>
          </a:xfrm>
        </p:grpSpPr>
        <p:sp>
          <p:nvSpPr>
            <p:cNvPr id="3" name="TextBox 3"/>
            <p:cNvSpPr txBox="1"/>
            <p:nvPr/>
          </p:nvSpPr>
          <p:spPr>
            <a:xfrm>
              <a:off x="0" y="2320925"/>
              <a:ext cx="11099800" cy="79565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5040"/>
                </a:lnSpc>
                <a:spcBef>
                  <a:spcPct val="0"/>
                </a:spcBef>
              </a:pPr>
              <a:r>
                <a:rPr lang="en-US" sz="3600" u="none" strike="noStrike">
                  <a:solidFill>
                    <a:srgbClr val="F5F7FA"/>
                  </a:solidFill>
                  <a:latin typeface="DM Sans"/>
                  <a:ea typeface="DM Sans"/>
                  <a:cs typeface="DM Sans"/>
                  <a:sym typeface="DM Sans"/>
                </a:rPr>
                <a:t>of projects fail to meet goals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3500755"/>
              <a:ext cx="11099800" cy="161988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60"/>
                </a:lnSpc>
                <a:spcBef>
                  <a:spcPct val="0"/>
                </a:spcBef>
              </a:pPr>
              <a:r>
                <a:rPr lang="en-US" sz="2100" u="none" strike="noStrike">
                  <a:solidFill>
                    <a:srgbClr val="F5F7FA"/>
                  </a:solidFill>
                  <a:latin typeface="DM Sans"/>
                  <a:ea typeface="DM Sans"/>
                  <a:cs typeface="DM Sans"/>
                  <a:sym typeface="DM Sans"/>
                </a:rPr>
                <a:t>Effective project management is crucial, as </a:t>
              </a:r>
              <a:r>
                <a:rPr lang="en-US" sz="2100" b="1" u="none" strike="noStrike">
                  <a:solidFill>
                    <a:srgbClr val="F5F7FA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75% of projects fail</a:t>
              </a:r>
              <a:r>
                <a:rPr lang="en-US" sz="2100" u="none" strike="noStrike">
                  <a:solidFill>
                    <a:srgbClr val="F5F7FA"/>
                  </a:solidFill>
                  <a:latin typeface="DM Sans"/>
                  <a:ea typeface="DM Sans"/>
                  <a:cs typeface="DM Sans"/>
                  <a:sym typeface="DM Sans"/>
                </a:rPr>
                <a:t> to meet their goals due to lack of proper planning, stakeholder engagement, and risk management strategies in place.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200025"/>
              <a:ext cx="11099800" cy="192086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10499"/>
                </a:lnSpc>
                <a:spcBef>
                  <a:spcPct val="0"/>
                </a:spcBef>
              </a:pPr>
              <a:r>
                <a:rPr lang="en-US" sz="10499" u="none" strike="noStrike">
                  <a:solidFill>
                    <a:srgbClr val="F5F7FA"/>
                  </a:solidFill>
                  <a:latin typeface="Georgia Pro Light"/>
                  <a:ea typeface="Georgia Pro Light"/>
                  <a:cs typeface="Georgia Pro Light"/>
                  <a:sym typeface="Georgia Pro Light"/>
                </a:rPr>
                <a:t>75%</a:t>
              </a: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0734675" y="0"/>
            <a:ext cx="7553325" cy="10287000"/>
            <a:chOff x="0" y="0"/>
            <a:chExt cx="1908641" cy="259941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908641" cy="2599410"/>
            </a:xfrm>
            <a:custGeom>
              <a:avLst/>
              <a:gdLst/>
              <a:ahLst/>
              <a:cxnLst/>
              <a:rect l="l" t="t" r="r" b="b"/>
              <a:pathLst>
                <a:path w="1908641" h="2599410">
                  <a:moveTo>
                    <a:pt x="0" y="0"/>
                  </a:moveTo>
                  <a:lnTo>
                    <a:pt x="1908641" y="0"/>
                  </a:lnTo>
                  <a:lnTo>
                    <a:pt x="1908641" y="2599410"/>
                  </a:lnTo>
                  <a:lnTo>
                    <a:pt x="0" y="2599410"/>
                  </a:lnTo>
                  <a:close/>
                </a:path>
              </a:pathLst>
            </a:custGeom>
            <a:blipFill>
              <a:blip r:embed="rId2"/>
              <a:stretch>
                <a:fillRect t="-205" b="-205"/>
              </a:stretch>
            </a:blipFill>
          </p:spPr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78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734675" y="0"/>
            <a:ext cx="7553325" cy="10287000"/>
            <a:chOff x="0" y="0"/>
            <a:chExt cx="1170208" cy="159372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170208" cy="1593725"/>
            </a:xfrm>
            <a:custGeom>
              <a:avLst/>
              <a:gdLst/>
              <a:ahLst/>
              <a:cxnLst/>
              <a:rect l="l" t="t" r="r" b="b"/>
              <a:pathLst>
                <a:path w="1170208" h="1593725">
                  <a:moveTo>
                    <a:pt x="0" y="0"/>
                  </a:moveTo>
                  <a:lnTo>
                    <a:pt x="1170208" y="0"/>
                  </a:lnTo>
                  <a:lnTo>
                    <a:pt x="1170208" y="1593725"/>
                  </a:lnTo>
                  <a:lnTo>
                    <a:pt x="0" y="1593725"/>
                  </a:lnTo>
                  <a:close/>
                </a:path>
              </a:pathLst>
            </a:custGeom>
            <a:blipFill>
              <a:blip r:embed="rId2"/>
              <a:stretch>
                <a:fillRect t="-205" b="-205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666750" y="666750"/>
            <a:ext cx="8324850" cy="3747081"/>
            <a:chOff x="0" y="0"/>
            <a:chExt cx="11099800" cy="4996108"/>
          </a:xfrm>
        </p:grpSpPr>
        <p:sp>
          <p:nvSpPr>
            <p:cNvPr id="5" name="TextBox 5"/>
            <p:cNvSpPr txBox="1"/>
            <p:nvPr/>
          </p:nvSpPr>
          <p:spPr>
            <a:xfrm>
              <a:off x="0" y="66675"/>
              <a:ext cx="11099800" cy="304059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8800"/>
                </a:lnSpc>
              </a:pPr>
              <a:r>
                <a:rPr lang="en-US" sz="8000">
                  <a:solidFill>
                    <a:srgbClr val="F5F7FA"/>
                  </a:solidFill>
                  <a:latin typeface="Georgia Pro Light"/>
                  <a:ea typeface="Georgia Pro Light"/>
                  <a:cs typeface="Georgia Pro Light"/>
                  <a:sym typeface="Georgia Pro Light"/>
                </a:rPr>
                <a:t>Embracing Project Management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3533703"/>
              <a:ext cx="11099800" cy="146240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940"/>
                </a:lnSpc>
              </a:pPr>
              <a:r>
                <a:rPr lang="en-US" sz="2100">
                  <a:solidFill>
                    <a:srgbClr val="F5F7FA"/>
                  </a:solidFill>
                  <a:latin typeface="DM Sans"/>
                  <a:ea typeface="DM Sans"/>
                  <a:cs typeface="DM Sans"/>
                  <a:sym typeface="DM Sans"/>
                </a:rPr>
                <a:t>Adopting project management tools fosters a culture of </a:t>
              </a:r>
              <a:r>
                <a:rPr lang="en-US" sz="2100" b="1">
                  <a:solidFill>
                    <a:srgbClr val="F5F7FA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continuous learning</a:t>
              </a:r>
              <a:r>
                <a:rPr lang="en-US" sz="2100">
                  <a:solidFill>
                    <a:srgbClr val="F5F7FA"/>
                  </a:solidFill>
                  <a:latin typeface="DM Sans"/>
                  <a:ea typeface="DM Sans"/>
                  <a:cs typeface="DM Sans"/>
                  <a:sym typeface="DM Sans"/>
                </a:rPr>
                <a:t> and improvement, enabling teams to adapt processes and enhance efficiency in their workflows.</a:t>
              </a:r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78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734675" y="0"/>
            <a:ext cx="7553325" cy="10287000"/>
            <a:chOff x="0" y="0"/>
            <a:chExt cx="1170208" cy="159372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170208" cy="1593725"/>
            </a:xfrm>
            <a:custGeom>
              <a:avLst/>
              <a:gdLst/>
              <a:ahLst/>
              <a:cxnLst/>
              <a:rect l="l" t="t" r="r" b="b"/>
              <a:pathLst>
                <a:path w="1170208" h="1593725">
                  <a:moveTo>
                    <a:pt x="0" y="0"/>
                  </a:moveTo>
                  <a:lnTo>
                    <a:pt x="1170208" y="0"/>
                  </a:lnTo>
                  <a:lnTo>
                    <a:pt x="1170208" y="1593725"/>
                  </a:lnTo>
                  <a:lnTo>
                    <a:pt x="0" y="1593725"/>
                  </a:lnTo>
                  <a:close/>
                </a:path>
              </a:pathLst>
            </a:custGeom>
            <a:blipFill>
              <a:blip r:embed="rId2"/>
              <a:stretch>
                <a:fillRect t="-205" b="-205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2105025" y="6038850"/>
            <a:ext cx="796706" cy="781952"/>
            <a:chOff x="0" y="0"/>
            <a:chExt cx="685800" cy="6731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685800" cy="668020"/>
            </a:xfrm>
            <a:custGeom>
              <a:avLst/>
              <a:gdLst/>
              <a:ahLst/>
              <a:cxnLst/>
              <a:rect l="l" t="t" r="r" b="b"/>
              <a:pathLst>
                <a:path w="685800" h="668020">
                  <a:moveTo>
                    <a:pt x="342900" y="0"/>
                  </a:moveTo>
                  <a:lnTo>
                    <a:pt x="434340" y="162560"/>
                  </a:lnTo>
                  <a:lnTo>
                    <a:pt x="618490" y="132080"/>
                  </a:lnTo>
                  <a:lnTo>
                    <a:pt x="547370" y="304800"/>
                  </a:lnTo>
                  <a:lnTo>
                    <a:pt x="685800" y="430530"/>
                  </a:lnTo>
                  <a:lnTo>
                    <a:pt x="506730" y="482600"/>
                  </a:lnTo>
                  <a:lnTo>
                    <a:pt x="495300" y="668020"/>
                  </a:lnTo>
                  <a:lnTo>
                    <a:pt x="342900" y="561340"/>
                  </a:lnTo>
                  <a:lnTo>
                    <a:pt x="190500" y="668020"/>
                  </a:lnTo>
                  <a:lnTo>
                    <a:pt x="179070" y="482600"/>
                  </a:lnTo>
                  <a:lnTo>
                    <a:pt x="0" y="430530"/>
                  </a:lnTo>
                  <a:lnTo>
                    <a:pt x="138430" y="304800"/>
                  </a:lnTo>
                  <a:lnTo>
                    <a:pt x="67310" y="132080"/>
                  </a:lnTo>
                  <a:lnTo>
                    <a:pt x="251460" y="162560"/>
                  </a:lnTo>
                  <a:close/>
                </a:path>
              </a:pathLst>
            </a:custGeom>
            <a:solidFill>
              <a:srgbClr val="F5F7FA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139700" y="117475"/>
              <a:ext cx="406400" cy="4413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940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2105025" y="7829550"/>
            <a:ext cx="796706" cy="781952"/>
            <a:chOff x="0" y="0"/>
            <a:chExt cx="685800" cy="6731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685800" cy="668020"/>
            </a:xfrm>
            <a:custGeom>
              <a:avLst/>
              <a:gdLst/>
              <a:ahLst/>
              <a:cxnLst/>
              <a:rect l="l" t="t" r="r" b="b"/>
              <a:pathLst>
                <a:path w="685800" h="668020">
                  <a:moveTo>
                    <a:pt x="342900" y="0"/>
                  </a:moveTo>
                  <a:lnTo>
                    <a:pt x="434340" y="162560"/>
                  </a:lnTo>
                  <a:lnTo>
                    <a:pt x="618490" y="132080"/>
                  </a:lnTo>
                  <a:lnTo>
                    <a:pt x="547370" y="304800"/>
                  </a:lnTo>
                  <a:lnTo>
                    <a:pt x="685800" y="430530"/>
                  </a:lnTo>
                  <a:lnTo>
                    <a:pt x="506730" y="482600"/>
                  </a:lnTo>
                  <a:lnTo>
                    <a:pt x="495300" y="668020"/>
                  </a:lnTo>
                  <a:lnTo>
                    <a:pt x="342900" y="561340"/>
                  </a:lnTo>
                  <a:lnTo>
                    <a:pt x="190500" y="668020"/>
                  </a:lnTo>
                  <a:lnTo>
                    <a:pt x="179070" y="482600"/>
                  </a:lnTo>
                  <a:lnTo>
                    <a:pt x="0" y="430530"/>
                  </a:lnTo>
                  <a:lnTo>
                    <a:pt x="138430" y="304800"/>
                  </a:lnTo>
                  <a:lnTo>
                    <a:pt x="67310" y="132080"/>
                  </a:lnTo>
                  <a:lnTo>
                    <a:pt x="251460" y="162560"/>
                  </a:lnTo>
                  <a:close/>
                </a:path>
              </a:pathLst>
            </a:custGeom>
            <a:solidFill>
              <a:srgbClr val="F5F7FA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139700" y="117475"/>
              <a:ext cx="406400" cy="4413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940"/>
                </a:lnSpc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2105025" y="4248150"/>
            <a:ext cx="796706" cy="781952"/>
            <a:chOff x="0" y="0"/>
            <a:chExt cx="685800" cy="6731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685800" cy="668020"/>
            </a:xfrm>
            <a:custGeom>
              <a:avLst/>
              <a:gdLst/>
              <a:ahLst/>
              <a:cxnLst/>
              <a:rect l="l" t="t" r="r" b="b"/>
              <a:pathLst>
                <a:path w="685800" h="668020">
                  <a:moveTo>
                    <a:pt x="342900" y="0"/>
                  </a:moveTo>
                  <a:lnTo>
                    <a:pt x="434340" y="162560"/>
                  </a:lnTo>
                  <a:lnTo>
                    <a:pt x="618490" y="132080"/>
                  </a:lnTo>
                  <a:lnTo>
                    <a:pt x="547370" y="304800"/>
                  </a:lnTo>
                  <a:lnTo>
                    <a:pt x="685800" y="430530"/>
                  </a:lnTo>
                  <a:lnTo>
                    <a:pt x="506730" y="482600"/>
                  </a:lnTo>
                  <a:lnTo>
                    <a:pt x="495300" y="668020"/>
                  </a:lnTo>
                  <a:lnTo>
                    <a:pt x="342900" y="561340"/>
                  </a:lnTo>
                  <a:lnTo>
                    <a:pt x="190500" y="668020"/>
                  </a:lnTo>
                  <a:lnTo>
                    <a:pt x="179070" y="482600"/>
                  </a:lnTo>
                  <a:lnTo>
                    <a:pt x="0" y="430530"/>
                  </a:lnTo>
                  <a:lnTo>
                    <a:pt x="138430" y="304800"/>
                  </a:lnTo>
                  <a:lnTo>
                    <a:pt x="67310" y="132080"/>
                  </a:lnTo>
                  <a:lnTo>
                    <a:pt x="251460" y="162560"/>
                  </a:lnTo>
                  <a:close/>
                </a:path>
              </a:pathLst>
            </a:custGeom>
            <a:solidFill>
              <a:srgbClr val="F5F7FA"/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139700" y="117475"/>
              <a:ext cx="406400" cy="4413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940"/>
                </a:lnSpc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3543300" y="7829550"/>
            <a:ext cx="5448300" cy="895350"/>
            <a:chOff x="0" y="0"/>
            <a:chExt cx="7264400" cy="1193800"/>
          </a:xfrm>
        </p:grpSpPr>
        <p:sp>
          <p:nvSpPr>
            <p:cNvPr id="14" name="TextBox 14"/>
            <p:cNvSpPr txBox="1"/>
            <p:nvPr/>
          </p:nvSpPr>
          <p:spPr>
            <a:xfrm>
              <a:off x="0" y="731584"/>
              <a:ext cx="7264400" cy="46221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939"/>
                </a:lnSpc>
              </a:pPr>
              <a:r>
                <a:rPr lang="en-US" sz="2099">
                  <a:solidFill>
                    <a:srgbClr val="F5F7FA"/>
                  </a:solidFill>
                  <a:latin typeface="DM Sans"/>
                  <a:ea typeface="DM Sans"/>
                  <a:cs typeface="DM Sans"/>
                  <a:sym typeface="DM Sans"/>
                </a:rPr>
                <a:t>hello@reallygreatsite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-47625"/>
              <a:ext cx="7264400" cy="57120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639"/>
                </a:lnSpc>
              </a:pPr>
              <a:r>
                <a:rPr lang="en-US" sz="2599">
                  <a:solidFill>
                    <a:srgbClr val="F5F7FA"/>
                  </a:solidFill>
                  <a:latin typeface="DM Sans"/>
                  <a:ea typeface="DM Sans"/>
                  <a:cs typeface="DM Sans"/>
                  <a:sym typeface="DM Sans"/>
                </a:rPr>
                <a:t>TRAINING RESOURCES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3543300" y="6038850"/>
            <a:ext cx="5448300" cy="895350"/>
            <a:chOff x="0" y="0"/>
            <a:chExt cx="7264400" cy="1193800"/>
          </a:xfrm>
        </p:grpSpPr>
        <p:sp>
          <p:nvSpPr>
            <p:cNvPr id="17" name="TextBox 17"/>
            <p:cNvSpPr txBox="1"/>
            <p:nvPr/>
          </p:nvSpPr>
          <p:spPr>
            <a:xfrm>
              <a:off x="0" y="731584"/>
              <a:ext cx="7264400" cy="46221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939"/>
                </a:lnSpc>
              </a:pPr>
              <a:r>
                <a:rPr lang="en-US" sz="2099">
                  <a:solidFill>
                    <a:srgbClr val="F5F7FA"/>
                  </a:solidFill>
                  <a:latin typeface="DM Sans"/>
                  <a:ea typeface="DM Sans"/>
                  <a:cs typeface="DM Sans"/>
                  <a:sym typeface="DM Sans"/>
                </a:rPr>
                <a:t>123-456-7890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-47625"/>
              <a:ext cx="7264400" cy="57120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639"/>
                </a:lnSpc>
              </a:pPr>
              <a:r>
                <a:rPr lang="en-US" sz="2599">
                  <a:solidFill>
                    <a:srgbClr val="F5F7FA"/>
                  </a:solidFill>
                  <a:latin typeface="DM Sans"/>
                  <a:ea typeface="DM Sans"/>
                  <a:cs typeface="DM Sans"/>
                  <a:sym typeface="DM Sans"/>
                </a:rPr>
                <a:t>OFFICE LOCATION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3543300" y="4248150"/>
            <a:ext cx="5448300" cy="895350"/>
            <a:chOff x="0" y="0"/>
            <a:chExt cx="7264400" cy="1193800"/>
          </a:xfrm>
        </p:grpSpPr>
        <p:sp>
          <p:nvSpPr>
            <p:cNvPr id="20" name="TextBox 20"/>
            <p:cNvSpPr txBox="1"/>
            <p:nvPr/>
          </p:nvSpPr>
          <p:spPr>
            <a:xfrm>
              <a:off x="0" y="731584"/>
              <a:ext cx="7264400" cy="46221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939"/>
                </a:lnSpc>
              </a:pPr>
              <a:r>
                <a:rPr lang="en-US" sz="2099">
                  <a:solidFill>
                    <a:srgbClr val="F5F7FA"/>
                  </a:solidFill>
                  <a:latin typeface="DM Sans"/>
                  <a:ea typeface="DM Sans"/>
                  <a:cs typeface="DM Sans"/>
                  <a:sym typeface="DM Sans"/>
                </a:rPr>
                <a:t>@reallygreatsite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0" y="-47625"/>
              <a:ext cx="7264400" cy="57120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639"/>
                </a:lnSpc>
              </a:pPr>
              <a:r>
                <a:rPr lang="en-US" sz="2599">
                  <a:solidFill>
                    <a:srgbClr val="F5F7FA"/>
                  </a:solidFill>
                  <a:latin typeface="DM Sans"/>
                  <a:ea typeface="DM Sans"/>
                  <a:cs typeface="DM Sans"/>
                  <a:sym typeface="DM Sans"/>
                </a:rPr>
                <a:t>PROJECT MANAGEMENT TEAM</a:t>
              </a:r>
            </a:p>
          </p:txBody>
        </p:sp>
      </p:grpSp>
      <p:sp>
        <p:nvSpPr>
          <p:cNvPr id="22" name="TextBox 22"/>
          <p:cNvSpPr txBox="1"/>
          <p:nvPr/>
        </p:nvSpPr>
        <p:spPr>
          <a:xfrm>
            <a:off x="666750" y="851535"/>
            <a:ext cx="9763125" cy="12820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9600"/>
              </a:lnSpc>
              <a:spcBef>
                <a:spcPct val="0"/>
              </a:spcBef>
            </a:pPr>
            <a:r>
              <a:rPr lang="en-US" sz="9600" u="none" strike="noStrike">
                <a:solidFill>
                  <a:srgbClr val="F5F7FA"/>
                </a:solidFill>
                <a:latin typeface="Georgia Pro Light"/>
                <a:ea typeface="Georgia Pro Light"/>
                <a:cs typeface="Georgia Pro Light"/>
                <a:sym typeface="Georgia Pro Light"/>
              </a:rPr>
              <a:t>Contact Us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348</Words>
  <Application>Microsoft Office PowerPoint</Application>
  <PresentationFormat>Custom</PresentationFormat>
  <Paragraphs>50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Calibri</vt:lpstr>
      <vt:lpstr>Georgia Pro Light</vt:lpstr>
      <vt:lpstr>DM Sans Bold</vt:lpstr>
      <vt:lpstr>Arial</vt:lpstr>
      <vt:lpstr>DM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- Streamlining Success</dc:title>
  <dc:creator>PADMANAVA</dc:creator>
  <dc:description>Presentation - Streamlining Success</dc:description>
  <cp:lastModifiedBy>mojumderpadmanava@gmail.com</cp:lastModifiedBy>
  <cp:revision>1</cp:revision>
  <dcterms:created xsi:type="dcterms:W3CDTF">2006-08-16T00:00:00Z</dcterms:created>
  <dcterms:modified xsi:type="dcterms:W3CDTF">2025-10-18T06:27:02Z</dcterms:modified>
  <dc:identifier>DAG136pM_WE</dc:identifier>
</cp:coreProperties>
</file>