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8288000" cy="10287000"/>
  <p:notesSz cx="6858000" cy="9144000"/>
  <p:embeddedFontLst>
    <p:embeddedFont>
      <p:font typeface="Helvetica World" panose="020B0604020202020204" charset="-128"/>
      <p:regular r:id="rId21"/>
    </p:embeddedFont>
    <p:embeddedFont>
      <p:font typeface="Helvetica World Bold" panose="020B0604020202020204" charset="-128"/>
      <p:regular r:id="rId22"/>
    </p:embeddedFont>
    <p:embeddedFont>
      <p:font typeface="Georgia Pro Condensed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700"/>
            <a:ext cx="11201400" cy="10299700"/>
            <a:chOff x="0" y="0"/>
            <a:chExt cx="963348" cy="8857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63348" cy="885799"/>
            </a:xfrm>
            <a:custGeom>
              <a:avLst/>
              <a:gdLst/>
              <a:ahLst/>
              <a:cxnLst/>
              <a:rect l="l" t="t" r="r" b="b"/>
              <a:pathLst>
                <a:path w="963348" h="885799">
                  <a:moveTo>
                    <a:pt x="0" y="0"/>
                  </a:moveTo>
                  <a:lnTo>
                    <a:pt x="963348" y="0"/>
                  </a:lnTo>
                  <a:lnTo>
                    <a:pt x="963348" y="885799"/>
                  </a:lnTo>
                  <a:lnTo>
                    <a:pt x="0" y="885799"/>
                  </a:lnTo>
                  <a:close/>
                </a:path>
              </a:pathLst>
            </a:custGeom>
            <a:solidFill>
              <a:srgbClr val="F2EFE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11868150" y="666750"/>
            <a:ext cx="5753100" cy="8953500"/>
            <a:chOff x="0" y="0"/>
            <a:chExt cx="814724" cy="126794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4724" cy="1267949"/>
            </a:xfrm>
            <a:custGeom>
              <a:avLst/>
              <a:gdLst/>
              <a:ahLst/>
              <a:cxnLst/>
              <a:rect l="l" t="t" r="r" b="b"/>
              <a:pathLst>
                <a:path w="814724" h="1267949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t="-199" b="-199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666750" y="9001760"/>
            <a:ext cx="6886575" cy="618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40"/>
              </a:lnSpc>
            </a:pPr>
            <a:r>
              <a:rPr lang="en-US" sz="3800" u="none" strike="noStrike" spc="-57">
                <a:solidFill>
                  <a:srgbClr val="010D1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Presented by [Your Name]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75380" y="975068"/>
            <a:ext cx="9754495" cy="5790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956"/>
              </a:lnSpc>
            </a:pPr>
            <a:r>
              <a:rPr lang="en-US" sz="14956" u="none" strike="noStrike" spc="-523">
                <a:solidFill>
                  <a:srgbClr val="010D1D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Minimalist PowerPoint Templates</a:t>
            </a:r>
          </a:p>
        </p:txBody>
      </p:sp>
      <p:sp>
        <p:nvSpPr>
          <p:cNvPr id="8" name="Freeform 8"/>
          <p:cNvSpPr/>
          <p:nvPr/>
        </p:nvSpPr>
        <p:spPr>
          <a:xfrm rot="-3117037">
            <a:off x="8947742" y="765609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4" y="0"/>
                </a:lnTo>
                <a:lnTo>
                  <a:pt x="2112604" y="1859091"/>
                </a:lnTo>
                <a:lnTo>
                  <a:pt x="0" y="18590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6C8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F2EFEE"/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800225" y="1562100"/>
            <a:ext cx="12944475" cy="2067009"/>
            <a:chOff x="0" y="0"/>
            <a:chExt cx="17259300" cy="2756012"/>
          </a:xfrm>
        </p:grpSpPr>
        <p:sp>
          <p:nvSpPr>
            <p:cNvPr id="7" name="TextBox 7"/>
            <p:cNvSpPr txBox="1"/>
            <p:nvPr/>
          </p:nvSpPr>
          <p:spPr>
            <a:xfrm>
              <a:off x="0" y="-85725"/>
              <a:ext cx="17259300" cy="1702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400"/>
                </a:lnSpc>
              </a:pPr>
              <a:r>
                <a:rPr lang="en-US" sz="8000" spc="-240">
                  <a:solidFill>
                    <a:srgbClr val="010D1D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Introduction to Minimalism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187687"/>
              <a:ext cx="17259300" cy="568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500" b="1" spc="-37">
                  <a:solidFill>
                    <a:srgbClr val="010D1D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Clean Templates for Effective Learning</a:t>
              </a:r>
            </a:p>
          </p:txBody>
        </p:sp>
      </p:grpSp>
      <p:sp>
        <p:nvSpPr>
          <p:cNvPr id="9" name="Freeform 9"/>
          <p:cNvSpPr/>
          <p:nvPr/>
        </p:nvSpPr>
        <p:spPr>
          <a:xfrm rot="-3117037">
            <a:off x="16099474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71A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6C8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1A2332"/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800225" y="1562100"/>
            <a:ext cx="13249275" cy="2067009"/>
            <a:chOff x="0" y="0"/>
            <a:chExt cx="17665700" cy="2756012"/>
          </a:xfrm>
        </p:grpSpPr>
        <p:sp>
          <p:nvSpPr>
            <p:cNvPr id="7" name="TextBox 7"/>
            <p:cNvSpPr txBox="1"/>
            <p:nvPr/>
          </p:nvSpPr>
          <p:spPr>
            <a:xfrm>
              <a:off x="0" y="-85725"/>
              <a:ext cx="17665700" cy="1702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400"/>
                </a:lnSpc>
              </a:pPr>
              <a:r>
                <a:rPr lang="en-US" sz="8000" spc="-240">
                  <a:solidFill>
                    <a:srgbClr val="A6C8FF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Key Design Principles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187687"/>
              <a:ext cx="17665700" cy="568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500" b="1" spc="-37">
                  <a:solidFill>
                    <a:srgbClr val="A6C8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Simplicity, Clarity, and Focus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800225" y="5143500"/>
            <a:ext cx="4308497" cy="2930525"/>
            <a:chOff x="0" y="0"/>
            <a:chExt cx="5744662" cy="3907367"/>
          </a:xfrm>
        </p:grpSpPr>
        <p:sp>
          <p:nvSpPr>
            <p:cNvPr id="10" name="TextBox 10"/>
            <p:cNvSpPr txBox="1"/>
            <p:nvPr/>
          </p:nvSpPr>
          <p:spPr>
            <a:xfrm>
              <a:off x="0" y="0"/>
              <a:ext cx="5744662" cy="533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499" b="1" spc="-37">
                  <a:solidFill>
                    <a:srgbClr val="A6C8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Simplicity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060450"/>
              <a:ext cx="5744662" cy="28469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b="1" u="none" strike="noStrike" spc="-30">
                  <a:solidFill>
                    <a:srgbClr val="A6C8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Simplicity</a:t>
              </a:r>
              <a:r>
                <a:rPr lang="en-US" sz="2000" u="none" strike="noStrike" spc="-30">
                  <a:solidFill>
                    <a:srgbClr val="A6C8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in design allows for a clean layout that emphasizes essential content, minimizing unnecessary elements. This approach facilitates a smoother flow of information during lectures and lessons.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291388" y="5143500"/>
            <a:ext cx="4010025" cy="3282950"/>
            <a:chOff x="0" y="0"/>
            <a:chExt cx="5346700" cy="4377267"/>
          </a:xfrm>
        </p:grpSpPr>
        <p:sp>
          <p:nvSpPr>
            <p:cNvPr id="13" name="TextBox 13"/>
            <p:cNvSpPr txBox="1"/>
            <p:nvPr/>
          </p:nvSpPr>
          <p:spPr>
            <a:xfrm>
              <a:off x="0" y="0"/>
              <a:ext cx="5346700" cy="533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499" b="1" spc="-37">
                  <a:solidFill>
                    <a:srgbClr val="A6C8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Clarity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060450"/>
              <a:ext cx="5346700" cy="33168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b="1" u="none" strike="noStrike" spc="-30">
                  <a:solidFill>
                    <a:srgbClr val="A6C8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Clarity</a:t>
              </a:r>
              <a:r>
                <a:rPr lang="en-US" sz="2000" u="none" strike="noStrike" spc="-30">
                  <a:solidFill>
                    <a:srgbClr val="A6C8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is critical in educational settings; using straightforward fonts and layouts enhances comprehension, ensuring that students grasp key concepts without confusion or distraction from design elements.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172950" y="5143500"/>
            <a:ext cx="4010025" cy="2930525"/>
            <a:chOff x="0" y="0"/>
            <a:chExt cx="5346700" cy="3907367"/>
          </a:xfrm>
        </p:grpSpPr>
        <p:sp>
          <p:nvSpPr>
            <p:cNvPr id="16" name="TextBox 16"/>
            <p:cNvSpPr txBox="1"/>
            <p:nvPr/>
          </p:nvSpPr>
          <p:spPr>
            <a:xfrm>
              <a:off x="0" y="0"/>
              <a:ext cx="5346700" cy="533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499" b="1" spc="-37">
                  <a:solidFill>
                    <a:srgbClr val="A6C8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Focus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1060450"/>
              <a:ext cx="5346700" cy="28469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b="1" u="none" strike="noStrike" spc="-30">
                  <a:solidFill>
                    <a:srgbClr val="A6C8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Focus</a:t>
              </a:r>
              <a:r>
                <a:rPr lang="en-US" sz="2000" u="none" strike="noStrike" spc="-30">
                  <a:solidFill>
                    <a:srgbClr val="A6C8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on content reduces distractions, allowing learners to engage more fully with the material. A minimalist style keeps attention directed towards the subject matter and promotes effective learning.</a:t>
              </a:r>
            </a:p>
          </p:txBody>
        </p:sp>
      </p:grpSp>
      <p:sp>
        <p:nvSpPr>
          <p:cNvPr id="18" name="Freeform 18"/>
          <p:cNvSpPr/>
          <p:nvPr/>
        </p:nvSpPr>
        <p:spPr>
          <a:xfrm rot="-3117037">
            <a:off x="16099474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0"/>
            <a:ext cx="8991600" cy="3352800"/>
            <a:chOff x="0" y="0"/>
            <a:chExt cx="2368158" cy="8830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68158" cy="883042"/>
            </a:xfrm>
            <a:custGeom>
              <a:avLst/>
              <a:gdLst/>
              <a:ahLst/>
              <a:cxnLst/>
              <a:rect l="l" t="t" r="r" b="b"/>
              <a:pathLst>
                <a:path w="2368158" h="883042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1A233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991600" y="0"/>
            <a:ext cx="9296400" cy="10287000"/>
            <a:chOff x="0" y="0"/>
            <a:chExt cx="1220873" cy="135096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20873" cy="1350966"/>
            </a:xfrm>
            <a:custGeom>
              <a:avLst/>
              <a:gdLst/>
              <a:ahLst/>
              <a:cxnLst/>
              <a:rect l="l" t="t" r="r" b="b"/>
              <a:pathLst>
                <a:path w="1220873" h="1350966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t="-66" b="-66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666750" y="809625"/>
            <a:ext cx="6886575" cy="3089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u="none" strike="noStrike">
                <a:solidFill>
                  <a:srgbClr val="A6C8FF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Adaptable Templates for Various Subjects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66750" y="6969125"/>
            <a:ext cx="6886575" cy="265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</a:pPr>
            <a:r>
              <a:rPr lang="en-US" sz="2499" u="none" strike="noStrike" spc="-37">
                <a:solidFill>
                  <a:srgbClr val="A6C8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These minimalist templates are designed to enhance your </a:t>
            </a:r>
            <a:r>
              <a:rPr lang="en-US" sz="2499" b="1" u="none" strike="noStrike" spc="-37">
                <a:solidFill>
                  <a:srgbClr val="A6C8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educational presentations</a:t>
            </a:r>
            <a:r>
              <a:rPr lang="en-US" sz="2499" u="none" strike="noStrike" spc="-37">
                <a:solidFill>
                  <a:srgbClr val="A6C8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ensuring clarity and focus. They accommodate various subjects and class sizes, promoting effective communication and engaging learning environments.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6C8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5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F2EFEE"/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800225" y="1562100"/>
            <a:ext cx="12944475" cy="2067009"/>
            <a:chOff x="0" y="0"/>
            <a:chExt cx="17259300" cy="2756012"/>
          </a:xfrm>
        </p:grpSpPr>
        <p:sp>
          <p:nvSpPr>
            <p:cNvPr id="7" name="TextBox 7"/>
            <p:cNvSpPr txBox="1"/>
            <p:nvPr/>
          </p:nvSpPr>
          <p:spPr>
            <a:xfrm>
              <a:off x="0" y="-85725"/>
              <a:ext cx="17259300" cy="1702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400"/>
                </a:lnSpc>
              </a:pPr>
              <a:r>
                <a:rPr lang="en-US" sz="8000" spc="-240">
                  <a:solidFill>
                    <a:srgbClr val="010D1D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Template 1 – Lecture Overview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187687"/>
              <a:ext cx="17259300" cy="568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500" b="1" spc="-37">
                  <a:solidFill>
                    <a:srgbClr val="010D1D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Structure for Introducing Lecture Topics</a:t>
              </a:r>
            </a:p>
          </p:txBody>
        </p:sp>
      </p:grpSp>
      <p:sp>
        <p:nvSpPr>
          <p:cNvPr id="9" name="Freeform 9"/>
          <p:cNvSpPr/>
          <p:nvPr/>
        </p:nvSpPr>
        <p:spPr>
          <a:xfrm rot="-3117037">
            <a:off x="16099474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858125" cy="10287000"/>
            <a:chOff x="0" y="0"/>
            <a:chExt cx="1031988" cy="13509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31988" cy="1350966"/>
            </a:xfrm>
            <a:custGeom>
              <a:avLst/>
              <a:gdLst/>
              <a:ahLst/>
              <a:cxnLst/>
              <a:rect l="l" t="t" r="r" b="b"/>
              <a:pathLst>
                <a:path w="1031988" h="1350966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1571A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666750" y="666750"/>
            <a:ext cx="6545058" cy="8953500"/>
            <a:chOff x="0" y="0"/>
            <a:chExt cx="768828" cy="105174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68828" cy="1051741"/>
            </a:xfrm>
            <a:custGeom>
              <a:avLst/>
              <a:gdLst/>
              <a:ahLst/>
              <a:cxnLst/>
              <a:rect l="l" t="t" r="r" b="b"/>
              <a:pathLst>
                <a:path w="768828" h="1051741">
                  <a:moveTo>
                    <a:pt x="53229" y="0"/>
                  </a:moveTo>
                  <a:lnTo>
                    <a:pt x="715599" y="0"/>
                  </a:lnTo>
                  <a:cubicBezTo>
                    <a:pt x="729717" y="0"/>
                    <a:pt x="743256" y="5608"/>
                    <a:pt x="753238" y="15590"/>
                  </a:cubicBezTo>
                  <a:cubicBezTo>
                    <a:pt x="763220" y="25573"/>
                    <a:pt x="768828" y="39112"/>
                    <a:pt x="768828" y="53229"/>
                  </a:cubicBezTo>
                  <a:lnTo>
                    <a:pt x="768828" y="998512"/>
                  </a:lnTo>
                  <a:cubicBezTo>
                    <a:pt x="768828" y="1027909"/>
                    <a:pt x="744997" y="1051741"/>
                    <a:pt x="715599" y="1051741"/>
                  </a:cubicBezTo>
                  <a:lnTo>
                    <a:pt x="53229" y="1051741"/>
                  </a:lnTo>
                  <a:cubicBezTo>
                    <a:pt x="39112" y="1051741"/>
                    <a:pt x="25573" y="1046133"/>
                    <a:pt x="15590" y="1036150"/>
                  </a:cubicBezTo>
                  <a:cubicBezTo>
                    <a:pt x="5608" y="1026168"/>
                    <a:pt x="0" y="1012629"/>
                    <a:pt x="0" y="998512"/>
                  </a:cubicBezTo>
                  <a:lnTo>
                    <a:pt x="0" y="53229"/>
                  </a:lnTo>
                  <a:cubicBezTo>
                    <a:pt x="0" y="23831"/>
                    <a:pt x="23831" y="0"/>
                    <a:pt x="53229" y="0"/>
                  </a:cubicBezTo>
                  <a:close/>
                </a:path>
              </a:pathLst>
            </a:custGeom>
            <a:blipFill>
              <a:blip r:embed="rId2"/>
              <a:stretch>
                <a:fillRect t="-414" b="-414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9296400" y="733425"/>
            <a:ext cx="8324850" cy="226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</a:pPr>
            <a:r>
              <a:rPr lang="en-US" sz="8000" spc="-240">
                <a:solidFill>
                  <a:srgbClr val="A6C8FF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Introduction to Minimalist Design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296400" y="7845425"/>
            <a:ext cx="8324850" cy="177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 spc="-37">
                <a:solidFill>
                  <a:srgbClr val="A6C8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Minimalist templates streamline educational presentations, promoting </a:t>
            </a:r>
            <a:r>
              <a:rPr lang="en-US" sz="2499" b="1" u="none" strike="noStrike" spc="-37">
                <a:solidFill>
                  <a:srgbClr val="A6C8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clarity and focus</a:t>
            </a:r>
            <a:r>
              <a:rPr lang="en-US" sz="2499" u="none" strike="noStrike" spc="-37">
                <a:solidFill>
                  <a:srgbClr val="A6C8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 By limiting distractions, these designs enhance comprehension and engagement, making lessons adaptable across various subjects and class sizes.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858125" cy="10287000"/>
            <a:chOff x="0" y="0"/>
            <a:chExt cx="1031988" cy="13509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31988" cy="1350966"/>
            </a:xfrm>
            <a:custGeom>
              <a:avLst/>
              <a:gdLst/>
              <a:ahLst/>
              <a:cxnLst/>
              <a:rect l="l" t="t" r="r" b="b"/>
              <a:pathLst>
                <a:path w="1031988" h="1350966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1571A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666750" y="666750"/>
            <a:ext cx="6545058" cy="8953500"/>
            <a:chOff x="0" y="0"/>
            <a:chExt cx="768828" cy="105174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68828" cy="1051741"/>
            </a:xfrm>
            <a:custGeom>
              <a:avLst/>
              <a:gdLst/>
              <a:ahLst/>
              <a:cxnLst/>
              <a:rect l="l" t="t" r="r" b="b"/>
              <a:pathLst>
                <a:path w="768828" h="1051741">
                  <a:moveTo>
                    <a:pt x="53229" y="0"/>
                  </a:moveTo>
                  <a:lnTo>
                    <a:pt x="715599" y="0"/>
                  </a:lnTo>
                  <a:cubicBezTo>
                    <a:pt x="729717" y="0"/>
                    <a:pt x="743256" y="5608"/>
                    <a:pt x="753238" y="15590"/>
                  </a:cubicBezTo>
                  <a:cubicBezTo>
                    <a:pt x="763220" y="25573"/>
                    <a:pt x="768828" y="39112"/>
                    <a:pt x="768828" y="53229"/>
                  </a:cubicBezTo>
                  <a:lnTo>
                    <a:pt x="768828" y="998512"/>
                  </a:lnTo>
                  <a:cubicBezTo>
                    <a:pt x="768828" y="1027909"/>
                    <a:pt x="744997" y="1051741"/>
                    <a:pt x="715599" y="1051741"/>
                  </a:cubicBezTo>
                  <a:lnTo>
                    <a:pt x="53229" y="1051741"/>
                  </a:lnTo>
                  <a:cubicBezTo>
                    <a:pt x="39112" y="1051741"/>
                    <a:pt x="25573" y="1046133"/>
                    <a:pt x="15590" y="1036150"/>
                  </a:cubicBezTo>
                  <a:cubicBezTo>
                    <a:pt x="5608" y="1026168"/>
                    <a:pt x="0" y="1012629"/>
                    <a:pt x="0" y="998512"/>
                  </a:cubicBezTo>
                  <a:lnTo>
                    <a:pt x="0" y="53229"/>
                  </a:lnTo>
                  <a:cubicBezTo>
                    <a:pt x="0" y="23831"/>
                    <a:pt x="23831" y="0"/>
                    <a:pt x="53229" y="0"/>
                  </a:cubicBezTo>
                  <a:close/>
                </a:path>
              </a:pathLst>
            </a:custGeom>
            <a:blipFill>
              <a:blip r:embed="rId2"/>
              <a:stretch>
                <a:fillRect t="-414" b="-414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9296400" y="733425"/>
            <a:ext cx="8324850" cy="1149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</a:pPr>
            <a:r>
              <a:rPr lang="en-US" sz="8000" spc="-240">
                <a:solidFill>
                  <a:srgbClr val="A6C8FF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Agenda Slide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296400" y="7845425"/>
            <a:ext cx="8324850" cy="177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 spc="-37">
                <a:solidFill>
                  <a:srgbClr val="A6C8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agenda slide outlines </a:t>
            </a:r>
            <a:r>
              <a:rPr lang="en-US" sz="2499" b="1" u="none" strike="noStrike" spc="-37">
                <a:solidFill>
                  <a:srgbClr val="A6C8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key lecture points</a:t>
            </a:r>
            <a:r>
              <a:rPr lang="en-US" sz="2499" u="none" strike="noStrike" spc="-37">
                <a:solidFill>
                  <a:srgbClr val="A6C8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effectively. It utilizes a simple bulleted list format, ensuring clarity and focus while maintaining a clean, minimalist aesthetic that enhances audience comprehension.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6C8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8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F2EFEE"/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800225" y="1562100"/>
            <a:ext cx="12944475" cy="2067009"/>
            <a:chOff x="0" y="0"/>
            <a:chExt cx="17259300" cy="2756012"/>
          </a:xfrm>
        </p:grpSpPr>
        <p:sp>
          <p:nvSpPr>
            <p:cNvPr id="7" name="TextBox 7"/>
            <p:cNvSpPr txBox="1"/>
            <p:nvPr/>
          </p:nvSpPr>
          <p:spPr>
            <a:xfrm>
              <a:off x="0" y="-85725"/>
              <a:ext cx="17259300" cy="1702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400"/>
                </a:lnSpc>
              </a:pPr>
              <a:r>
                <a:rPr lang="en-US" sz="8000" spc="-240">
                  <a:solidFill>
                    <a:srgbClr val="010D1D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Lesson Content Layout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187687"/>
              <a:ext cx="17259300" cy="568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500" b="1" spc="-37">
                  <a:solidFill>
                    <a:srgbClr val="010D1D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Clear Structure for Effective Teaching</a:t>
              </a:r>
            </a:p>
          </p:txBody>
        </p:sp>
      </p:grpSp>
      <p:sp>
        <p:nvSpPr>
          <p:cNvPr id="9" name="Freeform 9"/>
          <p:cNvSpPr/>
          <p:nvPr/>
        </p:nvSpPr>
        <p:spPr>
          <a:xfrm rot="-3117037">
            <a:off x="16099474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6C8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9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F2EFEE"/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800225" y="1562100"/>
            <a:ext cx="12944475" cy="2067009"/>
            <a:chOff x="0" y="0"/>
            <a:chExt cx="17259300" cy="2756012"/>
          </a:xfrm>
        </p:grpSpPr>
        <p:sp>
          <p:nvSpPr>
            <p:cNvPr id="7" name="TextBox 7"/>
            <p:cNvSpPr txBox="1"/>
            <p:nvPr/>
          </p:nvSpPr>
          <p:spPr>
            <a:xfrm>
              <a:off x="0" y="-85725"/>
              <a:ext cx="17259300" cy="1702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400"/>
                </a:lnSpc>
              </a:pPr>
              <a:r>
                <a:rPr lang="en-US" sz="8000" spc="-240">
                  <a:solidFill>
                    <a:srgbClr val="010D1D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Lesson Topics Overview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187687"/>
              <a:ext cx="17259300" cy="568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500" b="1" spc="-37">
                  <a:solidFill>
                    <a:srgbClr val="010D1D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Key Concepts for Today's Discussion</a:t>
              </a:r>
            </a:p>
          </p:txBody>
        </p:sp>
      </p:grpSp>
      <p:sp>
        <p:nvSpPr>
          <p:cNvPr id="9" name="Freeform 9"/>
          <p:cNvSpPr/>
          <p:nvPr/>
        </p:nvSpPr>
        <p:spPr>
          <a:xfrm rot="-3117037">
            <a:off x="16099474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858125" cy="10287000"/>
            <a:chOff x="0" y="0"/>
            <a:chExt cx="1031988" cy="13509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31988" cy="1350966"/>
            </a:xfrm>
            <a:custGeom>
              <a:avLst/>
              <a:gdLst/>
              <a:ahLst/>
              <a:cxnLst/>
              <a:rect l="l" t="t" r="r" b="b"/>
              <a:pathLst>
                <a:path w="1031988" h="1350966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1571A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666750" y="666750"/>
            <a:ext cx="6545058" cy="8953500"/>
            <a:chOff x="0" y="0"/>
            <a:chExt cx="768828" cy="105174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68828" cy="1051741"/>
            </a:xfrm>
            <a:custGeom>
              <a:avLst/>
              <a:gdLst/>
              <a:ahLst/>
              <a:cxnLst/>
              <a:rect l="l" t="t" r="r" b="b"/>
              <a:pathLst>
                <a:path w="768828" h="1051741">
                  <a:moveTo>
                    <a:pt x="53229" y="0"/>
                  </a:moveTo>
                  <a:lnTo>
                    <a:pt x="715599" y="0"/>
                  </a:lnTo>
                  <a:cubicBezTo>
                    <a:pt x="729717" y="0"/>
                    <a:pt x="743256" y="5608"/>
                    <a:pt x="753238" y="15590"/>
                  </a:cubicBezTo>
                  <a:cubicBezTo>
                    <a:pt x="763220" y="25573"/>
                    <a:pt x="768828" y="39112"/>
                    <a:pt x="768828" y="53229"/>
                  </a:cubicBezTo>
                  <a:lnTo>
                    <a:pt x="768828" y="998512"/>
                  </a:lnTo>
                  <a:cubicBezTo>
                    <a:pt x="768828" y="1027909"/>
                    <a:pt x="744997" y="1051741"/>
                    <a:pt x="715599" y="1051741"/>
                  </a:cubicBezTo>
                  <a:lnTo>
                    <a:pt x="53229" y="1051741"/>
                  </a:lnTo>
                  <a:cubicBezTo>
                    <a:pt x="39112" y="1051741"/>
                    <a:pt x="25573" y="1046133"/>
                    <a:pt x="15590" y="1036150"/>
                  </a:cubicBezTo>
                  <a:cubicBezTo>
                    <a:pt x="5608" y="1026168"/>
                    <a:pt x="0" y="1012629"/>
                    <a:pt x="0" y="998512"/>
                  </a:cubicBezTo>
                  <a:lnTo>
                    <a:pt x="0" y="53229"/>
                  </a:lnTo>
                  <a:cubicBezTo>
                    <a:pt x="0" y="23831"/>
                    <a:pt x="23831" y="0"/>
                    <a:pt x="53229" y="0"/>
                  </a:cubicBezTo>
                  <a:close/>
                </a:path>
              </a:pathLst>
            </a:custGeom>
            <a:blipFill>
              <a:blip r:embed="rId2"/>
              <a:stretch>
                <a:fillRect t="-414" b="-414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9296400" y="733425"/>
            <a:ext cx="8324850" cy="1149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</a:pPr>
            <a:r>
              <a:rPr lang="en-US" sz="8000" spc="-240">
                <a:solidFill>
                  <a:srgbClr val="A6C8FF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Design Principles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296400" y="7407275"/>
            <a:ext cx="8324850" cy="221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 spc="-37">
                <a:solidFill>
                  <a:srgbClr val="A6C8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Minimalist templates enhance educational effectiveness by promoting </a:t>
            </a:r>
            <a:r>
              <a:rPr lang="en-US" sz="2499" b="1" u="none" strike="noStrike" spc="-37">
                <a:solidFill>
                  <a:srgbClr val="A6C8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simplicity and clarity</a:t>
            </a:r>
            <a:r>
              <a:rPr lang="en-US" sz="2499" u="none" strike="noStrike" spc="-37">
                <a:solidFill>
                  <a:srgbClr val="A6C8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allowing educators to focus on essential content while minimizing distractions, ensuring faster comprehension and better audience engagement in lectures.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6C8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11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5143500"/>
            <a:ext cx="5448300" cy="4476750"/>
            <a:chOff x="0" y="0"/>
            <a:chExt cx="1631088" cy="134023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31088" cy="1340230"/>
            </a:xfrm>
            <a:custGeom>
              <a:avLst/>
              <a:gdLst/>
              <a:ahLst/>
              <a:cxnLst/>
              <a:rect l="l" t="t" r="r" b="b"/>
              <a:pathLst>
                <a:path w="1631088" h="1340230">
                  <a:moveTo>
                    <a:pt x="28420" y="0"/>
                  </a:moveTo>
                  <a:lnTo>
                    <a:pt x="1602669" y="0"/>
                  </a:lnTo>
                  <a:cubicBezTo>
                    <a:pt x="1618365" y="0"/>
                    <a:pt x="1631088" y="12724"/>
                    <a:pt x="1631088" y="28420"/>
                  </a:cubicBezTo>
                  <a:lnTo>
                    <a:pt x="1631088" y="1311810"/>
                  </a:lnTo>
                  <a:cubicBezTo>
                    <a:pt x="1631088" y="1327506"/>
                    <a:pt x="1618365" y="1340230"/>
                    <a:pt x="1602669" y="1340230"/>
                  </a:cubicBezTo>
                  <a:lnTo>
                    <a:pt x="28420" y="1340230"/>
                  </a:lnTo>
                  <a:cubicBezTo>
                    <a:pt x="12724" y="1340230"/>
                    <a:pt x="0" y="1327506"/>
                    <a:pt x="0" y="1311810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blipFill>
              <a:blip r:embed="rId2"/>
              <a:stretch>
                <a:fillRect l="-332" r="-332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6419850" y="5143500"/>
            <a:ext cx="5448300" cy="4476750"/>
            <a:chOff x="0" y="0"/>
            <a:chExt cx="1631088" cy="134023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31088" cy="1340230"/>
            </a:xfrm>
            <a:custGeom>
              <a:avLst/>
              <a:gdLst/>
              <a:ahLst/>
              <a:cxnLst/>
              <a:rect l="l" t="t" r="r" b="b"/>
              <a:pathLst>
                <a:path w="1631088" h="1340230">
                  <a:moveTo>
                    <a:pt x="28420" y="0"/>
                  </a:moveTo>
                  <a:lnTo>
                    <a:pt x="1602669" y="0"/>
                  </a:lnTo>
                  <a:cubicBezTo>
                    <a:pt x="1618365" y="0"/>
                    <a:pt x="1631088" y="12724"/>
                    <a:pt x="1631088" y="28420"/>
                  </a:cubicBezTo>
                  <a:lnTo>
                    <a:pt x="1631088" y="1311810"/>
                  </a:lnTo>
                  <a:cubicBezTo>
                    <a:pt x="1631088" y="1327506"/>
                    <a:pt x="1618365" y="1340230"/>
                    <a:pt x="1602669" y="1340230"/>
                  </a:cubicBezTo>
                  <a:lnTo>
                    <a:pt x="28420" y="1340230"/>
                  </a:lnTo>
                  <a:cubicBezTo>
                    <a:pt x="12724" y="1340230"/>
                    <a:pt x="0" y="1327506"/>
                    <a:pt x="0" y="1311810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blipFill>
              <a:blip r:embed="rId3"/>
              <a:stretch>
                <a:fillRect l="-332" r="-332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12172950" y="5143500"/>
            <a:ext cx="5442841" cy="4476750"/>
            <a:chOff x="0" y="0"/>
            <a:chExt cx="1629454" cy="134023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29454" cy="1340230"/>
            </a:xfrm>
            <a:custGeom>
              <a:avLst/>
              <a:gdLst/>
              <a:ahLst/>
              <a:cxnLst/>
              <a:rect l="l" t="t" r="r" b="b"/>
              <a:pathLst>
                <a:path w="1629454" h="1340230">
                  <a:moveTo>
                    <a:pt x="28448" y="0"/>
                  </a:moveTo>
                  <a:lnTo>
                    <a:pt x="1601006" y="0"/>
                  </a:lnTo>
                  <a:cubicBezTo>
                    <a:pt x="1608551" y="0"/>
                    <a:pt x="1615787" y="2997"/>
                    <a:pt x="1621122" y="8332"/>
                  </a:cubicBezTo>
                  <a:cubicBezTo>
                    <a:pt x="1626457" y="13667"/>
                    <a:pt x="1629454" y="20903"/>
                    <a:pt x="1629454" y="28448"/>
                  </a:cubicBezTo>
                  <a:lnTo>
                    <a:pt x="1629454" y="1311782"/>
                  </a:lnTo>
                  <a:cubicBezTo>
                    <a:pt x="1629454" y="1319327"/>
                    <a:pt x="1626457" y="1326563"/>
                    <a:pt x="1621122" y="1331898"/>
                  </a:cubicBezTo>
                  <a:cubicBezTo>
                    <a:pt x="1615787" y="1337233"/>
                    <a:pt x="1608551" y="1340230"/>
                    <a:pt x="1601006" y="1340230"/>
                  </a:cubicBezTo>
                  <a:lnTo>
                    <a:pt x="28448" y="1340230"/>
                  </a:lnTo>
                  <a:cubicBezTo>
                    <a:pt x="20903" y="1340230"/>
                    <a:pt x="13667" y="1337233"/>
                    <a:pt x="8332" y="1331898"/>
                  </a:cubicBezTo>
                  <a:cubicBezTo>
                    <a:pt x="2997" y="1326563"/>
                    <a:pt x="0" y="1319327"/>
                    <a:pt x="0" y="1311782"/>
                  </a:cubicBezTo>
                  <a:lnTo>
                    <a:pt x="0" y="28448"/>
                  </a:lnTo>
                  <a:cubicBezTo>
                    <a:pt x="0" y="20903"/>
                    <a:pt x="2997" y="13667"/>
                    <a:pt x="8332" y="8332"/>
                  </a:cubicBezTo>
                  <a:cubicBezTo>
                    <a:pt x="13667" y="2997"/>
                    <a:pt x="20903" y="0"/>
                    <a:pt x="28448" y="0"/>
                  </a:cubicBezTo>
                  <a:close/>
                </a:path>
              </a:pathLst>
            </a:custGeom>
            <a:blipFill>
              <a:blip r:embed="rId4"/>
              <a:stretch>
                <a:fillRect l="-383" r="-382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9" name="Freeform 9"/>
          <p:cNvSpPr/>
          <p:nvPr/>
        </p:nvSpPr>
        <p:spPr>
          <a:xfrm rot="-3117037">
            <a:off x="16099474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0" name="Group 10"/>
          <p:cNvGrpSpPr/>
          <p:nvPr/>
        </p:nvGrpSpPr>
        <p:grpSpPr>
          <a:xfrm>
            <a:off x="666750" y="666750"/>
            <a:ext cx="15516225" cy="3808413"/>
            <a:chOff x="0" y="0"/>
            <a:chExt cx="20688300" cy="5077884"/>
          </a:xfrm>
        </p:grpSpPr>
        <p:sp>
          <p:nvSpPr>
            <p:cNvPr id="11" name="TextBox 11"/>
            <p:cNvSpPr txBox="1"/>
            <p:nvPr/>
          </p:nvSpPr>
          <p:spPr>
            <a:xfrm>
              <a:off x="0" y="66675"/>
              <a:ext cx="20688300" cy="15546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 spc="-240">
                  <a:solidFill>
                    <a:srgbClr val="A6C8FF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Text and Image Layout Examples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2378075"/>
              <a:ext cx="14481810" cy="568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500" b="1" spc="-37">
                  <a:solidFill>
                    <a:srgbClr val="A6C8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Showcasing Minimalist Design Choices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3362325"/>
              <a:ext cx="14481810" cy="17155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</a:pPr>
              <a:r>
                <a:rPr lang="en-US" sz="2499" spc="-37">
                  <a:solidFill>
                    <a:srgbClr val="A6C8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These examples illustrate how to effectively combine text and imagery within minimalist layouts, ensuring clarity and engagement without overwhelming the audience's attention.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6C8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12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F2EFEE"/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800225" y="1562100"/>
            <a:ext cx="12944475" cy="2067009"/>
            <a:chOff x="0" y="0"/>
            <a:chExt cx="17259300" cy="2756012"/>
          </a:xfrm>
        </p:grpSpPr>
        <p:sp>
          <p:nvSpPr>
            <p:cNvPr id="7" name="TextBox 7"/>
            <p:cNvSpPr txBox="1"/>
            <p:nvPr/>
          </p:nvSpPr>
          <p:spPr>
            <a:xfrm>
              <a:off x="0" y="-85725"/>
              <a:ext cx="17259300" cy="1702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400"/>
                </a:lnSpc>
              </a:pPr>
              <a:r>
                <a:rPr lang="en-US" sz="8000" spc="-240">
                  <a:solidFill>
                    <a:srgbClr val="010D1D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Interactive Discussion Slides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187687"/>
              <a:ext cx="17259300" cy="568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500" b="1" spc="-37">
                  <a:solidFill>
                    <a:srgbClr val="010D1D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Engaging Students in Meaningful Dialogue</a:t>
              </a:r>
            </a:p>
          </p:txBody>
        </p:sp>
      </p:grpSp>
      <p:sp>
        <p:nvSpPr>
          <p:cNvPr id="9" name="Freeform 9"/>
          <p:cNvSpPr/>
          <p:nvPr/>
        </p:nvSpPr>
        <p:spPr>
          <a:xfrm rot="-3117037">
            <a:off x="16099474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858125" cy="10287000"/>
            <a:chOff x="0" y="0"/>
            <a:chExt cx="1031988" cy="13509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31988" cy="1350966"/>
            </a:xfrm>
            <a:custGeom>
              <a:avLst/>
              <a:gdLst/>
              <a:ahLst/>
              <a:cxnLst/>
              <a:rect l="l" t="t" r="r" b="b"/>
              <a:pathLst>
                <a:path w="1031988" h="1350966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1571A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666750" y="666750"/>
            <a:ext cx="6545058" cy="8953500"/>
            <a:chOff x="0" y="0"/>
            <a:chExt cx="768828" cy="105174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68828" cy="1051741"/>
            </a:xfrm>
            <a:custGeom>
              <a:avLst/>
              <a:gdLst/>
              <a:ahLst/>
              <a:cxnLst/>
              <a:rect l="l" t="t" r="r" b="b"/>
              <a:pathLst>
                <a:path w="768828" h="1051741">
                  <a:moveTo>
                    <a:pt x="53229" y="0"/>
                  </a:moveTo>
                  <a:lnTo>
                    <a:pt x="715599" y="0"/>
                  </a:lnTo>
                  <a:cubicBezTo>
                    <a:pt x="729717" y="0"/>
                    <a:pt x="743256" y="5608"/>
                    <a:pt x="753238" y="15590"/>
                  </a:cubicBezTo>
                  <a:cubicBezTo>
                    <a:pt x="763220" y="25573"/>
                    <a:pt x="768828" y="39112"/>
                    <a:pt x="768828" y="53229"/>
                  </a:cubicBezTo>
                  <a:lnTo>
                    <a:pt x="768828" y="998512"/>
                  </a:lnTo>
                  <a:cubicBezTo>
                    <a:pt x="768828" y="1027909"/>
                    <a:pt x="744997" y="1051741"/>
                    <a:pt x="715599" y="1051741"/>
                  </a:cubicBezTo>
                  <a:lnTo>
                    <a:pt x="53229" y="1051741"/>
                  </a:lnTo>
                  <a:cubicBezTo>
                    <a:pt x="39112" y="1051741"/>
                    <a:pt x="25573" y="1046133"/>
                    <a:pt x="15590" y="1036150"/>
                  </a:cubicBezTo>
                  <a:cubicBezTo>
                    <a:pt x="5608" y="1026168"/>
                    <a:pt x="0" y="1012629"/>
                    <a:pt x="0" y="998512"/>
                  </a:cubicBezTo>
                  <a:lnTo>
                    <a:pt x="0" y="53229"/>
                  </a:lnTo>
                  <a:cubicBezTo>
                    <a:pt x="0" y="23831"/>
                    <a:pt x="23831" y="0"/>
                    <a:pt x="53229" y="0"/>
                  </a:cubicBezTo>
                  <a:close/>
                </a:path>
              </a:pathLst>
            </a:custGeom>
            <a:blipFill>
              <a:blip r:embed="rId2"/>
              <a:stretch>
                <a:fillRect t="-414" b="-414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9296400" y="733425"/>
            <a:ext cx="8324850" cy="226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</a:pPr>
            <a:r>
              <a:rPr lang="en-US" sz="8000" spc="-240">
                <a:solidFill>
                  <a:srgbClr val="A6C8FF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Engaging Student Questions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296400" y="7369175"/>
            <a:ext cx="8324850" cy="225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 spc="-37">
                <a:solidFill>
                  <a:srgbClr val="A6C8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Encouraging student participation is essential for a </a:t>
            </a:r>
            <a:r>
              <a:rPr lang="en-US" sz="2499" b="1" u="none" strike="noStrike" spc="-37">
                <a:solidFill>
                  <a:srgbClr val="A6C8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dynamic learning environment</a:t>
            </a:r>
            <a:r>
              <a:rPr lang="en-US" sz="2499" u="none" strike="noStrike" spc="-37">
                <a:solidFill>
                  <a:srgbClr val="A6C8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 Open-ended questions stimulate critical thinking and invite diverse perspectives, fostering a collaborative atmosphere that enhances the overall educational experience.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71A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6C8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14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1A2332"/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800225" y="1562100"/>
            <a:ext cx="13249275" cy="2067009"/>
            <a:chOff x="0" y="0"/>
            <a:chExt cx="17665700" cy="2756012"/>
          </a:xfrm>
        </p:grpSpPr>
        <p:sp>
          <p:nvSpPr>
            <p:cNvPr id="7" name="TextBox 7"/>
            <p:cNvSpPr txBox="1"/>
            <p:nvPr/>
          </p:nvSpPr>
          <p:spPr>
            <a:xfrm>
              <a:off x="0" y="-85725"/>
              <a:ext cx="17665700" cy="1702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400"/>
                </a:lnSpc>
              </a:pPr>
              <a:r>
                <a:rPr lang="en-US" sz="8000" spc="-240">
                  <a:solidFill>
                    <a:srgbClr val="A6C8FF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Group Activity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187687"/>
              <a:ext cx="17665700" cy="568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500" b="1" spc="-37">
                  <a:solidFill>
                    <a:srgbClr val="A6C8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Engaging Students Through Discussion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800225" y="5143500"/>
            <a:ext cx="4308497" cy="2549525"/>
            <a:chOff x="0" y="0"/>
            <a:chExt cx="5744662" cy="3399367"/>
          </a:xfrm>
        </p:grpSpPr>
        <p:sp>
          <p:nvSpPr>
            <p:cNvPr id="10" name="TextBox 10"/>
            <p:cNvSpPr txBox="1"/>
            <p:nvPr/>
          </p:nvSpPr>
          <p:spPr>
            <a:xfrm>
              <a:off x="0" y="0"/>
              <a:ext cx="5744662" cy="533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499" b="1" spc="-37">
                  <a:solidFill>
                    <a:srgbClr val="A6C8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Clear Objectives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060450"/>
              <a:ext cx="5744662" cy="23389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 spc="-30">
                  <a:solidFill>
                    <a:srgbClr val="A6C8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Establish specific goals for the group activity to ensure students understand the purpose and expected outcomes, fostering a focused and productive discussion environment.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291388" y="5143500"/>
            <a:ext cx="4010025" cy="2901950"/>
            <a:chOff x="0" y="0"/>
            <a:chExt cx="5346700" cy="3869267"/>
          </a:xfrm>
        </p:grpSpPr>
        <p:sp>
          <p:nvSpPr>
            <p:cNvPr id="13" name="TextBox 13"/>
            <p:cNvSpPr txBox="1"/>
            <p:nvPr/>
          </p:nvSpPr>
          <p:spPr>
            <a:xfrm>
              <a:off x="0" y="0"/>
              <a:ext cx="5346700" cy="533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499" b="1" spc="-37">
                  <a:solidFill>
                    <a:srgbClr val="A6C8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Structured Format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060450"/>
              <a:ext cx="5346700" cy="28088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 spc="-30">
                  <a:solidFill>
                    <a:srgbClr val="A6C8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Provide a clear structure for the group activity, including discussion prompts and timelines, to maintain engagement and facilitate participation from all students involved in the conversation.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172950" y="5143500"/>
            <a:ext cx="4010025" cy="2549525"/>
            <a:chOff x="0" y="0"/>
            <a:chExt cx="5346700" cy="3399367"/>
          </a:xfrm>
        </p:grpSpPr>
        <p:sp>
          <p:nvSpPr>
            <p:cNvPr id="16" name="TextBox 16"/>
            <p:cNvSpPr txBox="1"/>
            <p:nvPr/>
          </p:nvSpPr>
          <p:spPr>
            <a:xfrm>
              <a:off x="0" y="0"/>
              <a:ext cx="5346700" cy="533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499" b="1" spc="-37">
                  <a:solidFill>
                    <a:srgbClr val="A6C8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Reflective Feedback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1060450"/>
              <a:ext cx="5346700" cy="23389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 spc="-30">
                  <a:solidFill>
                    <a:srgbClr val="A6C8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Encourage students to share insights and reflections post-activity, allowing them to synthesize their learning and strengthen their understanding of the discussed concepts effectively.</a:t>
              </a:r>
            </a:p>
          </p:txBody>
        </p:sp>
      </p:grpSp>
      <p:sp>
        <p:nvSpPr>
          <p:cNvPr id="18" name="Freeform 18"/>
          <p:cNvSpPr/>
          <p:nvPr/>
        </p:nvSpPr>
        <p:spPr>
          <a:xfrm rot="-3117037">
            <a:off x="16099474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6C8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15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F2EFEE"/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800225" y="1562100"/>
            <a:ext cx="12944475" cy="2067009"/>
            <a:chOff x="0" y="0"/>
            <a:chExt cx="17259300" cy="2756012"/>
          </a:xfrm>
        </p:grpSpPr>
        <p:sp>
          <p:nvSpPr>
            <p:cNvPr id="7" name="TextBox 7"/>
            <p:cNvSpPr txBox="1"/>
            <p:nvPr/>
          </p:nvSpPr>
          <p:spPr>
            <a:xfrm>
              <a:off x="0" y="-85725"/>
              <a:ext cx="17259300" cy="1702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400"/>
                </a:lnSpc>
              </a:pPr>
              <a:r>
                <a:rPr lang="en-US" sz="8000" spc="-240">
                  <a:solidFill>
                    <a:srgbClr val="010D1D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Summary and Assignment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187687"/>
              <a:ext cx="17259300" cy="568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500" b="1" spc="-37">
                  <a:solidFill>
                    <a:srgbClr val="010D1D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Recap and next steps for students</a:t>
              </a:r>
            </a:p>
          </p:txBody>
        </p:sp>
      </p:grpSp>
      <p:sp>
        <p:nvSpPr>
          <p:cNvPr id="9" name="Freeform 9"/>
          <p:cNvSpPr/>
          <p:nvPr/>
        </p:nvSpPr>
        <p:spPr>
          <a:xfrm rot="-3117037">
            <a:off x="16099474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858125" cy="10287000"/>
            <a:chOff x="0" y="0"/>
            <a:chExt cx="1031988" cy="13509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31988" cy="1350966"/>
            </a:xfrm>
            <a:custGeom>
              <a:avLst/>
              <a:gdLst/>
              <a:ahLst/>
              <a:cxnLst/>
              <a:rect l="l" t="t" r="r" b="b"/>
              <a:pathLst>
                <a:path w="1031988" h="1350966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1571A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666750" y="666750"/>
            <a:ext cx="6545058" cy="8953500"/>
            <a:chOff x="0" y="0"/>
            <a:chExt cx="768828" cy="105174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68828" cy="1051741"/>
            </a:xfrm>
            <a:custGeom>
              <a:avLst/>
              <a:gdLst/>
              <a:ahLst/>
              <a:cxnLst/>
              <a:rect l="l" t="t" r="r" b="b"/>
              <a:pathLst>
                <a:path w="768828" h="1051741">
                  <a:moveTo>
                    <a:pt x="53229" y="0"/>
                  </a:moveTo>
                  <a:lnTo>
                    <a:pt x="715599" y="0"/>
                  </a:lnTo>
                  <a:cubicBezTo>
                    <a:pt x="729717" y="0"/>
                    <a:pt x="743256" y="5608"/>
                    <a:pt x="753238" y="15590"/>
                  </a:cubicBezTo>
                  <a:cubicBezTo>
                    <a:pt x="763220" y="25573"/>
                    <a:pt x="768828" y="39112"/>
                    <a:pt x="768828" y="53229"/>
                  </a:cubicBezTo>
                  <a:lnTo>
                    <a:pt x="768828" y="998512"/>
                  </a:lnTo>
                  <a:cubicBezTo>
                    <a:pt x="768828" y="1027909"/>
                    <a:pt x="744997" y="1051741"/>
                    <a:pt x="715599" y="1051741"/>
                  </a:cubicBezTo>
                  <a:lnTo>
                    <a:pt x="53229" y="1051741"/>
                  </a:lnTo>
                  <a:cubicBezTo>
                    <a:pt x="39112" y="1051741"/>
                    <a:pt x="25573" y="1046133"/>
                    <a:pt x="15590" y="1036150"/>
                  </a:cubicBezTo>
                  <a:cubicBezTo>
                    <a:pt x="5608" y="1026168"/>
                    <a:pt x="0" y="1012629"/>
                    <a:pt x="0" y="998512"/>
                  </a:cubicBezTo>
                  <a:lnTo>
                    <a:pt x="0" y="53229"/>
                  </a:lnTo>
                  <a:cubicBezTo>
                    <a:pt x="0" y="23831"/>
                    <a:pt x="23831" y="0"/>
                    <a:pt x="53229" y="0"/>
                  </a:cubicBezTo>
                  <a:close/>
                </a:path>
              </a:pathLst>
            </a:custGeom>
            <a:blipFill>
              <a:blip r:embed="rId2"/>
              <a:stretch>
                <a:fillRect t="-414" b="-414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9296400" y="733425"/>
            <a:ext cx="8324850" cy="1149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</a:pPr>
            <a:r>
              <a:rPr lang="en-US" sz="8000" spc="-240">
                <a:solidFill>
                  <a:srgbClr val="A6C8FF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Key Takeaways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296400" y="7845425"/>
            <a:ext cx="8324850" cy="177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 spc="-37">
                <a:solidFill>
                  <a:srgbClr val="A6C8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Embrace the minimalist style for educational presentations. It fosters </a:t>
            </a:r>
            <a:r>
              <a:rPr lang="en-US" sz="2499" b="1" u="none" strike="noStrike" spc="-37">
                <a:solidFill>
                  <a:srgbClr val="A6C8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clarity and engagement</a:t>
            </a:r>
            <a:r>
              <a:rPr lang="en-US" sz="2499" u="none" strike="noStrike" spc="-37">
                <a:solidFill>
                  <a:srgbClr val="A6C8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allowing students to focus on content while facilitating easier comprehension and a more professional appearance in lectures and lessons.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858125" cy="10287000"/>
            <a:chOff x="0" y="0"/>
            <a:chExt cx="1031988" cy="13509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31988" cy="1350966"/>
            </a:xfrm>
            <a:custGeom>
              <a:avLst/>
              <a:gdLst/>
              <a:ahLst/>
              <a:cxnLst/>
              <a:rect l="l" t="t" r="r" b="b"/>
              <a:pathLst>
                <a:path w="1031988" h="1350966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1571A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666750" y="666750"/>
            <a:ext cx="6545058" cy="8953500"/>
            <a:chOff x="0" y="0"/>
            <a:chExt cx="768828" cy="105174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68828" cy="1051741"/>
            </a:xfrm>
            <a:custGeom>
              <a:avLst/>
              <a:gdLst/>
              <a:ahLst/>
              <a:cxnLst/>
              <a:rect l="l" t="t" r="r" b="b"/>
              <a:pathLst>
                <a:path w="768828" h="1051741">
                  <a:moveTo>
                    <a:pt x="53229" y="0"/>
                  </a:moveTo>
                  <a:lnTo>
                    <a:pt x="715599" y="0"/>
                  </a:lnTo>
                  <a:cubicBezTo>
                    <a:pt x="729717" y="0"/>
                    <a:pt x="743256" y="5608"/>
                    <a:pt x="753238" y="15590"/>
                  </a:cubicBezTo>
                  <a:cubicBezTo>
                    <a:pt x="763220" y="25573"/>
                    <a:pt x="768828" y="39112"/>
                    <a:pt x="768828" y="53229"/>
                  </a:cubicBezTo>
                  <a:lnTo>
                    <a:pt x="768828" y="998512"/>
                  </a:lnTo>
                  <a:cubicBezTo>
                    <a:pt x="768828" y="1027909"/>
                    <a:pt x="744997" y="1051741"/>
                    <a:pt x="715599" y="1051741"/>
                  </a:cubicBezTo>
                  <a:lnTo>
                    <a:pt x="53229" y="1051741"/>
                  </a:lnTo>
                  <a:cubicBezTo>
                    <a:pt x="39112" y="1051741"/>
                    <a:pt x="25573" y="1046133"/>
                    <a:pt x="15590" y="1036150"/>
                  </a:cubicBezTo>
                  <a:cubicBezTo>
                    <a:pt x="5608" y="1026168"/>
                    <a:pt x="0" y="1012629"/>
                    <a:pt x="0" y="998512"/>
                  </a:cubicBezTo>
                  <a:lnTo>
                    <a:pt x="0" y="53229"/>
                  </a:lnTo>
                  <a:cubicBezTo>
                    <a:pt x="0" y="23831"/>
                    <a:pt x="23831" y="0"/>
                    <a:pt x="53229" y="0"/>
                  </a:cubicBezTo>
                  <a:close/>
                </a:path>
              </a:pathLst>
            </a:custGeom>
            <a:blipFill>
              <a:blip r:embed="rId2"/>
              <a:stretch>
                <a:fillRect t="-414" b="-414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9296400" y="733425"/>
            <a:ext cx="8324850" cy="1149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</a:pPr>
            <a:r>
              <a:rPr lang="en-US" sz="8000" spc="-240">
                <a:solidFill>
                  <a:srgbClr val="A6C8FF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Assignment Details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296400" y="7883525"/>
            <a:ext cx="8324850" cy="173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 spc="-37">
                <a:solidFill>
                  <a:srgbClr val="A6C8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Clearly outline assignment instructions, deadlines, and submission details to ensure that students understand expectations. Utilize a simple layout that promotes clarity and minimizes distractions for effective communication.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A6C8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18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F2EFEE"/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800225" y="1562100"/>
            <a:ext cx="12944475" cy="2067009"/>
            <a:chOff x="0" y="0"/>
            <a:chExt cx="17259300" cy="2756012"/>
          </a:xfrm>
        </p:grpSpPr>
        <p:sp>
          <p:nvSpPr>
            <p:cNvPr id="7" name="TextBox 7"/>
            <p:cNvSpPr txBox="1"/>
            <p:nvPr/>
          </p:nvSpPr>
          <p:spPr>
            <a:xfrm>
              <a:off x="0" y="-85725"/>
              <a:ext cx="17259300" cy="1702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400"/>
                </a:lnSpc>
              </a:pPr>
              <a:r>
                <a:rPr lang="en-US" sz="8000" spc="-240">
                  <a:solidFill>
                    <a:srgbClr val="010D1D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Applying Templates Effectively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187687"/>
              <a:ext cx="17259300" cy="568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500" b="1" spc="-37">
                  <a:solidFill>
                    <a:srgbClr val="010D1D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Tips for Successful Minimalist Presentations</a:t>
              </a:r>
            </a:p>
          </p:txBody>
        </p:sp>
      </p:grpSp>
      <p:sp>
        <p:nvSpPr>
          <p:cNvPr id="9" name="Freeform 9"/>
          <p:cNvSpPr/>
          <p:nvPr/>
        </p:nvSpPr>
        <p:spPr>
          <a:xfrm rot="-3117037">
            <a:off x="16099474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858125" cy="10287000"/>
            <a:chOff x="0" y="0"/>
            <a:chExt cx="1031988" cy="13509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31988" cy="1350966"/>
            </a:xfrm>
            <a:custGeom>
              <a:avLst/>
              <a:gdLst/>
              <a:ahLst/>
              <a:cxnLst/>
              <a:rect l="l" t="t" r="r" b="b"/>
              <a:pathLst>
                <a:path w="1031988" h="1350966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1571A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1052512" y="666750"/>
            <a:ext cx="5753100" cy="8953500"/>
            <a:chOff x="0" y="0"/>
            <a:chExt cx="814724" cy="126794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4724" cy="1267949"/>
            </a:xfrm>
            <a:custGeom>
              <a:avLst/>
              <a:gdLst/>
              <a:ahLst/>
              <a:cxnLst/>
              <a:rect l="l" t="t" r="r" b="b"/>
              <a:pathLst>
                <a:path w="814724" h="1267949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t="-199" b="-199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9296400" y="8954135"/>
            <a:ext cx="8324850" cy="66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40"/>
              </a:lnSpc>
            </a:pPr>
            <a:r>
              <a:rPr lang="en-US" sz="3800" b="1" spc="-57">
                <a:solidFill>
                  <a:srgbClr val="A6C8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for using our templates!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03759" y="942975"/>
            <a:ext cx="8317491" cy="1999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956"/>
              </a:lnSpc>
            </a:pPr>
            <a:r>
              <a:rPr lang="en-US" sz="14956" spc="-523">
                <a:solidFill>
                  <a:srgbClr val="A6C8FF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Thank you</a:t>
            </a:r>
          </a:p>
        </p:txBody>
      </p:sp>
      <p:sp>
        <p:nvSpPr>
          <p:cNvPr id="8" name="Freeform 8"/>
          <p:cNvSpPr/>
          <p:nvPr/>
        </p:nvSpPr>
        <p:spPr>
          <a:xfrm rot="-3117037">
            <a:off x="5418783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557</Words>
  <Application>Microsoft Office PowerPoint</Application>
  <PresentationFormat>Custom</PresentationFormat>
  <Paragraphs>61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Helvetica World Bold</vt:lpstr>
      <vt:lpstr>Calibri</vt:lpstr>
      <vt:lpstr>Helvetica World</vt:lpstr>
      <vt:lpstr>Georgia Pro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Minimalist PowerPoint Templates</dc:title>
  <dc:creator>PADMANAVA</dc:creator>
  <dc:description>Presentation - Minimalist PowerPoint Templates</dc:description>
  <cp:lastModifiedBy>mojumderpadmanava@gmail.com</cp:lastModifiedBy>
  <cp:revision>1</cp:revision>
  <dcterms:created xsi:type="dcterms:W3CDTF">2006-08-16T00:00:00Z</dcterms:created>
  <dcterms:modified xsi:type="dcterms:W3CDTF">2025-10-18T05:27:25Z</dcterms:modified>
  <dc:identifier>DAG13zPShpY</dc:identifier>
</cp:coreProperties>
</file>