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ntique Olive" panose="020B0604020202020204" charset="0"/>
      <p:regular r:id="rId13"/>
    </p:embeddedFont>
    <p:embeddedFont>
      <p:font typeface="TT Interphases" panose="020B0604020202020204" charset="0"/>
      <p:regular r:id="rId14"/>
    </p:embeddedFont>
    <p:embeddedFont>
      <p:font typeface="TT Interphase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66729" y="-570885"/>
            <a:ext cx="7754521" cy="10191135"/>
            <a:chOff x="0" y="0"/>
            <a:chExt cx="1201378" cy="15788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1378" cy="1578874"/>
            </a:xfrm>
            <a:custGeom>
              <a:avLst/>
              <a:gdLst/>
              <a:ahLst/>
              <a:cxnLst/>
              <a:rect l="l" t="t" r="r" b="b"/>
              <a:pathLst>
                <a:path w="1201378" h="1578874">
                  <a:moveTo>
                    <a:pt x="49919" y="0"/>
                  </a:moveTo>
                  <a:lnTo>
                    <a:pt x="1151459" y="0"/>
                  </a:lnTo>
                  <a:cubicBezTo>
                    <a:pt x="1164699" y="0"/>
                    <a:pt x="1177396" y="5259"/>
                    <a:pt x="1186757" y="14621"/>
                  </a:cubicBezTo>
                  <a:cubicBezTo>
                    <a:pt x="1196119" y="23982"/>
                    <a:pt x="1201378" y="36679"/>
                    <a:pt x="1201378" y="49919"/>
                  </a:cubicBezTo>
                  <a:lnTo>
                    <a:pt x="1201378" y="1528955"/>
                  </a:lnTo>
                  <a:cubicBezTo>
                    <a:pt x="1201378" y="1556524"/>
                    <a:pt x="1179029" y="1578874"/>
                    <a:pt x="1151459" y="1578874"/>
                  </a:cubicBezTo>
                  <a:lnTo>
                    <a:pt x="49919" y="1578874"/>
                  </a:lnTo>
                  <a:cubicBezTo>
                    <a:pt x="22349" y="1578874"/>
                    <a:pt x="0" y="1556524"/>
                    <a:pt x="0" y="1528955"/>
                  </a:cubicBezTo>
                  <a:lnTo>
                    <a:pt x="0" y="49919"/>
                  </a:lnTo>
                  <a:cubicBezTo>
                    <a:pt x="0" y="22349"/>
                    <a:pt x="22349" y="0"/>
                    <a:pt x="49919" y="0"/>
                  </a:cubicBezTo>
                  <a:close/>
                </a:path>
              </a:pathLst>
            </a:custGeom>
            <a:blipFill>
              <a:blip r:embed="rId2"/>
              <a:stretch>
                <a:fillRect t="-59" b="-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666750" y="666750"/>
            <a:ext cx="1133475" cy="1133475"/>
          </a:xfrm>
          <a:custGeom>
            <a:avLst/>
            <a:gdLst/>
            <a:ahLst/>
            <a:cxnLst/>
            <a:rect l="l" t="t" r="r" b="b"/>
            <a:pathLst>
              <a:path w="1133475" h="1133475">
                <a:moveTo>
                  <a:pt x="0" y="0"/>
                </a:moveTo>
                <a:lnTo>
                  <a:pt x="1133475" y="0"/>
                </a:lnTo>
                <a:lnTo>
                  <a:pt x="113347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66750" y="2543175"/>
            <a:ext cx="8324850" cy="3724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10000" spc="-100">
                <a:solidFill>
                  <a:srgbClr val="F7F9FC"/>
                </a:solidFill>
                <a:latin typeface="Antique Olive"/>
                <a:ea typeface="Antique Olive"/>
                <a:cs typeface="Antique Olive"/>
                <a:sym typeface="Antique Olive"/>
              </a:rPr>
              <a:t>Digital Portfolios Unleashed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6750" y="9248775"/>
            <a:ext cx="68865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>
                <a:solidFill>
                  <a:srgbClr val="F7F9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Presented by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66750"/>
            <a:ext cx="16954500" cy="0"/>
          </a:xfrm>
          <a:prstGeom prst="line">
            <a:avLst/>
          </a:prstGeom>
          <a:ln w="28575" cap="flat">
            <a:solidFill>
              <a:srgbClr val="F7F9F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2172950" y="8886825"/>
            <a:ext cx="544830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u="none" strike="noStrike" spc="120">
                <a:solidFill>
                  <a:srgbClr val="F7F9FC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DEFINING YOUR DIGITAL PRESENCE PROFESSIONALLY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1647825"/>
            <a:ext cx="14230350" cy="258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F7F9FC"/>
                </a:solidFill>
                <a:latin typeface="Antique Olive"/>
                <a:ea typeface="Antique Olive"/>
                <a:cs typeface="Antique Olive"/>
                <a:sym typeface="Antique Olive"/>
              </a:rPr>
              <a:t>Introduction to Digital Portfolios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248150"/>
            <a:ext cx="5448300" cy="3581400"/>
            <a:chOff x="0" y="0"/>
            <a:chExt cx="844084" cy="554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4084" cy="554853"/>
            </a:xfrm>
            <a:custGeom>
              <a:avLst/>
              <a:gdLst/>
              <a:ahLst/>
              <a:cxnLst/>
              <a:rect l="l" t="t" r="r" b="b"/>
              <a:pathLst>
                <a:path w="844084" h="554853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483804"/>
                  </a:lnTo>
                  <a:cubicBezTo>
                    <a:pt x="844084" y="502647"/>
                    <a:pt x="836599" y="520719"/>
                    <a:pt x="823274" y="534043"/>
                  </a:cubicBezTo>
                  <a:cubicBezTo>
                    <a:pt x="809950" y="547367"/>
                    <a:pt x="791879" y="554853"/>
                    <a:pt x="773035" y="554853"/>
                  </a:cubicBezTo>
                  <a:lnTo>
                    <a:pt x="71049" y="554853"/>
                  </a:lnTo>
                  <a:cubicBezTo>
                    <a:pt x="52206" y="554853"/>
                    <a:pt x="34134" y="547367"/>
                    <a:pt x="20810" y="534043"/>
                  </a:cubicBezTo>
                  <a:cubicBezTo>
                    <a:pt x="7485" y="520719"/>
                    <a:pt x="0" y="502647"/>
                    <a:pt x="0" y="483804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-83" r="-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419850" y="4248150"/>
            <a:ext cx="5448300" cy="3581400"/>
            <a:chOff x="0" y="0"/>
            <a:chExt cx="844084" cy="5548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4084" cy="554853"/>
            </a:xfrm>
            <a:custGeom>
              <a:avLst/>
              <a:gdLst/>
              <a:ahLst/>
              <a:cxnLst/>
              <a:rect l="l" t="t" r="r" b="b"/>
              <a:pathLst>
                <a:path w="844084" h="554853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483804"/>
                  </a:lnTo>
                  <a:cubicBezTo>
                    <a:pt x="844084" y="502647"/>
                    <a:pt x="836599" y="520719"/>
                    <a:pt x="823274" y="534043"/>
                  </a:cubicBezTo>
                  <a:cubicBezTo>
                    <a:pt x="809950" y="547367"/>
                    <a:pt x="791879" y="554853"/>
                    <a:pt x="773035" y="554853"/>
                  </a:cubicBezTo>
                  <a:lnTo>
                    <a:pt x="71049" y="554853"/>
                  </a:lnTo>
                  <a:cubicBezTo>
                    <a:pt x="52206" y="554853"/>
                    <a:pt x="34134" y="547367"/>
                    <a:pt x="20810" y="534043"/>
                  </a:cubicBezTo>
                  <a:cubicBezTo>
                    <a:pt x="7485" y="520719"/>
                    <a:pt x="0" y="502647"/>
                    <a:pt x="0" y="483804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-83" r="-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172950" y="4248150"/>
            <a:ext cx="5448300" cy="3581400"/>
            <a:chOff x="0" y="0"/>
            <a:chExt cx="844084" cy="5548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4084" cy="554853"/>
            </a:xfrm>
            <a:custGeom>
              <a:avLst/>
              <a:gdLst/>
              <a:ahLst/>
              <a:cxnLst/>
              <a:rect l="l" t="t" r="r" b="b"/>
              <a:pathLst>
                <a:path w="844084" h="554853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483804"/>
                  </a:lnTo>
                  <a:cubicBezTo>
                    <a:pt x="844084" y="502647"/>
                    <a:pt x="836599" y="520719"/>
                    <a:pt x="823274" y="534043"/>
                  </a:cubicBezTo>
                  <a:cubicBezTo>
                    <a:pt x="809950" y="547367"/>
                    <a:pt x="791879" y="554853"/>
                    <a:pt x="773035" y="554853"/>
                  </a:cubicBezTo>
                  <a:lnTo>
                    <a:pt x="71049" y="554853"/>
                  </a:lnTo>
                  <a:cubicBezTo>
                    <a:pt x="52206" y="554853"/>
                    <a:pt x="34134" y="547367"/>
                    <a:pt x="20810" y="534043"/>
                  </a:cubicBezTo>
                  <a:cubicBezTo>
                    <a:pt x="7485" y="520719"/>
                    <a:pt x="0" y="502647"/>
                    <a:pt x="0" y="483804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-83" r="-8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66750" y="8134350"/>
            <a:ext cx="5448300" cy="1258062"/>
            <a:chOff x="0" y="0"/>
            <a:chExt cx="7264400" cy="1677416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PERSONAL INTRODUCTION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82930"/>
              <a:ext cx="7264400" cy="109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Professional summary with contact details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19850" y="8134350"/>
            <a:ext cx="5448300" cy="838962"/>
            <a:chOff x="0" y="0"/>
            <a:chExt cx="7264400" cy="111861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SHOWCASE OF WORK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82930"/>
              <a:ext cx="72644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Highlights of projects and case studies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72950" y="8134350"/>
            <a:ext cx="5448300" cy="1258062"/>
            <a:chOff x="0" y="0"/>
            <a:chExt cx="7264400" cy="167741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SKILLS AND EXPERTISE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82930"/>
              <a:ext cx="7264400" cy="109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Clear listing with endorsements or certifications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752475"/>
            <a:ext cx="14077950" cy="258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F7F9FC"/>
                </a:solidFill>
                <a:latin typeface="Antique Olive"/>
                <a:ea typeface="Antique Olive"/>
                <a:cs typeface="Antique Olive"/>
                <a:sym typeface="Antique Olive"/>
              </a:rPr>
              <a:t>Essential Components of a Portfolio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248150"/>
            <a:ext cx="5448300" cy="3581400"/>
            <a:chOff x="0" y="0"/>
            <a:chExt cx="844084" cy="554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4084" cy="554853"/>
            </a:xfrm>
            <a:custGeom>
              <a:avLst/>
              <a:gdLst/>
              <a:ahLst/>
              <a:cxnLst/>
              <a:rect l="l" t="t" r="r" b="b"/>
              <a:pathLst>
                <a:path w="844084" h="554853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483804"/>
                  </a:lnTo>
                  <a:cubicBezTo>
                    <a:pt x="844084" y="502647"/>
                    <a:pt x="836599" y="520719"/>
                    <a:pt x="823274" y="534043"/>
                  </a:cubicBezTo>
                  <a:cubicBezTo>
                    <a:pt x="809950" y="547367"/>
                    <a:pt x="791879" y="554853"/>
                    <a:pt x="773035" y="554853"/>
                  </a:cubicBezTo>
                  <a:lnTo>
                    <a:pt x="71049" y="554853"/>
                  </a:lnTo>
                  <a:cubicBezTo>
                    <a:pt x="52206" y="554853"/>
                    <a:pt x="34134" y="547367"/>
                    <a:pt x="20810" y="534043"/>
                  </a:cubicBezTo>
                  <a:cubicBezTo>
                    <a:pt x="7485" y="520719"/>
                    <a:pt x="0" y="502647"/>
                    <a:pt x="0" y="483804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-83" r="-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419850" y="4248150"/>
            <a:ext cx="5448300" cy="3581400"/>
            <a:chOff x="0" y="0"/>
            <a:chExt cx="844084" cy="5548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4084" cy="554853"/>
            </a:xfrm>
            <a:custGeom>
              <a:avLst/>
              <a:gdLst/>
              <a:ahLst/>
              <a:cxnLst/>
              <a:rect l="l" t="t" r="r" b="b"/>
              <a:pathLst>
                <a:path w="844084" h="554853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483804"/>
                  </a:lnTo>
                  <a:cubicBezTo>
                    <a:pt x="844084" y="502647"/>
                    <a:pt x="836599" y="520719"/>
                    <a:pt x="823274" y="534043"/>
                  </a:cubicBezTo>
                  <a:cubicBezTo>
                    <a:pt x="809950" y="547367"/>
                    <a:pt x="791879" y="554853"/>
                    <a:pt x="773035" y="554853"/>
                  </a:cubicBezTo>
                  <a:lnTo>
                    <a:pt x="71049" y="554853"/>
                  </a:lnTo>
                  <a:cubicBezTo>
                    <a:pt x="52206" y="554853"/>
                    <a:pt x="34134" y="547367"/>
                    <a:pt x="20810" y="534043"/>
                  </a:cubicBezTo>
                  <a:cubicBezTo>
                    <a:pt x="7485" y="520719"/>
                    <a:pt x="0" y="502647"/>
                    <a:pt x="0" y="483804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-83" r="-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172950" y="4248150"/>
            <a:ext cx="5448300" cy="3581400"/>
            <a:chOff x="0" y="0"/>
            <a:chExt cx="844084" cy="5548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4084" cy="554853"/>
            </a:xfrm>
            <a:custGeom>
              <a:avLst/>
              <a:gdLst/>
              <a:ahLst/>
              <a:cxnLst/>
              <a:rect l="l" t="t" r="r" b="b"/>
              <a:pathLst>
                <a:path w="844084" h="554853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483804"/>
                  </a:lnTo>
                  <a:cubicBezTo>
                    <a:pt x="844084" y="502647"/>
                    <a:pt x="836599" y="520719"/>
                    <a:pt x="823274" y="534043"/>
                  </a:cubicBezTo>
                  <a:cubicBezTo>
                    <a:pt x="809950" y="547367"/>
                    <a:pt x="791879" y="554853"/>
                    <a:pt x="773035" y="554853"/>
                  </a:cubicBezTo>
                  <a:lnTo>
                    <a:pt x="71049" y="554853"/>
                  </a:lnTo>
                  <a:cubicBezTo>
                    <a:pt x="52206" y="554853"/>
                    <a:pt x="34134" y="547367"/>
                    <a:pt x="20810" y="534043"/>
                  </a:cubicBezTo>
                  <a:cubicBezTo>
                    <a:pt x="7485" y="520719"/>
                    <a:pt x="0" y="502647"/>
                    <a:pt x="0" y="483804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-83" r="-8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66750" y="8134350"/>
            <a:ext cx="5448300" cy="1258062"/>
            <a:chOff x="0" y="0"/>
            <a:chExt cx="7264400" cy="1677416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TESTIMONIALS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82930"/>
              <a:ext cx="7264400" cy="109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 b="1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Social proof</a:t>
              </a:r>
              <a:r>
                <a:rPr lang="en-US" sz="2370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enhances credibility significantly.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19850" y="8134350"/>
            <a:ext cx="5448300" cy="838962"/>
            <a:chOff x="0" y="0"/>
            <a:chExt cx="7264400" cy="111861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OPTIONAL SECTIONS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82930"/>
              <a:ext cx="72644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Additional features can enrich portfolios.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72950" y="8134350"/>
            <a:ext cx="5448300" cy="1258062"/>
            <a:chOff x="0" y="0"/>
            <a:chExt cx="7264400" cy="167741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ILLUSTRATED EXAMPLES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82930"/>
              <a:ext cx="7264400" cy="109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Visual layouts provide </a:t>
              </a:r>
              <a:r>
                <a:rPr lang="en-US" sz="2370" b="1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clear guidance</a:t>
              </a:r>
              <a:r>
                <a:rPr lang="en-US" sz="2370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inspiration.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752475"/>
            <a:ext cx="14077950" cy="258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F7F9FC"/>
                </a:solidFill>
                <a:latin typeface="Antique Olive"/>
                <a:ea typeface="Antique Olive"/>
                <a:cs typeface="Antique Olive"/>
                <a:sym typeface="Antique Olive"/>
              </a:rPr>
              <a:t>Testimonials and Optional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42660"/>
            <a:ext cx="6886575" cy="2148840"/>
            <a:chOff x="0" y="0"/>
            <a:chExt cx="9182100" cy="286512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CONSISTENT BRANDING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54050"/>
              <a:ext cx="9182100" cy="2211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Maintaining a cohesive visual identity across your portfolio enhances professionalism, ensuring that color schemes, typography, and logos align with your personal brand throughout the digital space.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038850"/>
            <a:ext cx="6886575" cy="2152650"/>
            <a:chOff x="0" y="0"/>
            <a:chExt cx="9182100" cy="2870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NAVIGATION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59130"/>
              <a:ext cx="9182100" cy="2211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 intuitive menu structure simplifies user experience, allowing visitors to easily access important sections and enhancing engagement with the content presented in your digital portfolio.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562100"/>
            <a:ext cx="16954500" cy="2381255"/>
            <a:chOff x="0" y="0"/>
            <a:chExt cx="22606000" cy="3175006"/>
          </a:xfrm>
        </p:grpSpPr>
        <p:sp>
          <p:nvSpPr>
            <p:cNvPr id="9" name="TextBox 9"/>
            <p:cNvSpPr txBox="1"/>
            <p:nvPr/>
          </p:nvSpPr>
          <p:spPr>
            <a:xfrm>
              <a:off x="0" y="85725"/>
              <a:ext cx="22606000" cy="1946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u="none" strike="noStrike" spc="-100">
                  <a:solidFill>
                    <a:srgbClr val="F7F9FC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Design Principles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682881"/>
              <a:ext cx="226060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KEY ELEMENTS FOR EFFECTIVE PORTFOLIOS</a:t>
              </a:r>
            </a:p>
          </p:txBody>
        </p:sp>
      </p:grpSp>
      <p:sp>
        <p:nvSpPr>
          <p:cNvPr id="11" name="Auto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w="28575" cap="rnd">
            <a:solidFill>
              <a:srgbClr val="F7F9FC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42660"/>
            <a:ext cx="6886575" cy="2567940"/>
            <a:chOff x="0" y="0"/>
            <a:chExt cx="9182100" cy="342392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MOBILE COMPATIBILITY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54050"/>
              <a:ext cx="9182100" cy="2769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professional digital portfolio must be </a:t>
              </a:r>
              <a:r>
                <a:rPr lang="en-US" sz="2400" b="1" u="none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mobile-friendly</a:t>
              </a:r>
              <a:r>
                <a:rPr lang="en-US" sz="2400" u="none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adapting seamlessly to various screen sizes while maintaining functionality and appearance, ensuring users can access your work anytime, anywhere.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038850"/>
            <a:ext cx="6886575" cy="2571750"/>
            <a:chOff x="0" y="0"/>
            <a:chExt cx="9182100" cy="34290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MULTI-DEVICE SUPPORT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59130"/>
              <a:ext cx="9182100" cy="2769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Successful portfolios support diverse devices, from tablets to desktops, enhancing user experience with consistent layouts, ensuring potential employers can navigate smoothly, regardless of their chosen platform.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562100"/>
            <a:ext cx="16954500" cy="2381255"/>
            <a:chOff x="0" y="0"/>
            <a:chExt cx="22606000" cy="3175006"/>
          </a:xfrm>
        </p:grpSpPr>
        <p:sp>
          <p:nvSpPr>
            <p:cNvPr id="9" name="TextBox 9"/>
            <p:cNvSpPr txBox="1"/>
            <p:nvPr/>
          </p:nvSpPr>
          <p:spPr>
            <a:xfrm>
              <a:off x="0" y="85725"/>
              <a:ext cx="22606000" cy="1946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u="none" strike="noStrike" spc="-100">
                  <a:solidFill>
                    <a:srgbClr val="F7F9FC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Responsiveness Matters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682881"/>
              <a:ext cx="226060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ENSURING ACCESSIBILITY ACROSS ALL DEVICES</a:t>
              </a:r>
            </a:p>
          </p:txBody>
        </p:sp>
      </p:grpSp>
      <p:sp>
        <p:nvSpPr>
          <p:cNvPr id="11" name="Auto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w="28575" cap="rnd">
            <a:solidFill>
              <a:srgbClr val="F7F9FC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42660"/>
            <a:ext cx="6886575" cy="2148840"/>
            <a:chOff x="0" y="0"/>
            <a:chExt cx="9182100" cy="286512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INCLUSIVE DESIGN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54050"/>
              <a:ext cx="9182100" cy="2211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Incorporating inclusive design ensures that your digital portfolio is usable by individuals with various disabilities, enhancing their experience and engagement with your content.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038850"/>
            <a:ext cx="6886575" cy="1733550"/>
            <a:chOff x="0" y="0"/>
            <a:chExt cx="9182100" cy="23114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USER-FRIENDLY NAVIGATION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59130"/>
              <a:ext cx="9182100" cy="1652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clear and intuitive navigation structure allows all users to easily access your portfolio, making it more effective and appealing to a wider audience.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562100"/>
            <a:ext cx="16954500" cy="2381255"/>
            <a:chOff x="0" y="0"/>
            <a:chExt cx="22606000" cy="3175006"/>
          </a:xfrm>
        </p:grpSpPr>
        <p:sp>
          <p:nvSpPr>
            <p:cNvPr id="9" name="TextBox 9"/>
            <p:cNvSpPr txBox="1"/>
            <p:nvPr/>
          </p:nvSpPr>
          <p:spPr>
            <a:xfrm>
              <a:off x="0" y="85725"/>
              <a:ext cx="22606000" cy="1946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u="none" strike="noStrike" spc="-100">
                  <a:solidFill>
                    <a:srgbClr val="F7F9FC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Accessibility Matters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682881"/>
              <a:ext cx="226060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CONSIDERATIONS FOR DIVERSE AUDIENCES</a:t>
              </a:r>
            </a:p>
          </p:txBody>
        </p:sp>
      </p:grpSp>
      <p:sp>
        <p:nvSpPr>
          <p:cNvPr id="11" name="Auto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w="28575" cap="rnd">
            <a:solidFill>
              <a:srgbClr val="F7F9FC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248150"/>
            <a:ext cx="5448300" cy="3581400"/>
            <a:chOff x="0" y="0"/>
            <a:chExt cx="844084" cy="554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4084" cy="554853"/>
            </a:xfrm>
            <a:custGeom>
              <a:avLst/>
              <a:gdLst/>
              <a:ahLst/>
              <a:cxnLst/>
              <a:rect l="l" t="t" r="r" b="b"/>
              <a:pathLst>
                <a:path w="844084" h="554853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483804"/>
                  </a:lnTo>
                  <a:cubicBezTo>
                    <a:pt x="844084" y="502647"/>
                    <a:pt x="836599" y="520719"/>
                    <a:pt x="823274" y="534043"/>
                  </a:cubicBezTo>
                  <a:cubicBezTo>
                    <a:pt x="809950" y="547367"/>
                    <a:pt x="791879" y="554853"/>
                    <a:pt x="773035" y="554853"/>
                  </a:cubicBezTo>
                  <a:lnTo>
                    <a:pt x="71049" y="554853"/>
                  </a:lnTo>
                  <a:cubicBezTo>
                    <a:pt x="52206" y="554853"/>
                    <a:pt x="34134" y="547367"/>
                    <a:pt x="20810" y="534043"/>
                  </a:cubicBezTo>
                  <a:cubicBezTo>
                    <a:pt x="7485" y="520719"/>
                    <a:pt x="0" y="502647"/>
                    <a:pt x="0" y="483804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-83" r="-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419850" y="4248150"/>
            <a:ext cx="5448300" cy="3581400"/>
            <a:chOff x="0" y="0"/>
            <a:chExt cx="844084" cy="5548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4084" cy="554853"/>
            </a:xfrm>
            <a:custGeom>
              <a:avLst/>
              <a:gdLst/>
              <a:ahLst/>
              <a:cxnLst/>
              <a:rect l="l" t="t" r="r" b="b"/>
              <a:pathLst>
                <a:path w="844084" h="554853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483804"/>
                  </a:lnTo>
                  <a:cubicBezTo>
                    <a:pt x="844084" y="502647"/>
                    <a:pt x="836599" y="520719"/>
                    <a:pt x="823274" y="534043"/>
                  </a:cubicBezTo>
                  <a:cubicBezTo>
                    <a:pt x="809950" y="547367"/>
                    <a:pt x="791879" y="554853"/>
                    <a:pt x="773035" y="554853"/>
                  </a:cubicBezTo>
                  <a:lnTo>
                    <a:pt x="71049" y="554853"/>
                  </a:lnTo>
                  <a:cubicBezTo>
                    <a:pt x="52206" y="554853"/>
                    <a:pt x="34134" y="547367"/>
                    <a:pt x="20810" y="534043"/>
                  </a:cubicBezTo>
                  <a:cubicBezTo>
                    <a:pt x="7485" y="520719"/>
                    <a:pt x="0" y="502647"/>
                    <a:pt x="0" y="483804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-83" r="-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172950" y="4248150"/>
            <a:ext cx="5448300" cy="3581400"/>
            <a:chOff x="0" y="0"/>
            <a:chExt cx="844084" cy="5548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4084" cy="554853"/>
            </a:xfrm>
            <a:custGeom>
              <a:avLst/>
              <a:gdLst/>
              <a:ahLst/>
              <a:cxnLst/>
              <a:rect l="l" t="t" r="r" b="b"/>
              <a:pathLst>
                <a:path w="844084" h="554853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483804"/>
                  </a:lnTo>
                  <a:cubicBezTo>
                    <a:pt x="844084" y="502647"/>
                    <a:pt x="836599" y="520719"/>
                    <a:pt x="823274" y="534043"/>
                  </a:cubicBezTo>
                  <a:cubicBezTo>
                    <a:pt x="809950" y="547367"/>
                    <a:pt x="791879" y="554853"/>
                    <a:pt x="773035" y="554853"/>
                  </a:cubicBezTo>
                  <a:lnTo>
                    <a:pt x="71049" y="554853"/>
                  </a:lnTo>
                  <a:cubicBezTo>
                    <a:pt x="52206" y="554853"/>
                    <a:pt x="34134" y="547367"/>
                    <a:pt x="20810" y="534043"/>
                  </a:cubicBezTo>
                  <a:cubicBezTo>
                    <a:pt x="7485" y="520719"/>
                    <a:pt x="0" y="502647"/>
                    <a:pt x="0" y="483804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-83" r="-8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66750" y="8134350"/>
            <a:ext cx="5448300" cy="838962"/>
            <a:chOff x="0" y="0"/>
            <a:chExt cx="7264400" cy="1118616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MINIMALIST DESIGN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82930"/>
              <a:ext cx="72644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Focus on clarity and simplicity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19850" y="8134350"/>
            <a:ext cx="5448300" cy="1258062"/>
            <a:chOff x="0" y="0"/>
            <a:chExt cx="7264400" cy="167741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CREATIVE APPROACH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82930"/>
              <a:ext cx="7264400" cy="109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Emphasizes artistic expression and engagement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72950" y="8134350"/>
            <a:ext cx="5448300" cy="838962"/>
            <a:chOff x="0" y="0"/>
            <a:chExt cx="7264400" cy="111861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HYBRID STYLE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82930"/>
              <a:ext cx="72644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Balances professionalism with creativity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752475"/>
            <a:ext cx="14077950" cy="258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F7F9FC"/>
                </a:solidFill>
                <a:latin typeface="Antique Olive"/>
                <a:ea typeface="Antique Olive"/>
                <a:cs typeface="Antique Olive"/>
                <a:sym typeface="Antique Olive"/>
              </a:rPr>
              <a:t>Portfolio Templates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248150"/>
            <a:ext cx="5448300" cy="3581400"/>
            <a:chOff x="0" y="0"/>
            <a:chExt cx="844084" cy="554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4084" cy="554853"/>
            </a:xfrm>
            <a:custGeom>
              <a:avLst/>
              <a:gdLst/>
              <a:ahLst/>
              <a:cxnLst/>
              <a:rect l="l" t="t" r="r" b="b"/>
              <a:pathLst>
                <a:path w="844084" h="554853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483804"/>
                  </a:lnTo>
                  <a:cubicBezTo>
                    <a:pt x="844084" y="502647"/>
                    <a:pt x="836599" y="520719"/>
                    <a:pt x="823274" y="534043"/>
                  </a:cubicBezTo>
                  <a:cubicBezTo>
                    <a:pt x="809950" y="547367"/>
                    <a:pt x="791879" y="554853"/>
                    <a:pt x="773035" y="554853"/>
                  </a:cubicBezTo>
                  <a:lnTo>
                    <a:pt x="71049" y="554853"/>
                  </a:lnTo>
                  <a:cubicBezTo>
                    <a:pt x="52206" y="554853"/>
                    <a:pt x="34134" y="547367"/>
                    <a:pt x="20810" y="534043"/>
                  </a:cubicBezTo>
                  <a:cubicBezTo>
                    <a:pt x="7485" y="520719"/>
                    <a:pt x="0" y="502647"/>
                    <a:pt x="0" y="483804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-83" r="-8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419850" y="4248150"/>
            <a:ext cx="5448300" cy="3581400"/>
            <a:chOff x="0" y="0"/>
            <a:chExt cx="844084" cy="5548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4084" cy="554853"/>
            </a:xfrm>
            <a:custGeom>
              <a:avLst/>
              <a:gdLst/>
              <a:ahLst/>
              <a:cxnLst/>
              <a:rect l="l" t="t" r="r" b="b"/>
              <a:pathLst>
                <a:path w="844084" h="554853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483804"/>
                  </a:lnTo>
                  <a:cubicBezTo>
                    <a:pt x="844084" y="502647"/>
                    <a:pt x="836599" y="520719"/>
                    <a:pt x="823274" y="534043"/>
                  </a:cubicBezTo>
                  <a:cubicBezTo>
                    <a:pt x="809950" y="547367"/>
                    <a:pt x="791879" y="554853"/>
                    <a:pt x="773035" y="554853"/>
                  </a:cubicBezTo>
                  <a:lnTo>
                    <a:pt x="71049" y="554853"/>
                  </a:lnTo>
                  <a:cubicBezTo>
                    <a:pt x="52206" y="554853"/>
                    <a:pt x="34134" y="547367"/>
                    <a:pt x="20810" y="534043"/>
                  </a:cubicBezTo>
                  <a:cubicBezTo>
                    <a:pt x="7485" y="520719"/>
                    <a:pt x="0" y="502647"/>
                    <a:pt x="0" y="483804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-83" r="-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172950" y="4248150"/>
            <a:ext cx="5448300" cy="3581400"/>
            <a:chOff x="0" y="0"/>
            <a:chExt cx="844084" cy="5548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4084" cy="554853"/>
            </a:xfrm>
            <a:custGeom>
              <a:avLst/>
              <a:gdLst/>
              <a:ahLst/>
              <a:cxnLst/>
              <a:rect l="l" t="t" r="r" b="b"/>
              <a:pathLst>
                <a:path w="844084" h="554853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483804"/>
                  </a:lnTo>
                  <a:cubicBezTo>
                    <a:pt x="844084" y="502647"/>
                    <a:pt x="836599" y="520719"/>
                    <a:pt x="823274" y="534043"/>
                  </a:cubicBezTo>
                  <a:cubicBezTo>
                    <a:pt x="809950" y="547367"/>
                    <a:pt x="791879" y="554853"/>
                    <a:pt x="773035" y="554853"/>
                  </a:cubicBezTo>
                  <a:lnTo>
                    <a:pt x="71049" y="554853"/>
                  </a:lnTo>
                  <a:cubicBezTo>
                    <a:pt x="52206" y="554853"/>
                    <a:pt x="34134" y="547367"/>
                    <a:pt x="20810" y="534043"/>
                  </a:cubicBezTo>
                  <a:cubicBezTo>
                    <a:pt x="7485" y="520719"/>
                    <a:pt x="0" y="502647"/>
                    <a:pt x="0" y="483804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-83" r="-8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66750" y="8134350"/>
            <a:ext cx="5448300" cy="1258062"/>
            <a:chOff x="0" y="0"/>
            <a:chExt cx="7264400" cy="1677416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TECHNICAL FOCUS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82930"/>
              <a:ext cx="7264400" cy="109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Emphasizes precision and structured layouts.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19850" y="8134350"/>
            <a:ext cx="5448300" cy="1258062"/>
            <a:chOff x="0" y="0"/>
            <a:chExt cx="7264400" cy="167741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CLEAR PRESENTATION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82930"/>
              <a:ext cx="7264400" cy="109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Showcases projects with detailed descriptions.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72950" y="8134350"/>
            <a:ext cx="5448300" cy="1258062"/>
            <a:chOff x="0" y="0"/>
            <a:chExt cx="7264400" cy="167741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72644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PROFESSIONAL AESTHETIC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82930"/>
              <a:ext cx="7264400" cy="1094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Balances creativity with industry standards.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742950"/>
            <a:ext cx="14077950" cy="2347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12"/>
              </a:lnSpc>
              <a:spcBef>
                <a:spcPct val="0"/>
              </a:spcBef>
            </a:pPr>
            <a:r>
              <a:rPr lang="en-US" sz="9125" u="none" strike="noStrike" spc="-91">
                <a:solidFill>
                  <a:srgbClr val="F7F9FC"/>
                </a:solidFill>
                <a:latin typeface="Antique Olive"/>
                <a:ea typeface="Antique Olive"/>
                <a:cs typeface="Antique Olive"/>
                <a:sym typeface="Antique Olive"/>
              </a:rPr>
              <a:t>Templates for Engineers and Designers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42660"/>
            <a:ext cx="6886575" cy="2148840"/>
            <a:chOff x="0" y="0"/>
            <a:chExt cx="9182100" cy="286512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IMPORTANCE OF STRUCTURE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54050"/>
              <a:ext cx="9182100" cy="2211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well-structured digital portfolio showcases your skills and experience effectively, making it easier for potential employers or clients to understand your professional journey and capabilities.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038850"/>
            <a:ext cx="6886575" cy="2152650"/>
            <a:chOff x="0" y="0"/>
            <a:chExt cx="9182100" cy="2870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REGULAR UPDATES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59130"/>
              <a:ext cx="9182100" cy="2211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7F9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Tailoring your portfolio to reflect current projects and achievements is crucial. Regular updates ensure you're presenting the most relevant and impactful version of your professional self.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562100"/>
            <a:ext cx="16954500" cy="2381255"/>
            <a:chOff x="0" y="0"/>
            <a:chExt cx="22606000" cy="3175006"/>
          </a:xfrm>
        </p:grpSpPr>
        <p:sp>
          <p:nvSpPr>
            <p:cNvPr id="9" name="TextBox 9"/>
            <p:cNvSpPr txBox="1"/>
            <p:nvPr/>
          </p:nvSpPr>
          <p:spPr>
            <a:xfrm>
              <a:off x="0" y="85725"/>
              <a:ext cx="22606000" cy="1946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u="none" strike="noStrike" spc="-100">
                  <a:solidFill>
                    <a:srgbClr val="F7F9FC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Conclusion &amp; Next Steps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682881"/>
              <a:ext cx="2260600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spc="120">
                  <a:solidFill>
                    <a:srgbClr val="F7F9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RECAP AND ACTIONABLE ADVICE FOR PORTFOLIOS</a:t>
              </a:r>
            </a:p>
          </p:txBody>
        </p:sp>
      </p:grpSp>
      <p:sp>
        <p:nvSpPr>
          <p:cNvPr id="11" name="Auto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w="28575" cap="rnd">
            <a:solidFill>
              <a:srgbClr val="F7F9FC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05024" y="666750"/>
            <a:ext cx="6272401" cy="8953500"/>
            <a:chOff x="0" y="0"/>
            <a:chExt cx="971759" cy="1387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1759" cy="1387131"/>
            </a:xfrm>
            <a:custGeom>
              <a:avLst/>
              <a:gdLst/>
              <a:ahLst/>
              <a:cxnLst/>
              <a:rect l="l" t="t" r="r" b="b"/>
              <a:pathLst>
                <a:path w="971759" h="1387131">
                  <a:moveTo>
                    <a:pt x="61714" y="0"/>
                  </a:moveTo>
                  <a:lnTo>
                    <a:pt x="910045" y="0"/>
                  </a:lnTo>
                  <a:cubicBezTo>
                    <a:pt x="944129" y="0"/>
                    <a:pt x="971759" y="27630"/>
                    <a:pt x="971759" y="61714"/>
                  </a:cubicBezTo>
                  <a:lnTo>
                    <a:pt x="971759" y="1325417"/>
                  </a:lnTo>
                  <a:cubicBezTo>
                    <a:pt x="971759" y="1341785"/>
                    <a:pt x="965257" y="1357482"/>
                    <a:pt x="953683" y="1369056"/>
                  </a:cubicBezTo>
                  <a:cubicBezTo>
                    <a:pt x="942110" y="1380629"/>
                    <a:pt x="926412" y="1387131"/>
                    <a:pt x="910045" y="1387131"/>
                  </a:cubicBezTo>
                  <a:lnTo>
                    <a:pt x="61714" y="1387131"/>
                  </a:lnTo>
                  <a:cubicBezTo>
                    <a:pt x="45347" y="1387131"/>
                    <a:pt x="29649" y="1380629"/>
                    <a:pt x="18076" y="1369056"/>
                  </a:cubicBezTo>
                  <a:cubicBezTo>
                    <a:pt x="6502" y="1357482"/>
                    <a:pt x="0" y="1341785"/>
                    <a:pt x="0" y="1325417"/>
                  </a:cubicBezTo>
                  <a:lnTo>
                    <a:pt x="0" y="61714"/>
                  </a:lnTo>
                  <a:cubicBezTo>
                    <a:pt x="0" y="45347"/>
                    <a:pt x="6502" y="29649"/>
                    <a:pt x="18076" y="18076"/>
                  </a:cubicBezTo>
                  <a:cubicBezTo>
                    <a:pt x="29649" y="6502"/>
                    <a:pt x="45347" y="0"/>
                    <a:pt x="61714" y="0"/>
                  </a:cubicBezTo>
                  <a:close/>
                </a:path>
              </a:pathLst>
            </a:custGeom>
            <a:blipFill>
              <a:blip r:embed="rId2"/>
              <a:stretch>
                <a:fillRect t="-309" b="-309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419850" y="2543175"/>
            <a:ext cx="11201400" cy="3724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10000" u="none" strike="noStrike" spc="-100">
                <a:solidFill>
                  <a:srgbClr val="F7F9FC"/>
                </a:solidFill>
                <a:latin typeface="Antique Olive"/>
                <a:ea typeface="Antique Olive"/>
                <a:cs typeface="Antique Olive"/>
                <a:sym typeface="Antique Olive"/>
              </a:rPr>
              <a:t>Start Crafting Your Digital Portfolio Today!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19850" y="9248775"/>
            <a:ext cx="832485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spc="120">
                <a:solidFill>
                  <a:srgbClr val="F7F9FC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TAKE THE NEXT STEP</a:t>
            </a:r>
          </a:p>
        </p:txBody>
      </p:sp>
      <p:sp>
        <p:nvSpPr>
          <p:cNvPr id="6" name="Freeform 6"/>
          <p:cNvSpPr/>
          <p:nvPr/>
        </p:nvSpPr>
        <p:spPr>
          <a:xfrm>
            <a:off x="6419850" y="666750"/>
            <a:ext cx="1133475" cy="1133475"/>
          </a:xfrm>
          <a:custGeom>
            <a:avLst/>
            <a:gdLst/>
            <a:ahLst/>
            <a:cxnLst/>
            <a:rect l="l" t="t" r="r" b="b"/>
            <a:pathLst>
              <a:path w="1133475" h="1133475">
                <a:moveTo>
                  <a:pt x="0" y="0"/>
                </a:moveTo>
                <a:lnTo>
                  <a:pt x="1133475" y="0"/>
                </a:lnTo>
                <a:lnTo>
                  <a:pt x="113347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Custom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Antique Olive</vt:lpstr>
      <vt:lpstr>Calibri</vt:lpstr>
      <vt:lpstr>TT Interphases</vt:lpstr>
      <vt:lpstr>TT Interphases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Digital Portfolios Unleashed</dc:title>
  <dc:creator>PADMANAVA</dc:creator>
  <dc:description>Presentation - Digital Portfolios Unleashed</dc:description>
  <cp:lastModifiedBy>mojumderpadmanava@gmail.com</cp:lastModifiedBy>
  <cp:revision>1</cp:revision>
  <dcterms:created xsi:type="dcterms:W3CDTF">2006-08-16T00:00:00Z</dcterms:created>
  <dcterms:modified xsi:type="dcterms:W3CDTF">2025-10-18T05:39:34Z</dcterms:modified>
  <dc:identifier>DAG13zZeq5o</dc:identifier>
</cp:coreProperties>
</file>