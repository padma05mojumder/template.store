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Nyutro Sans" panose="020B0604020202020204" charset="0"/>
      <p:regular r:id="rId17"/>
    </p:embeddedFont>
    <p:embeddedFont>
      <p:font typeface="Nyutro Sans Bold" panose="020B0604020202020204" charset="0"/>
      <p:regular r:id="rId18"/>
    </p:embeddedFont>
    <p:embeddedFont>
      <p:font typeface="Nyutro Sans Heavy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10283443"/>
            <a:chOff x="0" y="0"/>
            <a:chExt cx="1863593" cy="2782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63594" cy="2782841"/>
            </a:xfrm>
            <a:custGeom>
              <a:avLst/>
              <a:gdLst/>
              <a:ahLst/>
              <a:cxnLst/>
              <a:rect l="l" t="t" r="r" b="b"/>
              <a:pathLst>
                <a:path w="1863594" h="2782841">
                  <a:moveTo>
                    <a:pt x="13761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605167"/>
                  </a:lnTo>
                  <a:cubicBezTo>
                    <a:pt x="0" y="2703293"/>
                    <a:pt x="79547" y="2782840"/>
                    <a:pt x="177673" y="2782840"/>
                  </a:cubicBezTo>
                  <a:lnTo>
                    <a:pt x="1685921" y="2782840"/>
                  </a:lnTo>
                  <a:cubicBezTo>
                    <a:pt x="1784047" y="2782840"/>
                    <a:pt x="1863594" y="2703293"/>
                    <a:pt x="1863594" y="2605167"/>
                  </a:cubicBezTo>
                  <a:lnTo>
                    <a:pt x="1863594" y="523958"/>
                  </a:lnTo>
                  <a:cubicBezTo>
                    <a:pt x="1863594" y="480251"/>
                    <a:pt x="1847484" y="438079"/>
                    <a:pt x="1818345" y="405503"/>
                  </a:cubicBezTo>
                  <a:lnTo>
                    <a:pt x="1508568" y="59214"/>
                  </a:lnTo>
                  <a:cubicBezTo>
                    <a:pt x="1474864" y="21536"/>
                    <a:pt x="1426705" y="0"/>
                    <a:pt x="1376152" y="0"/>
                  </a:cubicBezTo>
                  <a:close/>
                </a:path>
              </a:pathLst>
            </a:custGeom>
            <a:blipFill>
              <a:blip r:embed="rId2"/>
              <a:stretch>
                <a:fillRect t="-162" b="-16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9763125" cy="7990745"/>
            <a:chOff x="0" y="0"/>
            <a:chExt cx="13017500" cy="10654327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3017500" cy="98240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3800"/>
                </a:lnSpc>
              </a:pPr>
              <a:r>
                <a:rPr lang="en-US" sz="13800" b="1" spc="-138">
                  <a:solidFill>
                    <a:srgbClr val="F0F3F7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Project Management: Strategies for Success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920902"/>
              <a:ext cx="9182100" cy="7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spc="-60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[Presenter Name Here]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1201400" cy="5146638"/>
            <a:chOff x="0" y="0"/>
            <a:chExt cx="14935200" cy="6862184"/>
          </a:xfrm>
        </p:grpSpPr>
        <p:sp>
          <p:nvSpPr>
            <p:cNvPr id="3" name="TextBox 3"/>
            <p:cNvSpPr txBox="1"/>
            <p:nvPr/>
          </p:nvSpPr>
          <p:spPr>
            <a:xfrm>
              <a:off x="0" y="76200"/>
              <a:ext cx="14935200" cy="3124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00"/>
                </a:lnSpc>
                <a:spcBef>
                  <a:spcPct val="0"/>
                </a:spcBef>
              </a:pPr>
              <a:r>
                <a:rPr lang="en-US" sz="9000" b="1" u="none" strike="noStrike" spc="-89">
                  <a:solidFill>
                    <a:srgbClr val="F0F3F7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Introduction to Project Management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8100" y="3371850"/>
              <a:ext cx="14897100" cy="654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 u="none" strike="noStrike">
                  <a:solidFill>
                    <a:srgbClr val="F0F3F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Understanding its Value in Business Success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8100" y="4514800"/>
              <a:ext cx="11061700" cy="2347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Project management is crucial for achieving </a:t>
              </a:r>
              <a:r>
                <a:rPr lang="en-US" sz="2499" b="1" u="none" strike="noStrike">
                  <a:solidFill>
                    <a:srgbClr val="F0F3F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business objectives</a:t>
              </a:r>
              <a:r>
                <a:rPr lang="en-US" sz="2499" u="none" strike="noStrike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, ensuring efficient resource use, reducing risks, and aligning stakeholders. It encompasses five phases that guide projects from initiation to completion.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4010025" cy="6267450"/>
            <a:chOff x="0" y="0"/>
            <a:chExt cx="1056138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E2B3A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981575" y="3352800"/>
            <a:ext cx="4010025" cy="6267450"/>
            <a:chOff x="0" y="0"/>
            <a:chExt cx="1056138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E2B3A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3352800"/>
            <a:ext cx="4010025" cy="6267450"/>
            <a:chOff x="0" y="0"/>
            <a:chExt cx="1056138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E2B3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11225" y="3352800"/>
            <a:ext cx="4010025" cy="6267450"/>
            <a:chOff x="0" y="0"/>
            <a:chExt cx="1056138" cy="16506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E2B3A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742950"/>
            <a:ext cx="169545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1E2B3A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Project Management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69769" y="6019800"/>
            <a:ext cx="3603986" cy="1805305"/>
            <a:chOff x="0" y="0"/>
            <a:chExt cx="4805315" cy="240707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47625"/>
              <a:ext cx="4805315" cy="1072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995"/>
                </a:lnSpc>
              </a:pPr>
              <a:r>
                <a:rPr lang="en-US" sz="5550" b="1" spc="-55">
                  <a:solidFill>
                    <a:srgbClr val="F0F3F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Definition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1588" y="122809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</a:pPr>
              <a:r>
                <a:rPr lang="en-US" sz="2499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Organized approach to achieving goals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70786" y="6019800"/>
            <a:ext cx="3031604" cy="2243455"/>
            <a:chOff x="0" y="0"/>
            <a:chExt cx="4042139" cy="299127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47625"/>
              <a:ext cx="4042139" cy="1072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995"/>
                </a:lnSpc>
              </a:pPr>
              <a:r>
                <a:rPr lang="en-US" sz="5550" b="1" spc="-55">
                  <a:solidFill>
                    <a:srgbClr val="F0F3F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Efficiency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228090"/>
              <a:ext cx="4042139" cy="1763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Streamlined processes for better results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785611" y="6019800"/>
            <a:ext cx="3031604" cy="2243455"/>
            <a:chOff x="0" y="0"/>
            <a:chExt cx="4042139" cy="2991273"/>
          </a:xfrm>
        </p:grpSpPr>
        <p:sp>
          <p:nvSpPr>
            <p:cNvPr id="22" name="TextBox 22"/>
            <p:cNvSpPr txBox="1"/>
            <p:nvPr/>
          </p:nvSpPr>
          <p:spPr>
            <a:xfrm>
              <a:off x="0" y="47625"/>
              <a:ext cx="4042139" cy="1072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995"/>
                </a:lnSpc>
              </a:pPr>
              <a:r>
                <a:rPr lang="en-US" sz="5550" b="1" spc="-55">
                  <a:solidFill>
                    <a:srgbClr val="F0F3F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Mitigation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228090"/>
              <a:ext cx="4042139" cy="1763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Reducing risks through proactive planning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103701" y="6019800"/>
            <a:ext cx="3025073" cy="1805305"/>
            <a:chOff x="0" y="0"/>
            <a:chExt cx="4033431" cy="2407073"/>
          </a:xfrm>
        </p:grpSpPr>
        <p:sp>
          <p:nvSpPr>
            <p:cNvPr id="25" name="TextBox 25"/>
            <p:cNvSpPr txBox="1"/>
            <p:nvPr/>
          </p:nvSpPr>
          <p:spPr>
            <a:xfrm>
              <a:off x="0" y="47625"/>
              <a:ext cx="4033431" cy="1072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995"/>
                </a:lnSpc>
              </a:pPr>
              <a:r>
                <a:rPr lang="en-US" sz="5550" b="1" spc="-55">
                  <a:solidFill>
                    <a:srgbClr val="F0F3F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Alignment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228090"/>
              <a:ext cx="4033431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Ensuring stakeholders share common goals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172010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03493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34975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66458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5645150"/>
            <a:ext cx="6886575" cy="397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u="none" strike="noStrike">
                <a:solidFill>
                  <a:srgbClr val="F0F3F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Initiation:</a:t>
            </a: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 Define project scope and objectives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u="none" strike="noStrike">
                <a:solidFill>
                  <a:srgbClr val="F0F3F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Planning:</a:t>
            </a: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 Develop project roadmap and allocate resources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u="none" strike="noStrike">
                <a:solidFill>
                  <a:srgbClr val="F0F3F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Execution:</a:t>
            </a: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 Implement project plans and deliver outputs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u="none" strike="noStrike">
                <a:solidFill>
                  <a:srgbClr val="F0F3F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Monitoring:</a:t>
            </a: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 Track progress and make adjustments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u="none" strike="noStrike">
                <a:solidFill>
                  <a:srgbClr val="F0F3F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Closure:</a:t>
            </a: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 Evaluate project outcomes and document lessons learned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742950"/>
            <a:ext cx="6886575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Phases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96400" y="666750"/>
            <a:ext cx="8324850" cy="8953500"/>
            <a:chOff x="0" y="0"/>
            <a:chExt cx="2576171" cy="27707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76172" cy="2770723"/>
            </a:xfrm>
            <a:custGeom>
              <a:avLst/>
              <a:gdLst/>
              <a:ahLst/>
              <a:cxnLst/>
              <a:rect l="l" t="t" r="r" b="b"/>
              <a:pathLst>
                <a:path w="2576172" h="2770723">
                  <a:moveTo>
                    <a:pt x="208873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398500" y="2770723"/>
                  </a:lnTo>
                  <a:cubicBezTo>
                    <a:pt x="2496626" y="2770723"/>
                    <a:pt x="2576172" y="2691176"/>
                    <a:pt x="2576172" y="2593050"/>
                  </a:cubicBezTo>
                  <a:lnTo>
                    <a:pt x="2576172" y="523958"/>
                  </a:lnTo>
                  <a:cubicBezTo>
                    <a:pt x="2576172" y="480251"/>
                    <a:pt x="2560063" y="438079"/>
                    <a:pt x="2530924" y="405503"/>
                  </a:cubicBezTo>
                  <a:lnTo>
                    <a:pt x="2221146" y="59214"/>
                  </a:lnTo>
                  <a:cubicBezTo>
                    <a:pt x="2187442" y="21536"/>
                    <a:pt x="2139283" y="0"/>
                    <a:pt x="2088730" y="0"/>
                  </a:cubicBezTo>
                  <a:close/>
                </a:path>
              </a:pathLst>
            </a:custGeom>
            <a:blipFill>
              <a:blip r:embed="rId2"/>
              <a:stretch>
                <a:fillRect t="-258" b="-258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1201400" cy="5146638"/>
            <a:chOff x="0" y="0"/>
            <a:chExt cx="14935200" cy="6862184"/>
          </a:xfrm>
        </p:grpSpPr>
        <p:sp>
          <p:nvSpPr>
            <p:cNvPr id="3" name="TextBox 3"/>
            <p:cNvSpPr txBox="1"/>
            <p:nvPr/>
          </p:nvSpPr>
          <p:spPr>
            <a:xfrm>
              <a:off x="0" y="76200"/>
              <a:ext cx="14935200" cy="3124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00"/>
                </a:lnSpc>
                <a:spcBef>
                  <a:spcPct val="0"/>
                </a:spcBef>
              </a:pPr>
              <a:r>
                <a:rPr lang="en-US" sz="9000" b="1" u="none" strike="noStrike" spc="-89">
                  <a:solidFill>
                    <a:srgbClr val="F0F3F7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Project Management Techniques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8100" y="3371850"/>
              <a:ext cx="14897100" cy="654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 u="none" strike="noStrike">
                  <a:solidFill>
                    <a:srgbClr val="F0F3F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Essential Frameworks for Effective Management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8100" y="4514800"/>
              <a:ext cx="11061700" cy="2347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Understanding core project management processes, such as initiation and planning, along with methodologies like Agile and tools like Gantt charts, is vital for successful project delivery.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4010025" cy="6267450"/>
            <a:chOff x="0" y="0"/>
            <a:chExt cx="1056138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E2B3A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981575" y="3352800"/>
            <a:ext cx="4010025" cy="6267450"/>
            <a:chOff x="0" y="0"/>
            <a:chExt cx="1056138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E2B3A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3352800"/>
            <a:ext cx="4010025" cy="6267450"/>
            <a:chOff x="0" y="0"/>
            <a:chExt cx="1056138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E2B3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11225" y="3352800"/>
            <a:ext cx="4010025" cy="6267450"/>
            <a:chOff x="0" y="0"/>
            <a:chExt cx="1056138" cy="16506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E2B3A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742950"/>
            <a:ext cx="169545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1E2B3A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Project Management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69769" y="6019800"/>
            <a:ext cx="3603986" cy="1752918"/>
            <a:chOff x="0" y="0"/>
            <a:chExt cx="4805315" cy="233722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38100"/>
              <a:ext cx="4805315" cy="1012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57"/>
                </a:lnSpc>
              </a:pPr>
              <a:r>
                <a:rPr lang="en-US" sz="5175" b="1" spc="-51">
                  <a:solidFill>
                    <a:srgbClr val="F0F3F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Initiation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1588" y="115824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</a:pPr>
              <a:r>
                <a:rPr lang="en-US" sz="2499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Define project scope and objectives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70786" y="6019800"/>
            <a:ext cx="3031604" cy="1752918"/>
            <a:chOff x="0" y="0"/>
            <a:chExt cx="4042139" cy="233722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38100"/>
              <a:ext cx="4042139" cy="1012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57"/>
                </a:lnSpc>
              </a:pPr>
              <a:r>
                <a:rPr lang="en-US" sz="5175" b="1" spc="-51">
                  <a:solidFill>
                    <a:srgbClr val="F0F3F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Planning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15824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Develop detailed project roadmap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785611" y="6019800"/>
            <a:ext cx="3031604" cy="1752918"/>
            <a:chOff x="0" y="0"/>
            <a:chExt cx="4042139" cy="2337223"/>
          </a:xfrm>
        </p:grpSpPr>
        <p:sp>
          <p:nvSpPr>
            <p:cNvPr id="22" name="TextBox 22"/>
            <p:cNvSpPr txBox="1"/>
            <p:nvPr/>
          </p:nvSpPr>
          <p:spPr>
            <a:xfrm>
              <a:off x="0" y="38100"/>
              <a:ext cx="4042139" cy="1012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57"/>
                </a:lnSpc>
              </a:pPr>
              <a:r>
                <a:rPr lang="en-US" sz="5175" b="1" spc="-51">
                  <a:solidFill>
                    <a:srgbClr val="F0F3F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Execution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15824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Implement project plans effectively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103701" y="6019800"/>
            <a:ext cx="3025073" cy="1752918"/>
            <a:chOff x="0" y="0"/>
            <a:chExt cx="4033431" cy="2337223"/>
          </a:xfrm>
        </p:grpSpPr>
        <p:sp>
          <p:nvSpPr>
            <p:cNvPr id="25" name="TextBox 25"/>
            <p:cNvSpPr txBox="1"/>
            <p:nvPr/>
          </p:nvSpPr>
          <p:spPr>
            <a:xfrm>
              <a:off x="0" y="38100"/>
              <a:ext cx="4033431" cy="1012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57"/>
                </a:lnSpc>
              </a:pPr>
              <a:r>
                <a:rPr lang="en-US" sz="5175" b="1" spc="-51">
                  <a:solidFill>
                    <a:srgbClr val="F0F3F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Monitoring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158240"/>
              <a:ext cx="4033431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Track progress and adjust strategies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172010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03493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34975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66458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838950"/>
            <a:ext cx="5448300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Waterfall: sequential and linear process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19850" y="6838950"/>
            <a:ext cx="5448300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Agile: iterative and flexible approach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72950" y="6838950"/>
            <a:ext cx="5448300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Scrum: emphasizes teamwork and quick delivery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5025" y="1628775"/>
            <a:ext cx="14077950" cy="2951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77"/>
              </a:lnSpc>
            </a:pPr>
            <a:r>
              <a:rPr lang="en-US" sz="7974" b="1" spc="-79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Project Management Methodologies: Waterfall, Agile, and Scrum</a:t>
            </a:r>
          </a:p>
        </p:txBody>
      </p:sp>
      <p:sp>
        <p:nvSpPr>
          <p:cNvPr id="6" name="Freeform 6"/>
          <p:cNvSpPr/>
          <p:nvPr/>
        </p:nvSpPr>
        <p:spPr>
          <a:xfrm>
            <a:off x="2439246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8" y="0"/>
                </a:lnTo>
                <a:lnTo>
                  <a:pt x="1903308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119800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859107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4010025" cy="6267450"/>
            <a:chOff x="0" y="0"/>
            <a:chExt cx="1056138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E2B3A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981575" y="3352800"/>
            <a:ext cx="4010025" cy="6267450"/>
            <a:chOff x="0" y="0"/>
            <a:chExt cx="1056138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E2B3A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3352800"/>
            <a:ext cx="4010025" cy="6267450"/>
            <a:chOff x="0" y="0"/>
            <a:chExt cx="1056138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E2B3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11225" y="3352800"/>
            <a:ext cx="4010025" cy="6267450"/>
            <a:chOff x="0" y="0"/>
            <a:chExt cx="1056138" cy="16506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E2B3A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742950"/>
            <a:ext cx="169545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1E2B3A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Project Management Tools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69769" y="6019800"/>
            <a:ext cx="3603986" cy="1879600"/>
            <a:chOff x="0" y="0"/>
            <a:chExt cx="4805315" cy="250613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38100"/>
              <a:ext cx="4805315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F0F3F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Gantt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1588" y="132715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</a:pPr>
              <a:r>
                <a:rPr lang="en-US" sz="2499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Visual timeline for project tasks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70786" y="6019800"/>
            <a:ext cx="3031604" cy="1879600"/>
            <a:chOff x="0" y="0"/>
            <a:chExt cx="4042139" cy="250613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38100"/>
              <a:ext cx="4042139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F0F3F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Charter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32715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Document defining project scope clearly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785611" y="6019800"/>
            <a:ext cx="3031604" cy="2317750"/>
            <a:chOff x="0" y="0"/>
            <a:chExt cx="4042139" cy="3090333"/>
          </a:xfrm>
        </p:grpSpPr>
        <p:sp>
          <p:nvSpPr>
            <p:cNvPr id="22" name="TextBox 22"/>
            <p:cNvSpPr txBox="1"/>
            <p:nvPr/>
          </p:nvSpPr>
          <p:spPr>
            <a:xfrm>
              <a:off x="0" y="38100"/>
              <a:ext cx="4042139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F0F3F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Risk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327150"/>
              <a:ext cx="4042139" cy="1763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Identifying and managing potential issues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103701" y="6019800"/>
            <a:ext cx="3025073" cy="2565400"/>
            <a:chOff x="0" y="0"/>
            <a:chExt cx="4033431" cy="3420533"/>
          </a:xfrm>
        </p:grpSpPr>
        <p:sp>
          <p:nvSpPr>
            <p:cNvPr id="25" name="TextBox 25"/>
            <p:cNvSpPr txBox="1"/>
            <p:nvPr/>
          </p:nvSpPr>
          <p:spPr>
            <a:xfrm>
              <a:off x="0" y="38100"/>
              <a:ext cx="4033431" cy="2095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F0F3F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Communication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2241550"/>
              <a:ext cx="4033431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Plans for stakeholder information sharing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172010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03493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34975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66458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1201400" cy="4117938"/>
            <a:chOff x="0" y="0"/>
            <a:chExt cx="14935200" cy="5490584"/>
          </a:xfrm>
        </p:grpSpPr>
        <p:sp>
          <p:nvSpPr>
            <p:cNvPr id="3" name="TextBox 3"/>
            <p:cNvSpPr txBox="1"/>
            <p:nvPr/>
          </p:nvSpPr>
          <p:spPr>
            <a:xfrm>
              <a:off x="0" y="76200"/>
              <a:ext cx="14935200" cy="175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00"/>
                </a:lnSpc>
                <a:spcBef>
                  <a:spcPct val="0"/>
                </a:spcBef>
              </a:pPr>
              <a:r>
                <a:rPr lang="en-US" sz="9000" b="1" u="none" strike="noStrike" spc="-89">
                  <a:solidFill>
                    <a:srgbClr val="F0F3F7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Practical Applications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8100" y="2000250"/>
              <a:ext cx="14897100" cy="654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 u="none" strike="noStrike">
                  <a:solidFill>
                    <a:srgbClr val="F0F3F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Utilizing Data Visualization in Projects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8100" y="3143200"/>
              <a:ext cx="11061700" cy="2347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Effective project management relies on </a:t>
              </a:r>
              <a:r>
                <a:rPr lang="en-US" sz="2499" b="1" u="none" strike="noStrike">
                  <a:solidFill>
                    <a:srgbClr val="F0F3F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data visualization</a:t>
              </a:r>
              <a:r>
                <a:rPr lang="en-US" sz="2499" u="none" strike="noStrike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to track progress. Dashboards and KPIs provide insights, making status communication clear and engaging for stakeholders across all levels.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838950"/>
            <a:ext cx="5448300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Visualize progress with dashboards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19850" y="6838950"/>
            <a:ext cx="5448300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Monitor KPIs for success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72950" y="6838950"/>
            <a:ext cx="5448300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Utilize digital project management software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5025" y="1638300"/>
            <a:ext cx="14077950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</a:pPr>
            <a:r>
              <a:rPr lang="en-US" sz="9000" b="1" spc="-89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Effective Project Tracking and Reporting Tools</a:t>
            </a:r>
          </a:p>
        </p:txBody>
      </p:sp>
      <p:sp>
        <p:nvSpPr>
          <p:cNvPr id="6" name="Freeform 6"/>
          <p:cNvSpPr/>
          <p:nvPr/>
        </p:nvSpPr>
        <p:spPr>
          <a:xfrm>
            <a:off x="2439246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8" y="0"/>
                </a:lnTo>
                <a:lnTo>
                  <a:pt x="1903308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119800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859107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838950"/>
            <a:ext cx="5448300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Comprehensive project planning and tracking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19850" y="6838950"/>
            <a:ext cx="5448300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Agile task management and collaboration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72950" y="6838950"/>
            <a:ext cx="5448300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User-friendly for small teams and projects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5025" y="1638300"/>
            <a:ext cx="14077950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</a:pPr>
            <a:r>
              <a:rPr lang="en-US" sz="9000" b="1" spc="-89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Project Management Tools: MS Project, Jira, Trello</a:t>
            </a:r>
          </a:p>
        </p:txBody>
      </p:sp>
      <p:sp>
        <p:nvSpPr>
          <p:cNvPr id="6" name="Freeform 6"/>
          <p:cNvSpPr/>
          <p:nvPr/>
        </p:nvSpPr>
        <p:spPr>
          <a:xfrm>
            <a:off x="2439246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8" y="0"/>
                </a:lnTo>
                <a:lnTo>
                  <a:pt x="1903308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119800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859107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397750"/>
            <a:ext cx="6886575" cy="222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Track project progress with dashboards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Use KPIs for performance measurement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Employ visual reporting to engage stakeholders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>
                <a:solidFill>
                  <a:srgbClr val="F0F3F7"/>
                </a:solidFill>
                <a:latin typeface="Nyutro Sans"/>
                <a:ea typeface="Nyutro Sans"/>
                <a:cs typeface="Nyutro Sans"/>
                <a:sym typeface="Nyutro Sans"/>
              </a:rPr>
              <a:t>Leverage tools like MS Project and Trello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742950"/>
            <a:ext cx="6886575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Visualization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96400" y="666750"/>
            <a:ext cx="8324850" cy="8953500"/>
            <a:chOff x="0" y="0"/>
            <a:chExt cx="2576171" cy="27707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76172" cy="2770723"/>
            </a:xfrm>
            <a:custGeom>
              <a:avLst/>
              <a:gdLst/>
              <a:ahLst/>
              <a:cxnLst/>
              <a:rect l="l" t="t" r="r" b="b"/>
              <a:pathLst>
                <a:path w="2576172" h="2770723">
                  <a:moveTo>
                    <a:pt x="208873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398500" y="2770723"/>
                  </a:lnTo>
                  <a:cubicBezTo>
                    <a:pt x="2496626" y="2770723"/>
                    <a:pt x="2576172" y="2691176"/>
                    <a:pt x="2576172" y="2593050"/>
                  </a:cubicBezTo>
                  <a:lnTo>
                    <a:pt x="2576172" y="523958"/>
                  </a:lnTo>
                  <a:cubicBezTo>
                    <a:pt x="2576172" y="480251"/>
                    <a:pt x="2560063" y="438079"/>
                    <a:pt x="2530924" y="405503"/>
                  </a:cubicBezTo>
                  <a:lnTo>
                    <a:pt x="2221146" y="59214"/>
                  </a:lnTo>
                  <a:cubicBezTo>
                    <a:pt x="2187442" y="21536"/>
                    <a:pt x="2139283" y="0"/>
                    <a:pt x="2088730" y="0"/>
                  </a:cubicBezTo>
                  <a:close/>
                </a:path>
              </a:pathLst>
            </a:custGeom>
            <a:blipFill>
              <a:blip r:embed="rId2"/>
              <a:stretch>
                <a:fillRect t="-258" b="-258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1201400" cy="5146638"/>
            <a:chOff x="0" y="0"/>
            <a:chExt cx="14935200" cy="6862184"/>
          </a:xfrm>
        </p:grpSpPr>
        <p:sp>
          <p:nvSpPr>
            <p:cNvPr id="3" name="TextBox 3"/>
            <p:cNvSpPr txBox="1"/>
            <p:nvPr/>
          </p:nvSpPr>
          <p:spPr>
            <a:xfrm>
              <a:off x="0" y="76200"/>
              <a:ext cx="14935200" cy="3124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00"/>
                </a:lnSpc>
                <a:spcBef>
                  <a:spcPct val="0"/>
                </a:spcBef>
              </a:pPr>
              <a:r>
                <a:rPr lang="en-US" sz="9000" b="1" u="none" strike="noStrike" spc="-89">
                  <a:solidFill>
                    <a:srgbClr val="F0F3F7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Conclusion and Next Steps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8100" y="3371850"/>
              <a:ext cx="14897100" cy="654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 u="none" strike="noStrike">
                  <a:solidFill>
                    <a:srgbClr val="F0F3F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Embracing Project Management for Growth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8100" y="4514800"/>
              <a:ext cx="11061700" cy="2347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>
                  <a:solidFill>
                    <a:srgbClr val="F0F3F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Structured project management</a:t>
              </a:r>
              <a:r>
                <a:rPr lang="en-US" sz="2499" u="none" strike="noStrike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is vital for successful outcomes. Adopting digital tools enhances efficiency and encourages </a:t>
              </a:r>
              <a:r>
                <a:rPr lang="en-US" sz="2499" b="1" u="none" strike="noStrike">
                  <a:solidFill>
                    <a:srgbClr val="F0F3F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data-driven decision-making</a:t>
              </a:r>
              <a:r>
                <a:rPr lang="en-US" sz="2499" u="none" strike="noStrike">
                  <a:solidFill>
                    <a:srgbClr val="F0F3F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, paving the way for ongoing professional development and success.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838950"/>
            <a:ext cx="5448300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F0F3F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Enhances overall project efficiency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19850" y="6838950"/>
            <a:ext cx="5448300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F0F3F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Mitigates potential risks effectively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72950" y="6838950"/>
            <a:ext cx="5448300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F0F3F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Aligns stakeholders towards goals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5025" y="1638300"/>
            <a:ext cx="14077950" cy="221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96"/>
              </a:lnSpc>
            </a:pPr>
            <a:r>
              <a:rPr lang="en-US" sz="8662" b="1" spc="-86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The Importance of Structured Project Management</a:t>
            </a:r>
          </a:p>
        </p:txBody>
      </p:sp>
      <p:sp>
        <p:nvSpPr>
          <p:cNvPr id="6" name="Freeform 6"/>
          <p:cNvSpPr/>
          <p:nvPr/>
        </p:nvSpPr>
        <p:spPr>
          <a:xfrm>
            <a:off x="2439246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8" y="0"/>
                </a:lnTo>
                <a:lnTo>
                  <a:pt x="1903308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119800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859107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17773" y="6934200"/>
            <a:ext cx="19247032" cy="4815863"/>
            <a:chOff x="0" y="0"/>
            <a:chExt cx="5069177" cy="12683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69177" cy="1268375"/>
            </a:xfrm>
            <a:custGeom>
              <a:avLst/>
              <a:gdLst/>
              <a:ahLst/>
              <a:cxnLst/>
              <a:rect l="l" t="t" r="r" b="b"/>
              <a:pathLst>
                <a:path w="5069177" h="1268375">
                  <a:moveTo>
                    <a:pt x="0" y="0"/>
                  </a:moveTo>
                  <a:lnTo>
                    <a:pt x="5069177" y="0"/>
                  </a:lnTo>
                  <a:lnTo>
                    <a:pt x="5069177" y="1268375"/>
                  </a:lnTo>
                  <a:lnTo>
                    <a:pt x="0" y="1268375"/>
                  </a:lnTo>
                  <a:close/>
                </a:path>
              </a:pathLst>
            </a:custGeom>
            <a:solidFill>
              <a:srgbClr val="F0F3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5069177" cy="1277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7829550"/>
            <a:ext cx="4010025" cy="904575"/>
            <a:chOff x="0" y="0"/>
            <a:chExt cx="5346700" cy="1206100"/>
          </a:xfrm>
        </p:grpSpPr>
        <p:sp>
          <p:nvSpPr>
            <p:cNvPr id="6" name="TextBox 6"/>
            <p:cNvSpPr txBox="1"/>
            <p:nvPr/>
          </p:nvSpPr>
          <p:spPr>
            <a:xfrm>
              <a:off x="0" y="611316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1E2B3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hello@reallygreatsite.com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 b="1">
                  <a:solidFill>
                    <a:srgbClr val="1E2B3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Email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81575" y="7829550"/>
            <a:ext cx="4010025" cy="904575"/>
            <a:chOff x="0" y="0"/>
            <a:chExt cx="5346700" cy="1206100"/>
          </a:xfrm>
        </p:grpSpPr>
        <p:sp>
          <p:nvSpPr>
            <p:cNvPr id="9" name="TextBox 9"/>
            <p:cNvSpPr txBox="1"/>
            <p:nvPr/>
          </p:nvSpPr>
          <p:spPr>
            <a:xfrm>
              <a:off x="0" y="611316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1E2B3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@reallygreatsite.com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>
                  <a:solidFill>
                    <a:srgbClr val="1E2B3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Social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7829550"/>
            <a:ext cx="4010025" cy="904575"/>
            <a:chOff x="0" y="0"/>
            <a:chExt cx="5346700" cy="12061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611316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>
                  <a:solidFill>
                    <a:srgbClr val="1E2B3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123-456-7890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>
                  <a:solidFill>
                    <a:srgbClr val="1E2B3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Phone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742950"/>
            <a:ext cx="14077950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F0F3F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Questions and Contact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</Words>
  <Application>Microsoft Office PowerPoint</Application>
  <PresentationFormat>Custom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Nyutro Sans Heavy</vt:lpstr>
      <vt:lpstr>Nyutro Sans Bold</vt:lpstr>
      <vt:lpstr>Nyutro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Project Management: Strategies for Success</dc:title>
  <dc:creator>PADMANAVA</dc:creator>
  <dc:description>Presentation - Project Management: Strategies for Success</dc:description>
  <cp:lastModifiedBy>mojumderpadmanava@gmail.com</cp:lastModifiedBy>
  <cp:revision>1</cp:revision>
  <dcterms:created xsi:type="dcterms:W3CDTF">2006-08-16T00:00:00Z</dcterms:created>
  <dcterms:modified xsi:type="dcterms:W3CDTF">2025-10-18T06:25:37Z</dcterms:modified>
  <dc:identifier>DAG13_IQOb0</dc:identifier>
</cp:coreProperties>
</file>