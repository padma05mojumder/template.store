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Work Sans" panose="020F0502020204030204" pitchFamily="2" charset="0"/>
      <p:regular r:id="rId12"/>
    </p:embeddedFont>
    <p:embeddedFont>
      <p:font typeface="Work Sans Bold" panose="020B0604020202020204" charset="0"/>
      <p:regular r:id="rId13"/>
    </p:embeddedFont>
    <p:embeddedFont>
      <p:font typeface="Work Sans Semi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0F34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734675" y="7834471"/>
            <a:ext cx="6886575" cy="1785779"/>
            <a:chOff x="0" y="0"/>
            <a:chExt cx="1813748" cy="4703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13748" cy="470329"/>
            </a:xfrm>
            <a:custGeom>
              <a:avLst/>
              <a:gdLst/>
              <a:ahLst/>
              <a:cxnLst/>
              <a:rect l="l" t="t" r="r" b="b"/>
              <a:pathLst>
                <a:path w="1813748" h="470329">
                  <a:moveTo>
                    <a:pt x="44968" y="0"/>
                  </a:moveTo>
                  <a:lnTo>
                    <a:pt x="1768780" y="0"/>
                  </a:lnTo>
                  <a:cubicBezTo>
                    <a:pt x="1780706" y="0"/>
                    <a:pt x="1792144" y="4738"/>
                    <a:pt x="1800577" y="13171"/>
                  </a:cubicBezTo>
                  <a:cubicBezTo>
                    <a:pt x="1809011" y="21604"/>
                    <a:pt x="1813748" y="33042"/>
                    <a:pt x="1813748" y="44968"/>
                  </a:cubicBezTo>
                  <a:lnTo>
                    <a:pt x="1813748" y="425360"/>
                  </a:lnTo>
                  <a:cubicBezTo>
                    <a:pt x="1813748" y="437287"/>
                    <a:pt x="1809011" y="448724"/>
                    <a:pt x="1800577" y="457158"/>
                  </a:cubicBezTo>
                  <a:cubicBezTo>
                    <a:pt x="1792144" y="465591"/>
                    <a:pt x="1780706" y="470329"/>
                    <a:pt x="1768780" y="470329"/>
                  </a:cubicBezTo>
                  <a:lnTo>
                    <a:pt x="44968" y="470329"/>
                  </a:lnTo>
                  <a:cubicBezTo>
                    <a:pt x="33042" y="470329"/>
                    <a:pt x="21604" y="465591"/>
                    <a:pt x="13171" y="457158"/>
                  </a:cubicBezTo>
                  <a:cubicBezTo>
                    <a:pt x="4738" y="448724"/>
                    <a:pt x="0" y="437287"/>
                    <a:pt x="0" y="425360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13748" cy="527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34675" y="3657600"/>
            <a:ext cx="6886575" cy="3872071"/>
            <a:chOff x="0" y="0"/>
            <a:chExt cx="1066911" cy="5998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6911" cy="599885"/>
            </a:xfrm>
            <a:custGeom>
              <a:avLst/>
              <a:gdLst/>
              <a:ahLst/>
              <a:cxnLst/>
              <a:rect l="l" t="t" r="r" b="b"/>
              <a:pathLst>
                <a:path w="1066911" h="599885">
                  <a:moveTo>
                    <a:pt x="44968" y="0"/>
                  </a:moveTo>
                  <a:lnTo>
                    <a:pt x="1021942" y="0"/>
                  </a:lnTo>
                  <a:cubicBezTo>
                    <a:pt x="1033869" y="0"/>
                    <a:pt x="1045307" y="4738"/>
                    <a:pt x="1053740" y="13171"/>
                  </a:cubicBezTo>
                  <a:cubicBezTo>
                    <a:pt x="1062173" y="21604"/>
                    <a:pt x="1066911" y="33042"/>
                    <a:pt x="1066911" y="44968"/>
                  </a:cubicBezTo>
                  <a:lnTo>
                    <a:pt x="1066911" y="554917"/>
                  </a:lnTo>
                  <a:cubicBezTo>
                    <a:pt x="1066911" y="566843"/>
                    <a:pt x="1062173" y="578281"/>
                    <a:pt x="1053740" y="586714"/>
                  </a:cubicBezTo>
                  <a:cubicBezTo>
                    <a:pt x="1045307" y="595147"/>
                    <a:pt x="1033869" y="599885"/>
                    <a:pt x="1021942" y="599885"/>
                  </a:cubicBezTo>
                  <a:lnTo>
                    <a:pt x="44968" y="599885"/>
                  </a:lnTo>
                  <a:cubicBezTo>
                    <a:pt x="33042" y="599885"/>
                    <a:pt x="21604" y="595147"/>
                    <a:pt x="13171" y="586714"/>
                  </a:cubicBezTo>
                  <a:cubicBezTo>
                    <a:pt x="4738" y="578281"/>
                    <a:pt x="0" y="566843"/>
                    <a:pt x="0" y="554917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202" r="-20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66750" y="3657600"/>
            <a:ext cx="9763125" cy="5962650"/>
            <a:chOff x="0" y="0"/>
            <a:chExt cx="4083676" cy="2494030"/>
          </a:xfrm>
        </p:grpSpPr>
        <p:sp>
          <p:nvSpPr>
            <p:cNvPr id="10" name="Freeform 10"/>
            <p:cNvSpPr/>
            <p:nvPr/>
          </p:nvSpPr>
          <p:spPr>
            <a:xfrm>
              <a:off x="54483" y="50038"/>
              <a:ext cx="3974583" cy="2394589"/>
            </a:xfrm>
            <a:custGeom>
              <a:avLst/>
              <a:gdLst/>
              <a:ahLst/>
              <a:cxnLst/>
              <a:rect l="l" t="t" r="r" b="b"/>
              <a:pathLst>
                <a:path w="3974583" h="2394589">
                  <a:moveTo>
                    <a:pt x="3886953" y="2394589"/>
                  </a:moveTo>
                  <a:lnTo>
                    <a:pt x="87757" y="2394589"/>
                  </a:lnTo>
                  <a:cubicBezTo>
                    <a:pt x="39370" y="2394589"/>
                    <a:pt x="0" y="2355346"/>
                    <a:pt x="0" y="2306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886826" y="0"/>
                  </a:lnTo>
                  <a:cubicBezTo>
                    <a:pt x="3935213" y="0"/>
                    <a:pt x="3974583" y="39243"/>
                    <a:pt x="3974583" y="87757"/>
                  </a:cubicBezTo>
                  <a:lnTo>
                    <a:pt x="3974583" y="2306832"/>
                  </a:lnTo>
                  <a:cubicBezTo>
                    <a:pt x="3974583" y="2355219"/>
                    <a:pt x="3935340" y="2394589"/>
                    <a:pt x="3886826" y="2394589"/>
                  </a:cubicBezTo>
                  <a:close/>
                </a:path>
              </a:pathLst>
            </a:custGeom>
            <a:blipFill>
              <a:blip r:embed="rId3"/>
              <a:stretch>
                <a:fillRect t="-209" b="-209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4083549" cy="2493903"/>
            </a:xfrm>
            <a:custGeom>
              <a:avLst/>
              <a:gdLst/>
              <a:ahLst/>
              <a:cxnLst/>
              <a:rect l="l" t="t" r="r" b="b"/>
              <a:pathLst>
                <a:path w="4083549" h="2493903">
                  <a:moveTo>
                    <a:pt x="0" y="91567"/>
                  </a:moveTo>
                  <a:lnTo>
                    <a:pt x="0" y="2402337"/>
                  </a:lnTo>
                  <a:cubicBezTo>
                    <a:pt x="0" y="2452882"/>
                    <a:pt x="41021" y="2493903"/>
                    <a:pt x="91567" y="2493903"/>
                  </a:cubicBezTo>
                  <a:lnTo>
                    <a:pt x="3991982" y="2493903"/>
                  </a:lnTo>
                  <a:cubicBezTo>
                    <a:pt x="4042528" y="2493903"/>
                    <a:pt x="4083549" y="2452882"/>
                    <a:pt x="4083549" y="2402337"/>
                  </a:cubicBezTo>
                  <a:lnTo>
                    <a:pt x="4083549" y="91567"/>
                  </a:lnTo>
                  <a:cubicBezTo>
                    <a:pt x="4083549" y="41021"/>
                    <a:pt x="4042528" y="0"/>
                    <a:pt x="3991982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3241793" y="331724"/>
                  </a:moveTo>
                  <a:lnTo>
                    <a:pt x="3900923" y="331724"/>
                  </a:lnTo>
                  <a:cubicBezTo>
                    <a:pt x="3951469" y="331724"/>
                    <a:pt x="3992490" y="372745"/>
                    <a:pt x="3992490" y="423291"/>
                  </a:cubicBezTo>
                  <a:lnTo>
                    <a:pt x="3992490" y="2311277"/>
                  </a:lnTo>
                  <a:cubicBezTo>
                    <a:pt x="3992490" y="2361823"/>
                    <a:pt x="3951469" y="2402844"/>
                    <a:pt x="3900923" y="2402844"/>
                  </a:cubicBezTo>
                  <a:lnTo>
                    <a:pt x="182753" y="2402844"/>
                  </a:lnTo>
                  <a:cubicBezTo>
                    <a:pt x="132207" y="2402844"/>
                    <a:pt x="91186" y="2361823"/>
                    <a:pt x="91186" y="2311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944740" y="91186"/>
                  </a:lnTo>
                  <a:cubicBezTo>
                    <a:pt x="2970775" y="91186"/>
                    <a:pt x="2995667" y="102235"/>
                    <a:pt x="3013066" y="121666"/>
                  </a:cubicBezTo>
                  <a:lnTo>
                    <a:pt x="3173721" y="301244"/>
                  </a:lnTo>
                  <a:cubicBezTo>
                    <a:pt x="3191120" y="320675"/>
                    <a:pt x="3215885" y="331724"/>
                    <a:pt x="3242047" y="331724"/>
                  </a:cubicBezTo>
                  <a:lnTo>
                    <a:pt x="3241793" y="331724"/>
                  </a:lnTo>
                  <a:close/>
                </a:path>
              </a:pathLst>
            </a:custGeom>
            <a:solidFill>
              <a:srgbClr val="E94560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5220953" y="1376364"/>
            <a:ext cx="1266822" cy="1266822"/>
          </a:xfrm>
          <a:custGeom>
            <a:avLst/>
            <a:gdLst/>
            <a:ahLst/>
            <a:cxnLst/>
            <a:rect l="l" t="t" r="r" b="b"/>
            <a:pathLst>
              <a:path w="1266822" h="1266822">
                <a:moveTo>
                  <a:pt x="0" y="0"/>
                </a:moveTo>
                <a:lnTo>
                  <a:pt x="1266822" y="0"/>
                </a:lnTo>
                <a:lnTo>
                  <a:pt x="1266822" y="1266822"/>
                </a:lnTo>
                <a:lnTo>
                  <a:pt x="0" y="126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20434" y="1570221"/>
            <a:ext cx="13424266" cy="10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00"/>
              </a:lnSpc>
            </a:pPr>
            <a:r>
              <a:rPr lang="en-US" sz="8000" b="1" spc="-440">
                <a:solidFill>
                  <a:srgbClr val="F7F7F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Crafting Your Portfolio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388359" y="8167816"/>
            <a:ext cx="5603210" cy="999890"/>
            <a:chOff x="0" y="0"/>
            <a:chExt cx="7470947" cy="133318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47625"/>
              <a:ext cx="7470947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 spc="-165">
                  <a:solidFill>
                    <a:srgbClr val="CCCCCC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Presented by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75962"/>
              <a:ext cx="7470947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spc="-16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[Your Name Here]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3657600"/>
            <a:ext cx="16964025" cy="5962650"/>
            <a:chOff x="0" y="0"/>
            <a:chExt cx="4467891" cy="15704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67891" cy="1570410"/>
            </a:xfrm>
            <a:custGeom>
              <a:avLst/>
              <a:gdLst/>
              <a:ahLst/>
              <a:cxnLst/>
              <a:rect l="l" t="t" r="r" b="b"/>
              <a:pathLst>
                <a:path w="4467891" h="1570410">
                  <a:moveTo>
                    <a:pt x="18255" y="0"/>
                  </a:moveTo>
                  <a:lnTo>
                    <a:pt x="4449636" y="0"/>
                  </a:lnTo>
                  <a:cubicBezTo>
                    <a:pt x="4454478" y="0"/>
                    <a:pt x="4459121" y="1923"/>
                    <a:pt x="4462545" y="5347"/>
                  </a:cubicBezTo>
                  <a:cubicBezTo>
                    <a:pt x="4465968" y="8770"/>
                    <a:pt x="4467891" y="13413"/>
                    <a:pt x="4467891" y="18255"/>
                  </a:cubicBezTo>
                  <a:lnTo>
                    <a:pt x="4467891" y="1552155"/>
                  </a:lnTo>
                  <a:cubicBezTo>
                    <a:pt x="4467891" y="1556996"/>
                    <a:pt x="4465968" y="1561640"/>
                    <a:pt x="4462545" y="1565063"/>
                  </a:cubicBezTo>
                  <a:cubicBezTo>
                    <a:pt x="4459121" y="1568487"/>
                    <a:pt x="4454478" y="1570410"/>
                    <a:pt x="4449636" y="1570410"/>
                  </a:cubicBezTo>
                  <a:lnTo>
                    <a:pt x="18255" y="1570410"/>
                  </a:lnTo>
                  <a:cubicBezTo>
                    <a:pt x="13413" y="1570410"/>
                    <a:pt x="8770" y="1568487"/>
                    <a:pt x="5347" y="1565063"/>
                  </a:cubicBezTo>
                  <a:cubicBezTo>
                    <a:pt x="1923" y="1561640"/>
                    <a:pt x="0" y="1556996"/>
                    <a:pt x="0" y="1552155"/>
                  </a:cubicBezTo>
                  <a:lnTo>
                    <a:pt x="0" y="18255"/>
                  </a:lnTo>
                  <a:cubicBezTo>
                    <a:pt x="0" y="13413"/>
                    <a:pt x="1923" y="8770"/>
                    <a:pt x="5347" y="5347"/>
                  </a:cubicBezTo>
                  <a:cubicBezTo>
                    <a:pt x="8770" y="1923"/>
                    <a:pt x="13413" y="0"/>
                    <a:pt x="18255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467891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05025" y="1641475"/>
            <a:ext cx="14077950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</a:pPr>
            <a:r>
              <a:rPr lang="en-US" sz="6999" b="1" spc="-384">
                <a:solidFill>
                  <a:srgbClr val="F7F7F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Introduction to Digital Portfolios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05025" y="4219575"/>
            <a:ext cx="9763125" cy="308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30"/>
              </a:lnSpc>
            </a:pPr>
            <a:r>
              <a:rPr lang="en-US" sz="2100" spc="-115">
                <a:solidFill>
                  <a:srgbClr val="F7F7F7"/>
                </a:solidFill>
                <a:latin typeface="Work Sans"/>
                <a:ea typeface="Work Sans"/>
                <a:cs typeface="Work Sans"/>
                <a:sym typeface="Work Sans"/>
              </a:rPr>
              <a:t>Digital portfolios are becoming essential in the professional landscape. They offer </a:t>
            </a:r>
            <a:r>
              <a:rPr lang="en-US" sz="2100" b="1" spc="-115">
                <a:solidFill>
                  <a:srgbClr val="F7F7F7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unmatched accessibility</a:t>
            </a:r>
            <a:r>
              <a:rPr lang="en-US" sz="2100" spc="-115">
                <a:solidFill>
                  <a:srgbClr val="F7F7F7"/>
                </a:solidFill>
                <a:latin typeface="Work Sans"/>
                <a:ea typeface="Work Sans"/>
                <a:cs typeface="Work Sans"/>
                <a:sym typeface="Work Sans"/>
              </a:rPr>
              <a:t>, allowing potential employers to view your work anytime and anywhere. Additionally, dynamic content showcases your skills and experiences in an engaging way, making it easier to convey your professional narrative.</a:t>
            </a:r>
          </a:p>
          <a:p>
            <a:pPr marL="0" lvl="0" indent="0" algn="l">
              <a:lnSpc>
                <a:spcPts val="2730"/>
              </a:lnSpc>
            </a:pPr>
            <a:r>
              <a:rPr lang="en-US" sz="2100" spc="-115">
                <a:solidFill>
                  <a:srgbClr val="F7F7F7"/>
                </a:solidFill>
                <a:latin typeface="Work Sans"/>
                <a:ea typeface="Work Sans"/>
                <a:cs typeface="Work Sans"/>
                <a:sym typeface="Work Sans"/>
              </a:rPr>
              <a:t>The importance of </a:t>
            </a:r>
            <a:r>
              <a:rPr lang="en-US" sz="2100" b="1" spc="-115">
                <a:solidFill>
                  <a:srgbClr val="F7F7F7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personal branding</a:t>
            </a:r>
            <a:r>
              <a:rPr lang="en-US" sz="2100" spc="-115">
                <a:solidFill>
                  <a:srgbClr val="F7F7F7"/>
                </a:solidFill>
                <a:latin typeface="Work Sans"/>
                <a:ea typeface="Work Sans"/>
                <a:cs typeface="Work Sans"/>
                <a:sym typeface="Work Sans"/>
              </a:rPr>
              <a:t> cannot be overstated; a well-crafted digital portfolio reflects your unique identity and values, helping you stand out in a competitive market. Investing time in creating an impactful portfolio can significantly enhance your career opportunities and professional presence.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19850" y="3657600"/>
            <a:ext cx="5448300" cy="2828925"/>
            <a:chOff x="0" y="0"/>
            <a:chExt cx="1434943" cy="7450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34943" cy="745067"/>
            </a:xfrm>
            <a:custGeom>
              <a:avLst/>
              <a:gdLst/>
              <a:ahLst/>
              <a:cxnLst/>
              <a:rect l="l" t="t" r="r" b="b"/>
              <a:pathLst>
                <a:path w="1434943" h="745067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688228"/>
                  </a:lnTo>
                  <a:cubicBezTo>
                    <a:pt x="1434943" y="719619"/>
                    <a:pt x="1409495" y="745067"/>
                    <a:pt x="1378104" y="745067"/>
                  </a:cubicBezTo>
                  <a:lnTo>
                    <a:pt x="56839" y="745067"/>
                  </a:lnTo>
                  <a:cubicBezTo>
                    <a:pt x="25448" y="745067"/>
                    <a:pt x="0" y="719619"/>
                    <a:pt x="0" y="688228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434943" cy="792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5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3657600"/>
            <a:ext cx="5448300" cy="2828925"/>
            <a:chOff x="0" y="0"/>
            <a:chExt cx="1434943" cy="7450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34943" cy="745067"/>
            </a:xfrm>
            <a:custGeom>
              <a:avLst/>
              <a:gdLst/>
              <a:ahLst/>
              <a:cxnLst/>
              <a:rect l="l" t="t" r="r" b="b"/>
              <a:pathLst>
                <a:path w="1434943" h="745067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688228"/>
                  </a:lnTo>
                  <a:cubicBezTo>
                    <a:pt x="1434943" y="719619"/>
                    <a:pt x="1409495" y="745067"/>
                    <a:pt x="1378104" y="745067"/>
                  </a:cubicBezTo>
                  <a:lnTo>
                    <a:pt x="56839" y="745067"/>
                  </a:lnTo>
                  <a:cubicBezTo>
                    <a:pt x="25448" y="745067"/>
                    <a:pt x="0" y="719619"/>
                    <a:pt x="0" y="688228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434943" cy="792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53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19850" y="6791325"/>
            <a:ext cx="5448300" cy="2828925"/>
            <a:chOff x="0" y="0"/>
            <a:chExt cx="1434943" cy="7450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34943" cy="745067"/>
            </a:xfrm>
            <a:custGeom>
              <a:avLst/>
              <a:gdLst/>
              <a:ahLst/>
              <a:cxnLst/>
              <a:rect l="l" t="t" r="r" b="b"/>
              <a:pathLst>
                <a:path w="1434943" h="745067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688228"/>
                  </a:lnTo>
                  <a:cubicBezTo>
                    <a:pt x="1434943" y="719619"/>
                    <a:pt x="1409495" y="745067"/>
                    <a:pt x="1378104" y="745067"/>
                  </a:cubicBezTo>
                  <a:lnTo>
                    <a:pt x="56839" y="745067"/>
                  </a:lnTo>
                  <a:cubicBezTo>
                    <a:pt x="25448" y="745067"/>
                    <a:pt x="0" y="719619"/>
                    <a:pt x="0" y="688228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434943" cy="792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5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6750" y="6791325"/>
            <a:ext cx="5448300" cy="2828925"/>
            <a:chOff x="0" y="0"/>
            <a:chExt cx="1434943" cy="7450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34943" cy="745067"/>
            </a:xfrm>
            <a:custGeom>
              <a:avLst/>
              <a:gdLst/>
              <a:ahLst/>
              <a:cxnLst/>
              <a:rect l="l" t="t" r="r" b="b"/>
              <a:pathLst>
                <a:path w="1434943" h="745067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688228"/>
                  </a:lnTo>
                  <a:cubicBezTo>
                    <a:pt x="1434943" y="719619"/>
                    <a:pt x="1409495" y="745067"/>
                    <a:pt x="1378104" y="745067"/>
                  </a:cubicBezTo>
                  <a:lnTo>
                    <a:pt x="56839" y="745067"/>
                  </a:lnTo>
                  <a:cubicBezTo>
                    <a:pt x="25448" y="745067"/>
                    <a:pt x="0" y="719619"/>
                    <a:pt x="0" y="688228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34943" cy="792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53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7092791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39691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092791" y="7381875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39691" y="7381875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2172950" y="3657600"/>
            <a:ext cx="5448300" cy="2828925"/>
            <a:chOff x="0" y="0"/>
            <a:chExt cx="1434943" cy="74506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34943" cy="745067"/>
            </a:xfrm>
            <a:custGeom>
              <a:avLst/>
              <a:gdLst/>
              <a:ahLst/>
              <a:cxnLst/>
              <a:rect l="l" t="t" r="r" b="b"/>
              <a:pathLst>
                <a:path w="1434943" h="745067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688228"/>
                  </a:lnTo>
                  <a:cubicBezTo>
                    <a:pt x="1434943" y="719619"/>
                    <a:pt x="1409495" y="745067"/>
                    <a:pt x="1378104" y="745067"/>
                  </a:cubicBezTo>
                  <a:lnTo>
                    <a:pt x="56839" y="745067"/>
                  </a:lnTo>
                  <a:cubicBezTo>
                    <a:pt x="25448" y="745067"/>
                    <a:pt x="0" y="719619"/>
                    <a:pt x="0" y="688228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434943" cy="792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53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172950" y="6791325"/>
            <a:ext cx="5448300" cy="2828925"/>
            <a:chOff x="0" y="0"/>
            <a:chExt cx="1434943" cy="74506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34943" cy="745067"/>
            </a:xfrm>
            <a:custGeom>
              <a:avLst/>
              <a:gdLst/>
              <a:ahLst/>
              <a:cxnLst/>
              <a:rect l="l" t="t" r="r" b="b"/>
              <a:pathLst>
                <a:path w="1434943" h="745067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688228"/>
                  </a:lnTo>
                  <a:cubicBezTo>
                    <a:pt x="1434943" y="719619"/>
                    <a:pt x="1409495" y="745067"/>
                    <a:pt x="1378104" y="745067"/>
                  </a:cubicBezTo>
                  <a:lnTo>
                    <a:pt x="56839" y="745067"/>
                  </a:lnTo>
                  <a:cubicBezTo>
                    <a:pt x="25448" y="745067"/>
                    <a:pt x="0" y="719619"/>
                    <a:pt x="0" y="688228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434943" cy="792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53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2825820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825820" y="7381875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2105025" y="1641475"/>
            <a:ext cx="14077950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  <a:spcBef>
                <a:spcPct val="0"/>
              </a:spcBef>
            </a:pPr>
            <a:r>
              <a:rPr lang="en-US" sz="6999" b="1" u="none" strike="noStrike" spc="-384">
                <a:solidFill>
                  <a:srgbClr val="F7F7F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Essential Components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858125" y="4248150"/>
            <a:ext cx="3530082" cy="1185968"/>
            <a:chOff x="0" y="0"/>
            <a:chExt cx="4706777" cy="1581290"/>
          </a:xfrm>
        </p:grpSpPr>
        <p:sp>
          <p:nvSpPr>
            <p:cNvPr id="30" name="TextBox 30"/>
            <p:cNvSpPr txBox="1"/>
            <p:nvPr/>
          </p:nvSpPr>
          <p:spPr>
            <a:xfrm>
              <a:off x="0" y="-9525"/>
              <a:ext cx="4706777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Showcase of Work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835165"/>
              <a:ext cx="4706777" cy="746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15"/>
                </a:lnSpc>
              </a:pPr>
              <a:r>
                <a:rPr lang="en-US" sz="1846" spc="-101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Highlight your best projects to demonstrate expertise.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105025" y="4248150"/>
            <a:ext cx="3530082" cy="1633643"/>
            <a:chOff x="0" y="0"/>
            <a:chExt cx="4706777" cy="2178190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9525"/>
              <a:ext cx="4706777" cy="120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Personal Introduction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1432065"/>
              <a:ext cx="4706777" cy="746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15"/>
                </a:lnSpc>
              </a:pPr>
              <a:r>
                <a:rPr lang="en-US" sz="1846" spc="-101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Include a photo and professional summary for connection.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58125" y="7381875"/>
            <a:ext cx="3530082" cy="1185968"/>
            <a:chOff x="0" y="0"/>
            <a:chExt cx="4706777" cy="1581290"/>
          </a:xfrm>
        </p:grpSpPr>
        <p:sp>
          <p:nvSpPr>
            <p:cNvPr id="36" name="TextBox 36"/>
            <p:cNvSpPr txBox="1"/>
            <p:nvPr/>
          </p:nvSpPr>
          <p:spPr>
            <a:xfrm>
              <a:off x="0" y="-9525"/>
              <a:ext cx="4706777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Blog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835165"/>
              <a:ext cx="4706777" cy="746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15"/>
                </a:lnSpc>
              </a:pPr>
              <a:r>
                <a:rPr lang="en-US" sz="1846" spc="-101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Share insights and thoughts to engage your audience.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105025" y="7381875"/>
            <a:ext cx="3530082" cy="1633643"/>
            <a:chOff x="0" y="0"/>
            <a:chExt cx="4706777" cy="2178190"/>
          </a:xfrm>
        </p:grpSpPr>
        <p:sp>
          <p:nvSpPr>
            <p:cNvPr id="39" name="TextBox 39"/>
            <p:cNvSpPr txBox="1"/>
            <p:nvPr/>
          </p:nvSpPr>
          <p:spPr>
            <a:xfrm>
              <a:off x="0" y="-9525"/>
              <a:ext cx="4706777" cy="120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Testimonials or References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1432065"/>
              <a:ext cx="4706777" cy="746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15"/>
                </a:lnSpc>
              </a:pPr>
              <a:r>
                <a:rPr lang="en-US" sz="1846" spc="-101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Gather positive feedback from clients or colleagues for credibility.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611225" y="4248150"/>
            <a:ext cx="3405249" cy="1185968"/>
            <a:chOff x="0" y="0"/>
            <a:chExt cx="4540332" cy="1581290"/>
          </a:xfrm>
        </p:grpSpPr>
        <p:sp>
          <p:nvSpPr>
            <p:cNvPr id="42" name="TextBox 42"/>
            <p:cNvSpPr txBox="1"/>
            <p:nvPr/>
          </p:nvSpPr>
          <p:spPr>
            <a:xfrm>
              <a:off x="0" y="-9525"/>
              <a:ext cx="4540332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Skills and Expertise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835165"/>
              <a:ext cx="4540332" cy="746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15"/>
                </a:lnSpc>
              </a:pPr>
              <a:r>
                <a:rPr lang="en-US" sz="1846" spc="-101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Clearly list skills and relevant endorsements or certifications.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611225" y="7381875"/>
            <a:ext cx="3405249" cy="1185968"/>
            <a:chOff x="0" y="0"/>
            <a:chExt cx="4540332" cy="1581290"/>
          </a:xfrm>
        </p:grpSpPr>
        <p:sp>
          <p:nvSpPr>
            <p:cNvPr id="45" name="TextBox 45"/>
            <p:cNvSpPr txBox="1"/>
            <p:nvPr/>
          </p:nvSpPr>
          <p:spPr>
            <a:xfrm>
              <a:off x="0" y="-9525"/>
              <a:ext cx="4540332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Awards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835165"/>
              <a:ext cx="4540332" cy="746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15"/>
                </a:lnSpc>
              </a:pPr>
              <a:r>
                <a:rPr lang="en-US" sz="1846" spc="-101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List any recognitions to enhance your professional credibility.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53354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2105025" y="1640880"/>
            <a:ext cx="12639675" cy="880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00"/>
              </a:lnSpc>
            </a:pPr>
            <a:r>
              <a:rPr lang="en-US" sz="6737" b="1" spc="-370">
                <a:solidFill>
                  <a:srgbClr val="E94560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Additional Essential Components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66750" y="3657600"/>
            <a:ext cx="5448300" cy="5962650"/>
            <a:chOff x="0" y="0"/>
            <a:chExt cx="1434943" cy="15704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570410"/>
            </a:xfrm>
            <a:custGeom>
              <a:avLst/>
              <a:gdLst/>
              <a:ahLst/>
              <a:cxnLst/>
              <a:rect l="l" t="t" r="r" b="b"/>
              <a:pathLst>
                <a:path w="1434943" h="1570410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13571"/>
                  </a:lnTo>
                  <a:cubicBezTo>
                    <a:pt x="1434943" y="1544962"/>
                    <a:pt x="1409495" y="1570410"/>
                    <a:pt x="1378104" y="1570410"/>
                  </a:cubicBezTo>
                  <a:lnTo>
                    <a:pt x="56839" y="1570410"/>
                  </a:lnTo>
                  <a:cubicBezTo>
                    <a:pt x="25448" y="1570410"/>
                    <a:pt x="0" y="1544962"/>
                    <a:pt x="0" y="1513571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9456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3494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9075" y="3946457"/>
            <a:ext cx="4773175" cy="3606286"/>
            <a:chOff x="0" y="0"/>
            <a:chExt cx="1940193" cy="14658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40195" cy="1465891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2"/>
              <a:stretch>
                <a:fillRect l="-118" r="-118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419850" y="3657600"/>
            <a:ext cx="5448300" cy="5962650"/>
            <a:chOff x="0" y="0"/>
            <a:chExt cx="1434943" cy="15704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34943" cy="1570410"/>
            </a:xfrm>
            <a:custGeom>
              <a:avLst/>
              <a:gdLst/>
              <a:ahLst/>
              <a:cxnLst/>
              <a:rect l="l" t="t" r="r" b="b"/>
              <a:pathLst>
                <a:path w="1434943" h="1570410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13571"/>
                  </a:lnTo>
                  <a:cubicBezTo>
                    <a:pt x="1434943" y="1544962"/>
                    <a:pt x="1409495" y="1570410"/>
                    <a:pt x="1378104" y="1570410"/>
                  </a:cubicBezTo>
                  <a:lnTo>
                    <a:pt x="56839" y="1570410"/>
                  </a:lnTo>
                  <a:cubicBezTo>
                    <a:pt x="25448" y="1570410"/>
                    <a:pt x="0" y="1544962"/>
                    <a:pt x="0" y="1513571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9456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43494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72950" y="3657600"/>
            <a:ext cx="5448300" cy="5962650"/>
            <a:chOff x="0" y="0"/>
            <a:chExt cx="1434943" cy="15704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34943" cy="1570410"/>
            </a:xfrm>
            <a:custGeom>
              <a:avLst/>
              <a:gdLst/>
              <a:ahLst/>
              <a:cxnLst/>
              <a:rect l="l" t="t" r="r" b="b"/>
              <a:pathLst>
                <a:path w="1434943" h="1570410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13571"/>
                  </a:lnTo>
                  <a:cubicBezTo>
                    <a:pt x="1434943" y="1544962"/>
                    <a:pt x="1409495" y="1570410"/>
                    <a:pt x="1378104" y="1570410"/>
                  </a:cubicBezTo>
                  <a:lnTo>
                    <a:pt x="56839" y="1570410"/>
                  </a:lnTo>
                  <a:cubicBezTo>
                    <a:pt x="25448" y="1570410"/>
                    <a:pt x="0" y="1544962"/>
                    <a:pt x="0" y="1513571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9456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43494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9075" y="7829550"/>
            <a:ext cx="4744025" cy="909828"/>
            <a:chOff x="0" y="0"/>
            <a:chExt cx="6325367" cy="1213104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19050"/>
              <a:ext cx="6324297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165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Professional Summary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762889"/>
              <a:ext cx="6325367" cy="45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0"/>
                </a:lnSpc>
              </a:pPr>
              <a:r>
                <a:rPr lang="en-US" sz="2100" spc="-115">
                  <a:solidFill>
                    <a:srgbClr val="F7F7F7"/>
                  </a:solidFill>
                  <a:latin typeface="Work Sans"/>
                  <a:ea typeface="Work Sans"/>
                  <a:cs typeface="Work Sans"/>
                  <a:sym typeface="Work Sans"/>
                </a:rPr>
                <a:t>A concise overview of your experience.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57412" y="7829550"/>
            <a:ext cx="4744025" cy="1252728"/>
            <a:chOff x="0" y="0"/>
            <a:chExt cx="6325367" cy="1670304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19050"/>
              <a:ext cx="6324297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165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Case Studies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762889"/>
              <a:ext cx="6325367" cy="9074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0"/>
                </a:lnSpc>
              </a:pPr>
              <a:r>
                <a:rPr lang="en-US" sz="2100" spc="-115">
                  <a:solidFill>
                    <a:srgbClr val="F7F7F7"/>
                  </a:solidFill>
                  <a:latin typeface="Work Sans"/>
                  <a:ea typeface="Work Sans"/>
                  <a:cs typeface="Work Sans"/>
                  <a:sym typeface="Work Sans"/>
                </a:rPr>
                <a:t>Highlighting key projects and their impact.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506325" y="7829550"/>
            <a:ext cx="4744025" cy="1252728"/>
            <a:chOff x="0" y="0"/>
            <a:chExt cx="6325367" cy="1670304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19050"/>
              <a:ext cx="6324297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165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Blog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762889"/>
              <a:ext cx="6325367" cy="9074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0"/>
                </a:lnSpc>
              </a:pPr>
              <a:r>
                <a:rPr lang="en-US" sz="2100" spc="-115">
                  <a:solidFill>
                    <a:srgbClr val="F7F7F7"/>
                  </a:solidFill>
                  <a:latin typeface="Work Sans"/>
                  <a:ea typeface="Work Sans"/>
                  <a:cs typeface="Work Sans"/>
                  <a:sym typeface="Work Sans"/>
                </a:rPr>
                <a:t>Sharing insights and fostering engagement.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57412" y="3946457"/>
            <a:ext cx="4773175" cy="3606286"/>
            <a:chOff x="0" y="0"/>
            <a:chExt cx="1940193" cy="146587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40195" cy="1465891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3"/>
              <a:stretch>
                <a:fillRect l="-118" r="-118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2510512" y="3946457"/>
            <a:ext cx="4773175" cy="3606286"/>
            <a:chOff x="0" y="0"/>
            <a:chExt cx="1940193" cy="146587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40195" cy="1465891"/>
            </a:xfrm>
            <a:custGeom>
              <a:avLst/>
              <a:gdLst/>
              <a:ahLst/>
              <a:cxnLst/>
              <a:rect l="l" t="t" r="r" b="b"/>
              <a:pathLst>
                <a:path w="1940195" h="1465891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4"/>
              <a:stretch>
                <a:fillRect l="-118" r="-118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657600"/>
            <a:ext cx="8324850" cy="5962650"/>
            <a:chOff x="0" y="0"/>
            <a:chExt cx="2192553" cy="1570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570410"/>
            </a:xfrm>
            <a:custGeom>
              <a:avLst/>
              <a:gdLst/>
              <a:ahLst/>
              <a:cxnLst/>
              <a:rect l="l" t="t" r="r" b="b"/>
              <a:pathLst>
                <a:path w="2192553" h="1570410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3657600"/>
            <a:ext cx="8324850" cy="5962650"/>
            <a:chOff x="0" y="0"/>
            <a:chExt cx="2192553" cy="15704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1570410"/>
            </a:xfrm>
            <a:custGeom>
              <a:avLst/>
              <a:gdLst/>
              <a:ahLst/>
              <a:cxnLst/>
              <a:rect l="l" t="t" r="r" b="b"/>
              <a:pathLst>
                <a:path w="2192553" h="1570410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9075" y="3946457"/>
            <a:ext cx="7640200" cy="3606286"/>
            <a:chOff x="0" y="0"/>
            <a:chExt cx="3105578" cy="14658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05579" cy="1465891"/>
            </a:xfrm>
            <a:custGeom>
              <a:avLst/>
              <a:gdLst/>
              <a:ahLst/>
              <a:cxnLst/>
              <a:rect l="l" t="t" r="r" b="b"/>
              <a:pathLst>
                <a:path w="3105579" h="1465891">
                  <a:moveTo>
                    <a:pt x="2618136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2927906" y="1465891"/>
                  </a:lnTo>
                  <a:cubicBezTo>
                    <a:pt x="3026032" y="1465891"/>
                    <a:pt x="3105579" y="1386344"/>
                    <a:pt x="3105579" y="1288218"/>
                  </a:cubicBezTo>
                  <a:lnTo>
                    <a:pt x="3105579" y="523958"/>
                  </a:lnTo>
                  <a:cubicBezTo>
                    <a:pt x="3105579" y="480251"/>
                    <a:pt x="3089469" y="438079"/>
                    <a:pt x="3060330" y="405503"/>
                  </a:cubicBezTo>
                  <a:lnTo>
                    <a:pt x="2750553" y="59214"/>
                  </a:lnTo>
                  <a:cubicBezTo>
                    <a:pt x="2716849" y="21536"/>
                    <a:pt x="2668689" y="0"/>
                    <a:pt x="2618136" y="0"/>
                  </a:cubicBezTo>
                  <a:close/>
                </a:path>
              </a:pathLst>
            </a:custGeom>
            <a:blipFill>
              <a:blip r:embed="rId2"/>
              <a:stretch>
                <a:fillRect l="-483" r="-48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658350" y="3946457"/>
            <a:ext cx="7600950" cy="3606286"/>
            <a:chOff x="0" y="0"/>
            <a:chExt cx="3089623" cy="14658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89625" cy="1465891"/>
            </a:xfrm>
            <a:custGeom>
              <a:avLst/>
              <a:gdLst/>
              <a:ahLst/>
              <a:cxnLst/>
              <a:rect l="l" t="t" r="r" b="b"/>
              <a:pathLst>
                <a:path w="3089625" h="1465891">
                  <a:moveTo>
                    <a:pt x="260218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2911952" y="1465891"/>
                  </a:lnTo>
                  <a:cubicBezTo>
                    <a:pt x="3010078" y="1465891"/>
                    <a:pt x="3089625" y="1386344"/>
                    <a:pt x="3089625" y="1288218"/>
                  </a:cubicBezTo>
                  <a:lnTo>
                    <a:pt x="3089625" y="523958"/>
                  </a:lnTo>
                  <a:cubicBezTo>
                    <a:pt x="3089624" y="480251"/>
                    <a:pt x="3073515" y="438079"/>
                    <a:pt x="3044376" y="405503"/>
                  </a:cubicBezTo>
                  <a:lnTo>
                    <a:pt x="2734599" y="59214"/>
                  </a:lnTo>
                  <a:cubicBezTo>
                    <a:pt x="2700894" y="21536"/>
                    <a:pt x="2652735" y="0"/>
                    <a:pt x="2602182" y="0"/>
                  </a:cubicBezTo>
                  <a:close/>
                </a:path>
              </a:pathLst>
            </a:custGeom>
            <a:blipFill>
              <a:blip r:embed="rId3"/>
              <a:stretch>
                <a:fillRect l="-74" r="-7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7829550"/>
            <a:ext cx="6524625" cy="909881"/>
            <a:chOff x="0" y="0"/>
            <a:chExt cx="8699500" cy="121317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9050"/>
              <a:ext cx="869802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165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Intuitive Navigation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62960"/>
              <a:ext cx="8699500" cy="45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0"/>
                </a:lnSpc>
              </a:pP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Essential for enhancing user experience and retention.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58350" y="7829550"/>
            <a:ext cx="6524625" cy="909881"/>
            <a:chOff x="0" y="0"/>
            <a:chExt cx="8699500" cy="1213175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9050"/>
              <a:ext cx="869802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165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Cluttered Layout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62960"/>
              <a:ext cx="8699500" cy="45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0"/>
                </a:lnSpc>
              </a:pP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Detracts from the user experience and accessibility.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2105025" y="1641475"/>
            <a:ext cx="12639675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  <a:spcBef>
                <a:spcPct val="0"/>
              </a:spcBef>
            </a:pPr>
            <a:r>
              <a:rPr lang="en-US" sz="6999" b="1" u="none" strike="noStrike" spc="-384">
                <a:solidFill>
                  <a:srgbClr val="F7F7F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Design Principles of 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3299803" cy="1742593"/>
          </a:xfrm>
        </p:grpSpPr>
        <p:sp>
          <p:nvSpPr>
            <p:cNvPr id="3" name="Freeform 3"/>
            <p:cNvSpPr/>
            <p:nvPr/>
          </p:nvSpPr>
          <p:spPr>
            <a:xfrm>
              <a:off x="0" y="-1"/>
              <a:ext cx="3299803" cy="1742589"/>
            </a:xfrm>
            <a:custGeom>
              <a:avLst/>
              <a:gdLst/>
              <a:ahLst/>
              <a:cxnLst/>
              <a:rect l="l" t="t" r="r" b="b"/>
              <a:pathLst>
                <a:path w="3299803" h="1742589">
                  <a:moveTo>
                    <a:pt x="965120" y="1606278"/>
                  </a:moveTo>
                  <a:cubicBezTo>
                    <a:pt x="983327" y="1585925"/>
                    <a:pt x="1009342" y="1574292"/>
                    <a:pt x="1036650" y="1574292"/>
                  </a:cubicBezTo>
                  <a:lnTo>
                    <a:pt x="3213538" y="1574627"/>
                  </a:lnTo>
                  <a:cubicBezTo>
                    <a:pt x="3236413" y="1574640"/>
                    <a:pt x="3258355" y="1565562"/>
                    <a:pt x="3274534" y="1549391"/>
                  </a:cubicBezTo>
                  <a:cubicBezTo>
                    <a:pt x="3290713" y="1533221"/>
                    <a:pt x="3299803" y="1511284"/>
                    <a:pt x="3299803" y="1488409"/>
                  </a:cubicBezTo>
                  <a:lnTo>
                    <a:pt x="3299803" y="86220"/>
                  </a:lnTo>
                  <a:cubicBezTo>
                    <a:pt x="3299803" y="63353"/>
                    <a:pt x="3290719" y="41423"/>
                    <a:pt x="3274550" y="25254"/>
                  </a:cubicBezTo>
                  <a:cubicBezTo>
                    <a:pt x="3258381" y="9085"/>
                    <a:pt x="3236451" y="1"/>
                    <a:pt x="3213584" y="1"/>
                  </a:cubicBezTo>
                  <a:lnTo>
                    <a:pt x="303022" y="1"/>
                  </a:lnTo>
                  <a:cubicBezTo>
                    <a:pt x="278489" y="0"/>
                    <a:pt x="255117" y="10451"/>
                    <a:pt x="238760" y="28736"/>
                  </a:cubicBezTo>
                  <a:lnTo>
                    <a:pt x="21960" y="271093"/>
                  </a:lnTo>
                  <a:cubicBezTo>
                    <a:pt x="7818" y="286901"/>
                    <a:pt x="0" y="307367"/>
                    <a:pt x="0" y="328577"/>
                  </a:cubicBezTo>
                  <a:lnTo>
                    <a:pt x="0" y="1656376"/>
                  </a:lnTo>
                  <a:cubicBezTo>
                    <a:pt x="4" y="1703991"/>
                    <a:pt x="38604" y="1742588"/>
                    <a:pt x="86219" y="1742588"/>
                  </a:cubicBezTo>
                  <a:lnTo>
                    <a:pt x="804624" y="1742588"/>
                  </a:lnTo>
                  <a:cubicBezTo>
                    <a:pt x="829157" y="1742589"/>
                    <a:pt x="852529" y="1732138"/>
                    <a:pt x="868886" y="1713854"/>
                  </a:cubicBezTo>
                  <a:lnTo>
                    <a:pt x="965120" y="1606278"/>
                  </a:lnTo>
                  <a:close/>
                </a:path>
              </a:pathLst>
            </a:custGeom>
            <a:solidFill>
              <a:srgbClr val="53354A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429875" y="4944226"/>
            <a:ext cx="6829425" cy="3429622"/>
            <a:chOff x="0" y="0"/>
            <a:chExt cx="2088339" cy="1048728"/>
          </a:xfrm>
        </p:grpSpPr>
        <p:sp>
          <p:nvSpPr>
            <p:cNvPr id="5" name="Freeform 5"/>
            <p:cNvSpPr/>
            <p:nvPr/>
          </p:nvSpPr>
          <p:spPr>
            <a:xfrm>
              <a:off x="0" y="-1"/>
              <a:ext cx="2088339" cy="1048730"/>
            </a:xfrm>
            <a:custGeom>
              <a:avLst/>
              <a:gdLst/>
              <a:ahLst/>
              <a:cxnLst/>
              <a:rect l="l" t="t" r="r" b="b"/>
              <a:pathLst>
                <a:path w="2088339" h="1048730">
                  <a:moveTo>
                    <a:pt x="0" y="124381"/>
                  </a:moveTo>
                  <a:lnTo>
                    <a:pt x="0" y="652572"/>
                  </a:lnTo>
                  <a:cubicBezTo>
                    <a:pt x="0" y="721265"/>
                    <a:pt x="55687" y="776952"/>
                    <a:pt x="124380" y="776952"/>
                  </a:cubicBezTo>
                  <a:lnTo>
                    <a:pt x="267087" y="776952"/>
                  </a:lnTo>
                  <a:cubicBezTo>
                    <a:pt x="303063" y="776952"/>
                    <a:pt x="337276" y="792528"/>
                    <a:pt x="360898" y="819662"/>
                  </a:cubicBezTo>
                  <a:lnTo>
                    <a:pt x="523133" y="1006018"/>
                  </a:lnTo>
                  <a:cubicBezTo>
                    <a:pt x="546755" y="1033152"/>
                    <a:pt x="580969" y="1048729"/>
                    <a:pt x="616944" y="1048729"/>
                  </a:cubicBezTo>
                  <a:lnTo>
                    <a:pt x="1794478" y="1048729"/>
                  </a:lnTo>
                  <a:cubicBezTo>
                    <a:pt x="1830387" y="1048729"/>
                    <a:pt x="1864542" y="1033210"/>
                    <a:pt x="1888162" y="1006164"/>
                  </a:cubicBezTo>
                  <a:lnTo>
                    <a:pt x="2047353" y="823882"/>
                  </a:lnTo>
                  <a:cubicBezTo>
                    <a:pt x="2073777" y="793625"/>
                    <a:pt x="2088338" y="754816"/>
                    <a:pt x="2088339" y="714644"/>
                  </a:cubicBezTo>
                  <a:lnTo>
                    <a:pt x="2088339" y="124381"/>
                  </a:lnTo>
                  <a:cubicBezTo>
                    <a:pt x="2088339" y="91392"/>
                    <a:pt x="2075234" y="59755"/>
                    <a:pt x="2051907" y="36429"/>
                  </a:cubicBezTo>
                  <a:cubicBezTo>
                    <a:pt x="2028580" y="13103"/>
                    <a:pt x="1996942" y="0"/>
                    <a:pt x="1963954" y="1"/>
                  </a:cubicBezTo>
                  <a:lnTo>
                    <a:pt x="124380" y="1"/>
                  </a:lnTo>
                  <a:cubicBezTo>
                    <a:pt x="55687" y="1"/>
                    <a:pt x="0" y="55688"/>
                    <a:pt x="0" y="124381"/>
                  </a:cubicBezTo>
                  <a:close/>
                </a:path>
              </a:pathLst>
            </a:custGeom>
            <a:blipFill>
              <a:blip r:embed="rId2"/>
              <a:stretch>
                <a:fillRect l="-597" r="-59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429875" y="1028700"/>
            <a:ext cx="6829425" cy="3672574"/>
            <a:chOff x="0" y="0"/>
            <a:chExt cx="3482081" cy="1872515"/>
          </a:xfrm>
        </p:grpSpPr>
        <p:sp>
          <p:nvSpPr>
            <p:cNvPr id="7" name="Freeform 7"/>
            <p:cNvSpPr/>
            <p:nvPr/>
          </p:nvSpPr>
          <p:spPr>
            <a:xfrm>
              <a:off x="54483" y="50038"/>
              <a:ext cx="3372988" cy="1773074"/>
            </a:xfrm>
            <a:custGeom>
              <a:avLst/>
              <a:gdLst/>
              <a:ahLst/>
              <a:cxnLst/>
              <a:rect l="l" t="t" r="r" b="b"/>
              <a:pathLst>
                <a:path w="3372988" h="1773074">
                  <a:moveTo>
                    <a:pt x="3285358" y="1773074"/>
                  </a:moveTo>
                  <a:lnTo>
                    <a:pt x="87757" y="1773074"/>
                  </a:lnTo>
                  <a:cubicBezTo>
                    <a:pt x="39370" y="1773074"/>
                    <a:pt x="0" y="1733831"/>
                    <a:pt x="0" y="1685317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1685317"/>
                  </a:lnTo>
                  <a:cubicBezTo>
                    <a:pt x="3372988" y="1733704"/>
                    <a:pt x="3333745" y="1773074"/>
                    <a:pt x="3285231" y="1773074"/>
                  </a:cubicBezTo>
                  <a:close/>
                </a:path>
              </a:pathLst>
            </a:custGeom>
            <a:blipFill>
              <a:blip r:embed="rId3"/>
              <a:stretch>
                <a:fillRect t="-1006" b="-1006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3481954" cy="1872388"/>
            </a:xfrm>
            <a:custGeom>
              <a:avLst/>
              <a:gdLst/>
              <a:ahLst/>
              <a:cxnLst/>
              <a:rect l="l" t="t" r="r" b="b"/>
              <a:pathLst>
                <a:path w="3481954" h="1872388">
                  <a:moveTo>
                    <a:pt x="0" y="91567"/>
                  </a:moveTo>
                  <a:lnTo>
                    <a:pt x="0" y="1780821"/>
                  </a:lnTo>
                  <a:cubicBezTo>
                    <a:pt x="0" y="1831367"/>
                    <a:pt x="41021" y="1872388"/>
                    <a:pt x="91567" y="1872388"/>
                  </a:cubicBezTo>
                  <a:lnTo>
                    <a:pt x="3390387" y="1872388"/>
                  </a:lnTo>
                  <a:cubicBezTo>
                    <a:pt x="3440933" y="1872388"/>
                    <a:pt x="3481954" y="1831367"/>
                    <a:pt x="3481954" y="1780821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1689762"/>
                  </a:lnTo>
                  <a:cubicBezTo>
                    <a:pt x="3390895" y="1740308"/>
                    <a:pt x="3349874" y="1781329"/>
                    <a:pt x="3299328" y="1781329"/>
                  </a:cubicBezTo>
                  <a:lnTo>
                    <a:pt x="182753" y="1781329"/>
                  </a:lnTo>
                  <a:cubicBezTo>
                    <a:pt x="132207" y="1781329"/>
                    <a:pt x="91186" y="1740308"/>
                    <a:pt x="91186" y="1689762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E9456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105025" y="1562100"/>
            <a:ext cx="6886575" cy="4913367"/>
            <a:chOff x="0" y="0"/>
            <a:chExt cx="9182100" cy="655115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2769731"/>
              <a:ext cx="7264400" cy="3781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Incorporating multimedia elements into your digital portfolio enhances engagement and showcases your skills effectively. Utilize images, videos, and interactive features that complement your work, ensuring a harmonious balance that captures attention without overwhelming the viewer, ultimately conveying your professional narrative more dynamically.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33350"/>
              <a:ext cx="9182100" cy="2465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999"/>
                </a:lnSpc>
              </a:pPr>
              <a:r>
                <a:rPr lang="en-US" sz="6999" b="1" u="none" strike="noStrike" spc="-384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Multimedia Elements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3299803" cy="1742593"/>
          </a:xfrm>
        </p:grpSpPr>
        <p:sp>
          <p:nvSpPr>
            <p:cNvPr id="3" name="Freeform 3"/>
            <p:cNvSpPr/>
            <p:nvPr/>
          </p:nvSpPr>
          <p:spPr>
            <a:xfrm>
              <a:off x="0" y="-1"/>
              <a:ext cx="3299803" cy="1742589"/>
            </a:xfrm>
            <a:custGeom>
              <a:avLst/>
              <a:gdLst/>
              <a:ahLst/>
              <a:cxnLst/>
              <a:rect l="l" t="t" r="r" b="b"/>
              <a:pathLst>
                <a:path w="3299803" h="1742589">
                  <a:moveTo>
                    <a:pt x="965120" y="1606278"/>
                  </a:moveTo>
                  <a:cubicBezTo>
                    <a:pt x="983327" y="1585925"/>
                    <a:pt x="1009342" y="1574292"/>
                    <a:pt x="1036650" y="1574292"/>
                  </a:cubicBezTo>
                  <a:lnTo>
                    <a:pt x="3213538" y="1574627"/>
                  </a:lnTo>
                  <a:cubicBezTo>
                    <a:pt x="3236413" y="1574640"/>
                    <a:pt x="3258355" y="1565562"/>
                    <a:pt x="3274534" y="1549391"/>
                  </a:cubicBezTo>
                  <a:cubicBezTo>
                    <a:pt x="3290713" y="1533221"/>
                    <a:pt x="3299803" y="1511284"/>
                    <a:pt x="3299803" y="1488409"/>
                  </a:cubicBezTo>
                  <a:lnTo>
                    <a:pt x="3299803" y="86220"/>
                  </a:lnTo>
                  <a:cubicBezTo>
                    <a:pt x="3299803" y="63353"/>
                    <a:pt x="3290719" y="41423"/>
                    <a:pt x="3274550" y="25254"/>
                  </a:cubicBezTo>
                  <a:cubicBezTo>
                    <a:pt x="3258381" y="9085"/>
                    <a:pt x="3236451" y="1"/>
                    <a:pt x="3213584" y="1"/>
                  </a:cubicBezTo>
                  <a:lnTo>
                    <a:pt x="303022" y="1"/>
                  </a:lnTo>
                  <a:cubicBezTo>
                    <a:pt x="278489" y="0"/>
                    <a:pt x="255117" y="10451"/>
                    <a:pt x="238760" y="28736"/>
                  </a:cubicBezTo>
                  <a:lnTo>
                    <a:pt x="21960" y="271093"/>
                  </a:lnTo>
                  <a:cubicBezTo>
                    <a:pt x="7818" y="286901"/>
                    <a:pt x="0" y="307367"/>
                    <a:pt x="0" y="328577"/>
                  </a:cubicBezTo>
                  <a:lnTo>
                    <a:pt x="0" y="1656376"/>
                  </a:lnTo>
                  <a:cubicBezTo>
                    <a:pt x="4" y="1703991"/>
                    <a:pt x="38604" y="1742588"/>
                    <a:pt x="86219" y="1742588"/>
                  </a:cubicBezTo>
                  <a:lnTo>
                    <a:pt x="804624" y="1742588"/>
                  </a:lnTo>
                  <a:cubicBezTo>
                    <a:pt x="829157" y="1742589"/>
                    <a:pt x="852529" y="1732138"/>
                    <a:pt x="868886" y="1713854"/>
                  </a:cubicBezTo>
                  <a:lnTo>
                    <a:pt x="965120" y="1606278"/>
                  </a:lnTo>
                  <a:close/>
                </a:path>
              </a:pathLst>
            </a:custGeom>
            <a:solidFill>
              <a:srgbClr val="53354A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429875" y="4944226"/>
            <a:ext cx="6829425" cy="3429622"/>
            <a:chOff x="0" y="0"/>
            <a:chExt cx="2088339" cy="1048728"/>
          </a:xfrm>
        </p:grpSpPr>
        <p:sp>
          <p:nvSpPr>
            <p:cNvPr id="5" name="Freeform 5"/>
            <p:cNvSpPr/>
            <p:nvPr/>
          </p:nvSpPr>
          <p:spPr>
            <a:xfrm>
              <a:off x="0" y="-1"/>
              <a:ext cx="2088339" cy="1048730"/>
            </a:xfrm>
            <a:custGeom>
              <a:avLst/>
              <a:gdLst/>
              <a:ahLst/>
              <a:cxnLst/>
              <a:rect l="l" t="t" r="r" b="b"/>
              <a:pathLst>
                <a:path w="2088339" h="1048730">
                  <a:moveTo>
                    <a:pt x="0" y="124381"/>
                  </a:moveTo>
                  <a:lnTo>
                    <a:pt x="0" y="652572"/>
                  </a:lnTo>
                  <a:cubicBezTo>
                    <a:pt x="0" y="721265"/>
                    <a:pt x="55687" y="776952"/>
                    <a:pt x="124380" y="776952"/>
                  </a:cubicBezTo>
                  <a:lnTo>
                    <a:pt x="267087" y="776952"/>
                  </a:lnTo>
                  <a:cubicBezTo>
                    <a:pt x="303063" y="776952"/>
                    <a:pt x="337276" y="792528"/>
                    <a:pt x="360898" y="819662"/>
                  </a:cubicBezTo>
                  <a:lnTo>
                    <a:pt x="523133" y="1006018"/>
                  </a:lnTo>
                  <a:cubicBezTo>
                    <a:pt x="546755" y="1033152"/>
                    <a:pt x="580969" y="1048729"/>
                    <a:pt x="616944" y="1048729"/>
                  </a:cubicBezTo>
                  <a:lnTo>
                    <a:pt x="1794478" y="1048729"/>
                  </a:lnTo>
                  <a:cubicBezTo>
                    <a:pt x="1830387" y="1048729"/>
                    <a:pt x="1864542" y="1033210"/>
                    <a:pt x="1888162" y="1006164"/>
                  </a:cubicBezTo>
                  <a:lnTo>
                    <a:pt x="2047353" y="823882"/>
                  </a:lnTo>
                  <a:cubicBezTo>
                    <a:pt x="2073777" y="793625"/>
                    <a:pt x="2088338" y="754816"/>
                    <a:pt x="2088339" y="714644"/>
                  </a:cubicBezTo>
                  <a:lnTo>
                    <a:pt x="2088339" y="124381"/>
                  </a:lnTo>
                  <a:cubicBezTo>
                    <a:pt x="2088339" y="91392"/>
                    <a:pt x="2075234" y="59755"/>
                    <a:pt x="2051907" y="36429"/>
                  </a:cubicBezTo>
                  <a:cubicBezTo>
                    <a:pt x="2028580" y="13103"/>
                    <a:pt x="1996942" y="0"/>
                    <a:pt x="1963954" y="1"/>
                  </a:cubicBezTo>
                  <a:lnTo>
                    <a:pt x="124380" y="1"/>
                  </a:lnTo>
                  <a:cubicBezTo>
                    <a:pt x="55687" y="1"/>
                    <a:pt x="0" y="55688"/>
                    <a:pt x="0" y="124381"/>
                  </a:cubicBezTo>
                  <a:close/>
                </a:path>
              </a:pathLst>
            </a:custGeom>
            <a:blipFill>
              <a:blip r:embed="rId2"/>
              <a:stretch>
                <a:fillRect l="-597" r="-59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429875" y="1028700"/>
            <a:ext cx="6829425" cy="3672574"/>
            <a:chOff x="0" y="0"/>
            <a:chExt cx="3482081" cy="1872515"/>
          </a:xfrm>
        </p:grpSpPr>
        <p:sp>
          <p:nvSpPr>
            <p:cNvPr id="7" name="Freeform 7"/>
            <p:cNvSpPr/>
            <p:nvPr/>
          </p:nvSpPr>
          <p:spPr>
            <a:xfrm>
              <a:off x="54483" y="50038"/>
              <a:ext cx="3372988" cy="1773074"/>
            </a:xfrm>
            <a:custGeom>
              <a:avLst/>
              <a:gdLst/>
              <a:ahLst/>
              <a:cxnLst/>
              <a:rect l="l" t="t" r="r" b="b"/>
              <a:pathLst>
                <a:path w="3372988" h="1773074">
                  <a:moveTo>
                    <a:pt x="3285358" y="1773074"/>
                  </a:moveTo>
                  <a:lnTo>
                    <a:pt x="87757" y="1773074"/>
                  </a:lnTo>
                  <a:cubicBezTo>
                    <a:pt x="39370" y="1773074"/>
                    <a:pt x="0" y="1733831"/>
                    <a:pt x="0" y="1685317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1685317"/>
                  </a:lnTo>
                  <a:cubicBezTo>
                    <a:pt x="3372988" y="1733704"/>
                    <a:pt x="3333745" y="1773074"/>
                    <a:pt x="3285231" y="1773074"/>
                  </a:cubicBezTo>
                  <a:close/>
                </a:path>
              </a:pathLst>
            </a:custGeom>
            <a:blipFill>
              <a:blip r:embed="rId3"/>
              <a:stretch>
                <a:fillRect t="-1006" b="-1006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3481954" cy="1872388"/>
            </a:xfrm>
            <a:custGeom>
              <a:avLst/>
              <a:gdLst/>
              <a:ahLst/>
              <a:cxnLst/>
              <a:rect l="l" t="t" r="r" b="b"/>
              <a:pathLst>
                <a:path w="3481954" h="1872388">
                  <a:moveTo>
                    <a:pt x="0" y="91567"/>
                  </a:moveTo>
                  <a:lnTo>
                    <a:pt x="0" y="1780821"/>
                  </a:lnTo>
                  <a:cubicBezTo>
                    <a:pt x="0" y="1831367"/>
                    <a:pt x="41021" y="1872388"/>
                    <a:pt x="91567" y="1872388"/>
                  </a:cubicBezTo>
                  <a:lnTo>
                    <a:pt x="3390387" y="1872388"/>
                  </a:lnTo>
                  <a:cubicBezTo>
                    <a:pt x="3440933" y="1872388"/>
                    <a:pt x="3481954" y="1831367"/>
                    <a:pt x="3481954" y="1780821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1689762"/>
                  </a:lnTo>
                  <a:cubicBezTo>
                    <a:pt x="3390895" y="1740308"/>
                    <a:pt x="3349874" y="1781329"/>
                    <a:pt x="3299328" y="1781329"/>
                  </a:cubicBezTo>
                  <a:lnTo>
                    <a:pt x="182753" y="1781329"/>
                  </a:lnTo>
                  <a:cubicBezTo>
                    <a:pt x="132207" y="1781329"/>
                    <a:pt x="91186" y="1740308"/>
                    <a:pt x="91186" y="1689762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E9456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105025" y="1562100"/>
            <a:ext cx="6886575" cy="4599042"/>
            <a:chOff x="0" y="0"/>
            <a:chExt cx="9182100" cy="613205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2769731"/>
              <a:ext cx="7264400" cy="3362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A minimalist digital portfolio showcases clarity and simplicity, allowing content to shine. The design emphasizes </a:t>
              </a:r>
              <a:r>
                <a:rPr lang="en-US" sz="2100" b="1" spc="-115">
                  <a:solidFill>
                    <a:srgbClr val="CCCCCC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clean lines</a:t>
              </a: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, effective use of white space, and </a:t>
              </a:r>
              <a:r>
                <a:rPr lang="en-US" sz="2100" b="1" spc="-115">
                  <a:solidFill>
                    <a:srgbClr val="CCCCCC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structured layouts</a:t>
              </a: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, creating an engaging user experience. This approach is ideal for corporate professionals aiming for a polished and professional appearance.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33350"/>
              <a:ext cx="9182100" cy="2465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999"/>
                </a:lnSpc>
              </a:pPr>
              <a:r>
                <a:rPr lang="en-US" sz="6999" b="1" u="none" strike="noStrike" spc="-384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Minimalist Template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8324850" cy="8953500"/>
            <a:chOff x="0" y="0"/>
            <a:chExt cx="2448748" cy="2633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8751" cy="2633666"/>
            </a:xfrm>
            <a:custGeom>
              <a:avLst/>
              <a:gdLst/>
              <a:ahLst/>
              <a:cxnLst/>
              <a:rect l="l" t="t" r="r" b="b"/>
              <a:pathLst>
                <a:path w="2448751" h="2633666">
                  <a:moveTo>
                    <a:pt x="2101792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2354273"/>
                  </a:lnTo>
                  <a:cubicBezTo>
                    <a:pt x="0" y="2390784"/>
                    <a:pt x="13458" y="2426013"/>
                    <a:pt x="37800" y="2453225"/>
                  </a:cubicBezTo>
                  <a:lnTo>
                    <a:pt x="154967" y="2584201"/>
                  </a:lnTo>
                  <a:cubicBezTo>
                    <a:pt x="183122" y="2615677"/>
                    <a:pt x="223353" y="2633666"/>
                    <a:pt x="265584" y="2633665"/>
                  </a:cubicBezTo>
                  <a:lnTo>
                    <a:pt x="2300335" y="2633665"/>
                  </a:lnTo>
                  <a:cubicBezTo>
                    <a:pt x="2339697" y="2633666"/>
                    <a:pt x="2377447" y="2618029"/>
                    <a:pt x="2405281" y="2590196"/>
                  </a:cubicBezTo>
                  <a:cubicBezTo>
                    <a:pt x="2433114" y="2562363"/>
                    <a:pt x="2448751" y="2524613"/>
                    <a:pt x="2448751" y="2485251"/>
                  </a:cubicBezTo>
                  <a:lnTo>
                    <a:pt x="2448751" y="366141"/>
                  </a:lnTo>
                  <a:cubicBezTo>
                    <a:pt x="2448751" y="329143"/>
                    <a:pt x="2434932" y="293478"/>
                    <a:pt x="2410002" y="266140"/>
                  </a:cubicBezTo>
                  <a:lnTo>
                    <a:pt x="2211459" y="48414"/>
                  </a:lnTo>
                  <a:cubicBezTo>
                    <a:pt x="2183337" y="17574"/>
                    <a:pt x="2143529" y="0"/>
                    <a:pt x="2101792" y="0"/>
                  </a:cubicBezTo>
                  <a:close/>
                </a:path>
              </a:pathLst>
            </a:custGeom>
            <a:solidFill>
              <a:srgbClr val="53354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296400" y="5439651"/>
            <a:ext cx="8324850" cy="4180599"/>
            <a:chOff x="0" y="0"/>
            <a:chExt cx="2088339" cy="1048728"/>
          </a:xfrm>
        </p:grpSpPr>
        <p:sp>
          <p:nvSpPr>
            <p:cNvPr id="5" name="Freeform 5"/>
            <p:cNvSpPr/>
            <p:nvPr/>
          </p:nvSpPr>
          <p:spPr>
            <a:xfrm>
              <a:off x="0" y="-1"/>
              <a:ext cx="2088339" cy="1048730"/>
            </a:xfrm>
            <a:custGeom>
              <a:avLst/>
              <a:gdLst/>
              <a:ahLst/>
              <a:cxnLst/>
              <a:rect l="l" t="t" r="r" b="b"/>
              <a:pathLst>
                <a:path w="2088339" h="1048730">
                  <a:moveTo>
                    <a:pt x="0" y="124381"/>
                  </a:moveTo>
                  <a:lnTo>
                    <a:pt x="0" y="652572"/>
                  </a:lnTo>
                  <a:cubicBezTo>
                    <a:pt x="0" y="721265"/>
                    <a:pt x="55687" y="776952"/>
                    <a:pt x="124380" y="776952"/>
                  </a:cubicBezTo>
                  <a:lnTo>
                    <a:pt x="267087" y="776952"/>
                  </a:lnTo>
                  <a:cubicBezTo>
                    <a:pt x="303063" y="776952"/>
                    <a:pt x="337276" y="792528"/>
                    <a:pt x="360898" y="819662"/>
                  </a:cubicBezTo>
                  <a:lnTo>
                    <a:pt x="523133" y="1006018"/>
                  </a:lnTo>
                  <a:cubicBezTo>
                    <a:pt x="546755" y="1033152"/>
                    <a:pt x="580969" y="1048729"/>
                    <a:pt x="616944" y="1048729"/>
                  </a:cubicBezTo>
                  <a:lnTo>
                    <a:pt x="1794478" y="1048729"/>
                  </a:lnTo>
                  <a:cubicBezTo>
                    <a:pt x="1830387" y="1048729"/>
                    <a:pt x="1864542" y="1033210"/>
                    <a:pt x="1888162" y="1006164"/>
                  </a:cubicBezTo>
                  <a:lnTo>
                    <a:pt x="2047353" y="823882"/>
                  </a:lnTo>
                  <a:cubicBezTo>
                    <a:pt x="2073777" y="793625"/>
                    <a:pt x="2088338" y="754816"/>
                    <a:pt x="2088339" y="714644"/>
                  </a:cubicBezTo>
                  <a:lnTo>
                    <a:pt x="2088339" y="124381"/>
                  </a:lnTo>
                  <a:cubicBezTo>
                    <a:pt x="2088339" y="91392"/>
                    <a:pt x="2075234" y="59755"/>
                    <a:pt x="2051907" y="36429"/>
                  </a:cubicBezTo>
                  <a:cubicBezTo>
                    <a:pt x="2028580" y="13103"/>
                    <a:pt x="1996942" y="0"/>
                    <a:pt x="1963954" y="1"/>
                  </a:cubicBezTo>
                  <a:lnTo>
                    <a:pt x="124380" y="1"/>
                  </a:lnTo>
                  <a:cubicBezTo>
                    <a:pt x="55687" y="1"/>
                    <a:pt x="0" y="55688"/>
                    <a:pt x="0" y="124381"/>
                  </a:cubicBezTo>
                  <a:close/>
                </a:path>
              </a:pathLst>
            </a:custGeom>
            <a:blipFill>
              <a:blip r:embed="rId2"/>
              <a:stretch>
                <a:fillRect l="-597" r="-59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296400" y="666750"/>
            <a:ext cx="8324850" cy="4476750"/>
            <a:chOff x="0" y="0"/>
            <a:chExt cx="3482081" cy="1872515"/>
          </a:xfrm>
        </p:grpSpPr>
        <p:sp>
          <p:nvSpPr>
            <p:cNvPr id="7" name="Freeform 7"/>
            <p:cNvSpPr/>
            <p:nvPr/>
          </p:nvSpPr>
          <p:spPr>
            <a:xfrm>
              <a:off x="54483" y="50038"/>
              <a:ext cx="3372988" cy="1773074"/>
            </a:xfrm>
            <a:custGeom>
              <a:avLst/>
              <a:gdLst/>
              <a:ahLst/>
              <a:cxnLst/>
              <a:rect l="l" t="t" r="r" b="b"/>
              <a:pathLst>
                <a:path w="3372988" h="1773074">
                  <a:moveTo>
                    <a:pt x="3285358" y="1773074"/>
                  </a:moveTo>
                  <a:lnTo>
                    <a:pt x="87757" y="1773074"/>
                  </a:lnTo>
                  <a:cubicBezTo>
                    <a:pt x="39370" y="1773074"/>
                    <a:pt x="0" y="1733831"/>
                    <a:pt x="0" y="1685317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1685317"/>
                  </a:lnTo>
                  <a:cubicBezTo>
                    <a:pt x="3372988" y="1733704"/>
                    <a:pt x="3333745" y="1773074"/>
                    <a:pt x="3285231" y="1773074"/>
                  </a:cubicBezTo>
                  <a:close/>
                </a:path>
              </a:pathLst>
            </a:custGeom>
            <a:blipFill>
              <a:blip r:embed="rId3"/>
              <a:stretch>
                <a:fillRect t="-1006" b="-1006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3481954" cy="1872388"/>
            </a:xfrm>
            <a:custGeom>
              <a:avLst/>
              <a:gdLst/>
              <a:ahLst/>
              <a:cxnLst/>
              <a:rect l="l" t="t" r="r" b="b"/>
              <a:pathLst>
                <a:path w="3481954" h="1872388">
                  <a:moveTo>
                    <a:pt x="0" y="91567"/>
                  </a:moveTo>
                  <a:lnTo>
                    <a:pt x="0" y="1780821"/>
                  </a:lnTo>
                  <a:cubicBezTo>
                    <a:pt x="0" y="1831367"/>
                    <a:pt x="41021" y="1872388"/>
                    <a:pt x="91567" y="1872388"/>
                  </a:cubicBezTo>
                  <a:lnTo>
                    <a:pt x="3390387" y="1872388"/>
                  </a:lnTo>
                  <a:cubicBezTo>
                    <a:pt x="3440933" y="1872388"/>
                    <a:pt x="3481954" y="1831367"/>
                    <a:pt x="3481954" y="1780821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1689762"/>
                  </a:lnTo>
                  <a:cubicBezTo>
                    <a:pt x="3390895" y="1740308"/>
                    <a:pt x="3349874" y="1781329"/>
                    <a:pt x="3299328" y="1781329"/>
                  </a:cubicBezTo>
                  <a:lnTo>
                    <a:pt x="182753" y="1781329"/>
                  </a:lnTo>
                  <a:cubicBezTo>
                    <a:pt x="132207" y="1781329"/>
                    <a:pt x="91186" y="1740308"/>
                    <a:pt x="91186" y="1689762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E9456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105025" y="1562100"/>
            <a:ext cx="5448300" cy="4003782"/>
            <a:chOff x="0" y="0"/>
            <a:chExt cx="7264400" cy="533837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33350"/>
              <a:ext cx="7264400" cy="364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999"/>
                </a:lnSpc>
              </a:pPr>
              <a:r>
                <a:rPr lang="en-US" sz="6999" b="1" spc="-384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Creative Portfolio Showcase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100127"/>
              <a:ext cx="7264400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165">
                  <a:solidFill>
                    <a:srgbClr val="CCCCCC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Inspiring designs for artistic professionals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657600"/>
            <a:ext cx="8324850" cy="2828925"/>
            <a:chOff x="0" y="0"/>
            <a:chExt cx="2192553" cy="7450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745067"/>
            </a:xfrm>
            <a:custGeom>
              <a:avLst/>
              <a:gdLst/>
              <a:ahLst/>
              <a:cxnLst/>
              <a:rect l="l" t="t" r="r" b="b"/>
              <a:pathLst>
                <a:path w="2192553" h="745067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707868"/>
                  </a:lnTo>
                  <a:cubicBezTo>
                    <a:pt x="2192553" y="717733"/>
                    <a:pt x="2188634" y="727195"/>
                    <a:pt x="2181658" y="734171"/>
                  </a:cubicBezTo>
                  <a:cubicBezTo>
                    <a:pt x="2174682" y="741147"/>
                    <a:pt x="2165220" y="745067"/>
                    <a:pt x="2155354" y="745067"/>
                  </a:cubicBezTo>
                  <a:lnTo>
                    <a:pt x="37199" y="745067"/>
                  </a:lnTo>
                  <a:cubicBezTo>
                    <a:pt x="27333" y="745067"/>
                    <a:pt x="17872" y="741147"/>
                    <a:pt x="10895" y="734171"/>
                  </a:cubicBezTo>
                  <a:cubicBezTo>
                    <a:pt x="3919" y="727195"/>
                    <a:pt x="0" y="717733"/>
                    <a:pt x="0" y="707868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2553" cy="802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791325"/>
            <a:ext cx="8324850" cy="2828925"/>
            <a:chOff x="0" y="0"/>
            <a:chExt cx="2192553" cy="7450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745067"/>
            </a:xfrm>
            <a:custGeom>
              <a:avLst/>
              <a:gdLst/>
              <a:ahLst/>
              <a:cxnLst/>
              <a:rect l="l" t="t" r="r" b="b"/>
              <a:pathLst>
                <a:path w="2192553" h="745067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707868"/>
                  </a:lnTo>
                  <a:cubicBezTo>
                    <a:pt x="2192553" y="717733"/>
                    <a:pt x="2188634" y="727195"/>
                    <a:pt x="2181658" y="734171"/>
                  </a:cubicBezTo>
                  <a:cubicBezTo>
                    <a:pt x="2174682" y="741147"/>
                    <a:pt x="2165220" y="745067"/>
                    <a:pt x="2155354" y="745067"/>
                  </a:cubicBezTo>
                  <a:lnTo>
                    <a:pt x="37199" y="745067"/>
                  </a:lnTo>
                  <a:cubicBezTo>
                    <a:pt x="27333" y="745067"/>
                    <a:pt x="17872" y="741147"/>
                    <a:pt x="10895" y="734171"/>
                  </a:cubicBezTo>
                  <a:cubicBezTo>
                    <a:pt x="3919" y="727195"/>
                    <a:pt x="0" y="717733"/>
                    <a:pt x="0" y="707868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2553" cy="802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657600"/>
            <a:ext cx="8334375" cy="2828925"/>
            <a:chOff x="0" y="0"/>
            <a:chExt cx="2195062" cy="7450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5062" cy="745067"/>
            </a:xfrm>
            <a:custGeom>
              <a:avLst/>
              <a:gdLst/>
              <a:ahLst/>
              <a:cxnLst/>
              <a:rect l="l" t="t" r="r" b="b"/>
              <a:pathLst>
                <a:path w="2195062" h="745067">
                  <a:moveTo>
                    <a:pt x="37157" y="0"/>
                  </a:moveTo>
                  <a:lnTo>
                    <a:pt x="2157905" y="0"/>
                  </a:lnTo>
                  <a:cubicBezTo>
                    <a:pt x="2178426" y="0"/>
                    <a:pt x="2195062" y="16636"/>
                    <a:pt x="2195062" y="37157"/>
                  </a:cubicBezTo>
                  <a:lnTo>
                    <a:pt x="2195062" y="707910"/>
                  </a:lnTo>
                  <a:cubicBezTo>
                    <a:pt x="2195062" y="728431"/>
                    <a:pt x="2178426" y="745067"/>
                    <a:pt x="2157905" y="745067"/>
                  </a:cubicBezTo>
                  <a:lnTo>
                    <a:pt x="37157" y="745067"/>
                  </a:lnTo>
                  <a:cubicBezTo>
                    <a:pt x="16636" y="745067"/>
                    <a:pt x="0" y="728431"/>
                    <a:pt x="0" y="707910"/>
                  </a:cubicBezTo>
                  <a:lnTo>
                    <a:pt x="0" y="37157"/>
                  </a:lnTo>
                  <a:cubicBezTo>
                    <a:pt x="0" y="16636"/>
                    <a:pt x="16636" y="0"/>
                    <a:pt x="37157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195062" cy="802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791325"/>
            <a:ext cx="8334375" cy="2828925"/>
            <a:chOff x="0" y="0"/>
            <a:chExt cx="2195062" cy="7450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5062" cy="745067"/>
            </a:xfrm>
            <a:custGeom>
              <a:avLst/>
              <a:gdLst/>
              <a:ahLst/>
              <a:cxnLst/>
              <a:rect l="l" t="t" r="r" b="b"/>
              <a:pathLst>
                <a:path w="2195062" h="745067">
                  <a:moveTo>
                    <a:pt x="37157" y="0"/>
                  </a:moveTo>
                  <a:lnTo>
                    <a:pt x="2157905" y="0"/>
                  </a:lnTo>
                  <a:cubicBezTo>
                    <a:pt x="2178426" y="0"/>
                    <a:pt x="2195062" y="16636"/>
                    <a:pt x="2195062" y="37157"/>
                  </a:cubicBezTo>
                  <a:lnTo>
                    <a:pt x="2195062" y="707910"/>
                  </a:lnTo>
                  <a:cubicBezTo>
                    <a:pt x="2195062" y="728431"/>
                    <a:pt x="2178426" y="745067"/>
                    <a:pt x="2157905" y="745067"/>
                  </a:cubicBezTo>
                  <a:lnTo>
                    <a:pt x="37157" y="745067"/>
                  </a:lnTo>
                  <a:cubicBezTo>
                    <a:pt x="16636" y="745067"/>
                    <a:pt x="0" y="728431"/>
                    <a:pt x="0" y="707910"/>
                  </a:cubicBezTo>
                  <a:lnTo>
                    <a:pt x="0" y="37157"/>
                  </a:lnTo>
                  <a:cubicBezTo>
                    <a:pt x="0" y="16636"/>
                    <a:pt x="16636" y="0"/>
                    <a:pt x="37157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195062" cy="802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105025" y="4248150"/>
            <a:ext cx="6141142" cy="1709843"/>
            <a:chOff x="0" y="0"/>
            <a:chExt cx="8188190" cy="227979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8188190" cy="120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Importance of a well-structured digital portfolio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432065"/>
              <a:ext cx="818819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A well-structured portfolio enhances your </a:t>
              </a:r>
              <a:r>
                <a:rPr lang="en-US" sz="2100" b="1" spc="-115">
                  <a:solidFill>
                    <a:srgbClr val="CCCCCC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professional presence</a:t>
              </a: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105025" y="7381875"/>
            <a:ext cx="6141142" cy="1709843"/>
            <a:chOff x="0" y="0"/>
            <a:chExt cx="8188190" cy="227979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9525"/>
              <a:ext cx="8188190" cy="120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Encouragement to start your portfolio today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432065"/>
              <a:ext cx="8188190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Begin crafting your portfolio now to </a:t>
              </a:r>
              <a:r>
                <a:rPr lang="en-US" sz="2100" b="1" spc="-115">
                  <a:solidFill>
                    <a:srgbClr val="CCCCCC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stand out</a:t>
              </a: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 professionally.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734675" y="4248150"/>
            <a:ext cx="6216102" cy="1709843"/>
            <a:chOff x="0" y="0"/>
            <a:chExt cx="8288136" cy="2279790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9525"/>
              <a:ext cx="8288136" cy="120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Regular updates to reflect changing skills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432065"/>
              <a:ext cx="8288136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Ensure your portfolio stays current with </a:t>
              </a:r>
              <a:r>
                <a:rPr lang="en-US" sz="2100" b="1" spc="-115">
                  <a:solidFill>
                    <a:srgbClr val="CCCCCC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frequent revisions</a:t>
              </a: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734675" y="7381875"/>
            <a:ext cx="6216102" cy="1709843"/>
            <a:chOff x="0" y="0"/>
            <a:chExt cx="8288136" cy="227979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9525"/>
              <a:ext cx="8288136" cy="120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  <a:spcBef>
                  <a:spcPct val="0"/>
                </a:spcBef>
              </a:pPr>
              <a:r>
                <a:rPr lang="en-US" sz="2962" b="1" u="none" strike="noStrike" spc="-162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Recommended tools for creating digital portfolios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432065"/>
              <a:ext cx="8288136" cy="847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Utilize user-friendly platforms to </a:t>
              </a:r>
              <a:r>
                <a:rPr lang="en-US" sz="2100" b="1" spc="-115">
                  <a:solidFill>
                    <a:srgbClr val="CCCCCC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build your portfolio</a:t>
              </a:r>
              <a:r>
                <a:rPr lang="en-US" sz="2100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 effectively.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105025" y="1641475"/>
            <a:ext cx="14077950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  <a:spcBef>
                <a:spcPct val="0"/>
              </a:spcBef>
            </a:pPr>
            <a:r>
              <a:rPr lang="en-US" sz="6999" b="1" u="none" strike="noStrike" spc="-384">
                <a:solidFill>
                  <a:srgbClr val="F7F7F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Key Takeaways</a:t>
            </a:r>
          </a:p>
        </p:txBody>
      </p:sp>
      <p:sp>
        <p:nvSpPr>
          <p:cNvPr id="29" name="Freeform 29"/>
          <p:cNvSpPr/>
          <p:nvPr/>
        </p:nvSpPr>
        <p:spPr>
          <a:xfrm>
            <a:off x="1319620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969341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19620" y="7381875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969341" y="7381875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1"/>
            </a:xfrm>
            <a:custGeom>
              <a:avLst/>
              <a:gdLst/>
              <a:ahLst/>
              <a:cxnLst/>
              <a:rect l="l" t="t" r="r" b="b"/>
              <a:pathLst>
                <a:path w="4987156" h="790101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3657600"/>
            <a:ext cx="8324850" cy="5962650"/>
            <a:chOff x="0" y="0"/>
            <a:chExt cx="1289737" cy="9237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9737" cy="923771"/>
            </a:xfrm>
            <a:custGeom>
              <a:avLst/>
              <a:gdLst/>
              <a:ahLst/>
              <a:cxnLst/>
              <a:rect l="l" t="t" r="r" b="b"/>
              <a:pathLst>
                <a:path w="1289737" h="923771">
                  <a:moveTo>
                    <a:pt x="37199" y="0"/>
                  </a:moveTo>
                  <a:lnTo>
                    <a:pt x="1252538" y="0"/>
                  </a:lnTo>
                  <a:cubicBezTo>
                    <a:pt x="1262404" y="0"/>
                    <a:pt x="1271866" y="3919"/>
                    <a:pt x="1278842" y="10895"/>
                  </a:cubicBezTo>
                  <a:cubicBezTo>
                    <a:pt x="1285818" y="17872"/>
                    <a:pt x="1289737" y="27333"/>
                    <a:pt x="1289737" y="37199"/>
                  </a:cubicBezTo>
                  <a:lnTo>
                    <a:pt x="1289737" y="886571"/>
                  </a:lnTo>
                  <a:cubicBezTo>
                    <a:pt x="1289737" y="896437"/>
                    <a:pt x="1285818" y="905899"/>
                    <a:pt x="1278842" y="912875"/>
                  </a:cubicBezTo>
                  <a:cubicBezTo>
                    <a:pt x="1271866" y="919851"/>
                    <a:pt x="1262404" y="923771"/>
                    <a:pt x="1252538" y="923771"/>
                  </a:cubicBezTo>
                  <a:lnTo>
                    <a:pt x="37199" y="923771"/>
                  </a:lnTo>
                  <a:cubicBezTo>
                    <a:pt x="27333" y="923771"/>
                    <a:pt x="17872" y="919851"/>
                    <a:pt x="10895" y="912875"/>
                  </a:cubicBezTo>
                  <a:cubicBezTo>
                    <a:pt x="3919" y="905899"/>
                    <a:pt x="0" y="896437"/>
                    <a:pt x="0" y="88657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blipFill>
              <a:blip r:embed="rId2"/>
              <a:stretch>
                <a:fillRect l="-174" r="-17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320434" y="1570221"/>
            <a:ext cx="13424266" cy="10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00"/>
              </a:lnSpc>
            </a:pPr>
            <a:r>
              <a:rPr lang="en-US" sz="8000" b="1" spc="-440">
                <a:solidFill>
                  <a:srgbClr val="F7F7F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Contact Us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296400" y="3657600"/>
            <a:ext cx="8324850" cy="5962650"/>
            <a:chOff x="0" y="0"/>
            <a:chExt cx="2192553" cy="15704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2553" cy="1570410"/>
            </a:xfrm>
            <a:custGeom>
              <a:avLst/>
              <a:gdLst/>
              <a:ahLst/>
              <a:cxnLst/>
              <a:rect l="l" t="t" r="r" b="b"/>
              <a:pathLst>
                <a:path w="2192553" h="1570410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53354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34675" y="4248150"/>
            <a:ext cx="5448300" cy="855345"/>
            <a:chOff x="0" y="0"/>
            <a:chExt cx="7264400" cy="114046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165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Email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68655"/>
              <a:ext cx="72644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hello@reallygreatsite.com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34675" y="6038952"/>
            <a:ext cx="5448300" cy="855345"/>
            <a:chOff x="0" y="0"/>
            <a:chExt cx="7264400" cy="114046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165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Social Media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68655"/>
              <a:ext cx="72644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 spc="-115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@reallygreatsite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34675" y="7829550"/>
            <a:ext cx="5448300" cy="838835"/>
            <a:chOff x="0" y="0"/>
            <a:chExt cx="7264400" cy="111844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165">
                  <a:solidFill>
                    <a:srgbClr val="F7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Phone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59130"/>
              <a:ext cx="7264400" cy="459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110">
                  <a:solidFill>
                    <a:srgbClr val="CCCCCC"/>
                  </a:solidFill>
                  <a:latin typeface="Work Sans"/>
                  <a:ea typeface="Work Sans"/>
                  <a:cs typeface="Work Sans"/>
                  <a:sym typeface="Work Sans"/>
                </a:rPr>
                <a:t>123-456-7890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9969341" y="4248150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969341" y="6038952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5"/>
                </a:lnTo>
                <a:lnTo>
                  <a:pt x="0" y="460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969341" y="7829754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5"/>
                </a:lnTo>
                <a:lnTo>
                  <a:pt x="0" y="460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Custom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Work Sans Bold</vt:lpstr>
      <vt:lpstr>Calibri</vt:lpstr>
      <vt:lpstr>Work Sans</vt:lpstr>
      <vt:lpstr>Work Sans Semi-Bold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Crafting Your Portfolio</dc:title>
  <dc:creator>PADMANAVA</dc:creator>
  <dc:description>Presentation - Crafting Your Portfolio</dc:description>
  <cp:lastModifiedBy>mojumderpadmanava@gmail.com</cp:lastModifiedBy>
  <cp:revision>1</cp:revision>
  <dcterms:created xsi:type="dcterms:W3CDTF">2006-08-16T00:00:00Z</dcterms:created>
  <dcterms:modified xsi:type="dcterms:W3CDTF">2025-10-18T05:38:59Z</dcterms:modified>
  <dc:identifier>DAG13_7plrA</dc:identifier>
</cp:coreProperties>
</file>