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Telegraf" panose="020B0604020202020204" charset="0"/>
      <p:regular r:id="rId15"/>
    </p:embeddedFont>
    <p:embeddedFont>
      <p:font typeface="Telegraf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5475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7191375" cy="8953500"/>
            <a:chOff x="0" y="0"/>
            <a:chExt cx="928643" cy="11561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8643" cy="1156192"/>
            </a:xfrm>
            <a:custGeom>
              <a:avLst/>
              <a:gdLst/>
              <a:ahLst/>
              <a:cxnLst/>
              <a:rect l="l" t="t" r="r" b="b"/>
              <a:pathLst>
                <a:path w="928643" h="1156192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296400" y="666750"/>
            <a:ext cx="8324850" cy="4781550"/>
            <a:chOff x="0" y="0"/>
            <a:chExt cx="11099800" cy="6375400"/>
          </a:xfrm>
        </p:grpSpPr>
        <p:sp>
          <p:nvSpPr>
            <p:cNvPr id="8" name="TextBox 8"/>
            <p:cNvSpPr txBox="1"/>
            <p:nvPr/>
          </p:nvSpPr>
          <p:spPr>
            <a:xfrm>
              <a:off x="0" y="1174750"/>
              <a:ext cx="11099800" cy="5200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 b="1" spc="-89">
                  <a:solidFill>
                    <a:srgbClr val="35475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Infographic PowerPoint Template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1099800" cy="606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99"/>
                </a:lnSpc>
              </a:pPr>
              <a:r>
                <a:rPr lang="en-US" sz="2999" b="1" spc="-29">
                  <a:solidFill>
                    <a:srgbClr val="687A9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Introduction to Infographics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9144000"/>
            <a:ext cx="832485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spc="-30">
                <a:solidFill>
                  <a:srgbClr val="35475E"/>
                </a:solidFill>
                <a:latin typeface="Telegraf"/>
                <a:ea typeface="Telegraf"/>
                <a:cs typeface="Telegraf"/>
                <a:sym typeface="Telegraf"/>
              </a:rPr>
              <a:t>Presented by [Presenter Name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934213"/>
            <a:ext cx="11201400" cy="1644650"/>
            <a:chOff x="0" y="0"/>
            <a:chExt cx="14935200" cy="21928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771650"/>
              <a:ext cx="14935200" cy="421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00"/>
                </a:lnSpc>
              </a:pPr>
              <a:r>
                <a:rPr lang="en-US" sz="2000" u="none" strike="noStrike" spc="-20">
                  <a:solidFill>
                    <a:srgbClr val="687A95"/>
                  </a:solidFill>
                  <a:latin typeface="Telegraf"/>
                  <a:ea typeface="Telegraf"/>
                  <a:cs typeface="Telegraf"/>
                  <a:sym typeface="Telegraf"/>
                </a:rPr>
                <a:t>Present concise metrics for quick data digestion.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9352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35475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Modular Data Overview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038850"/>
            <a:chOff x="0" y="0"/>
            <a:chExt cx="2161206" cy="713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1206" cy="713648"/>
            </a:xfrm>
            <a:custGeom>
              <a:avLst/>
              <a:gdLst/>
              <a:ahLst/>
              <a:cxnLst/>
              <a:rect l="l" t="t" r="r" b="b"/>
              <a:pathLst>
                <a:path w="2161206" h="713648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t="-5268" b="-5268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35475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AND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43300" y="6952607"/>
            <a:ext cx="6886575" cy="1015267"/>
            <a:chOff x="0" y="0"/>
            <a:chExt cx="9182100" cy="135369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9182100" cy="582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90"/>
                </a:lnSpc>
              </a:pPr>
              <a:r>
                <a:rPr lang="en-US" sz="2900" b="1" spc="-29">
                  <a:solidFill>
                    <a:srgbClr val="687A9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Completion Rate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875323"/>
              <a:ext cx="9182100" cy="47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spc="-20">
                  <a:solidFill>
                    <a:srgbClr val="35475E"/>
                  </a:solidFill>
                  <a:latin typeface="Telegraf"/>
                  <a:ea typeface="Telegraf"/>
                  <a:cs typeface="Telegraf"/>
                  <a:sym typeface="Telegraf"/>
                </a:rPr>
                <a:t>The project completion rate stands at </a:t>
              </a:r>
              <a:r>
                <a:rPr lang="en-US" sz="2000" b="1" spc="-20">
                  <a:solidFill>
                    <a:srgbClr val="35475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75%</a:t>
              </a:r>
              <a:r>
                <a:rPr lang="en-US" sz="2000" spc="-20">
                  <a:solidFill>
                    <a:srgbClr val="35475E"/>
                  </a:solidFill>
                  <a:latin typeface="Telegraf"/>
                  <a:ea typeface="Telegraf"/>
                  <a:cs typeface="Telegraf"/>
                  <a:sym typeface="Telegraf"/>
                </a:rPr>
                <a:t> as of today.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4675" y="6952607"/>
            <a:ext cx="6886575" cy="1015267"/>
            <a:chOff x="0" y="0"/>
            <a:chExt cx="9182100" cy="1353690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9182100" cy="582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90"/>
                </a:lnSpc>
              </a:pPr>
              <a:r>
                <a:rPr lang="en-US" sz="2900" b="1" spc="-29">
                  <a:solidFill>
                    <a:srgbClr val="687A9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Revenue Generated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75323"/>
              <a:ext cx="9182100" cy="47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spc="-20">
                  <a:solidFill>
                    <a:srgbClr val="35475E"/>
                  </a:solidFill>
                  <a:latin typeface="Telegraf"/>
                  <a:ea typeface="Telegraf"/>
                  <a:cs typeface="Telegraf"/>
                  <a:sym typeface="Telegraf"/>
                </a:rPr>
                <a:t>The total revenue generated is </a:t>
              </a:r>
              <a:r>
                <a:rPr lang="en-US" sz="2000" b="1" spc="-20">
                  <a:solidFill>
                    <a:srgbClr val="35475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$1.5 million</a:t>
              </a:r>
              <a:r>
                <a:rPr lang="en-US" sz="2000" spc="-20">
                  <a:solidFill>
                    <a:srgbClr val="35475E"/>
                  </a:solidFill>
                  <a:latin typeface="Telegraf"/>
                  <a:ea typeface="Telegraf"/>
                  <a:cs typeface="Telegraf"/>
                  <a:sym typeface="Telegraf"/>
                </a:rPr>
                <a:t> this quarter.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29175" y="1724025"/>
            <a:ext cx="4314825" cy="431482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475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1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351325" y="3221355"/>
            <a:ext cx="3178462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70"/>
              </a:lnSpc>
            </a:pPr>
            <a:r>
              <a:rPr lang="en-US" sz="8700" b="1" spc="-86">
                <a:solidFill>
                  <a:srgbClr val="D6E0F0"/>
                </a:solidFill>
                <a:latin typeface="Telegraf Bold"/>
                <a:ea typeface="Telegraf Bold"/>
                <a:cs typeface="Telegraf Bold"/>
                <a:sym typeface="Telegraf Bold"/>
              </a:rPr>
              <a:t>75%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020550" y="1724055"/>
            <a:ext cx="4314825" cy="4314765"/>
            <a:chOff x="0" y="0"/>
            <a:chExt cx="812800" cy="8127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789"/>
            </a:xfrm>
            <a:custGeom>
              <a:avLst/>
              <a:gdLst/>
              <a:ahLst/>
              <a:cxnLst/>
              <a:rect l="l" t="t" r="r" b="b"/>
              <a:pathLst>
                <a:path w="812800" h="812789">
                  <a:moveTo>
                    <a:pt x="406400" y="0"/>
                  </a:moveTo>
                  <a:cubicBezTo>
                    <a:pt x="181951" y="0"/>
                    <a:pt x="0" y="181949"/>
                    <a:pt x="0" y="406394"/>
                  </a:cubicBezTo>
                  <a:cubicBezTo>
                    <a:pt x="0" y="630840"/>
                    <a:pt x="181951" y="812789"/>
                    <a:pt x="406400" y="812789"/>
                  </a:cubicBezTo>
                  <a:cubicBezTo>
                    <a:pt x="630849" y="812789"/>
                    <a:pt x="812800" y="630840"/>
                    <a:pt x="812800" y="406394"/>
                  </a:cubicBezTo>
                  <a:cubicBezTo>
                    <a:pt x="812800" y="18194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475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66674"/>
              <a:ext cx="660400" cy="669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1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648730" y="3221355"/>
            <a:ext cx="3150528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70"/>
              </a:lnSpc>
            </a:pPr>
            <a:r>
              <a:rPr lang="en-US" sz="8700" b="1" u="none" strike="noStrike" spc="-86">
                <a:solidFill>
                  <a:srgbClr val="D6E0F0"/>
                </a:solidFill>
                <a:latin typeface="Telegraf Bold"/>
                <a:ea typeface="Telegraf Bold"/>
                <a:cs typeface="Telegraf Bold"/>
                <a:sym typeface="Telegraf Bold"/>
              </a:rPr>
              <a:t>$1.5M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7B1C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35475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410929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95550" y="3352800"/>
            <a:ext cx="1790700" cy="17907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475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48650" y="3352800"/>
            <a:ext cx="1790700" cy="17907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475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647700"/>
            <a:ext cx="16230600" cy="107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Summary Insights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66750" y="6038850"/>
            <a:ext cx="5448300" cy="1264920"/>
            <a:chOff x="0" y="0"/>
            <a:chExt cx="7264400" cy="168656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 u="none" strike="noStrike" spc="-30">
                  <a:solidFill>
                    <a:srgbClr val="687A9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Data Overview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38294"/>
              <a:ext cx="7264400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spc="-20">
                  <a:solidFill>
                    <a:srgbClr val="35475E"/>
                  </a:solidFill>
                  <a:latin typeface="Telegraf"/>
                  <a:ea typeface="Telegraf"/>
                  <a:cs typeface="Telegraf"/>
                  <a:sym typeface="Telegraf"/>
                </a:rPr>
                <a:t>Modular layouts facilitate clear, concise data presentation.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19850" y="6038850"/>
            <a:ext cx="5448300" cy="1264920"/>
            <a:chOff x="0" y="0"/>
            <a:chExt cx="7264400" cy="168656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 u="none" strike="noStrike" spc="-30">
                  <a:solidFill>
                    <a:srgbClr val="687A9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Process Flow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38294"/>
              <a:ext cx="7264400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spc="-20">
                  <a:solidFill>
                    <a:srgbClr val="35475E"/>
                  </a:solidFill>
                  <a:latin typeface="Telegraf"/>
                  <a:ea typeface="Telegraf"/>
                  <a:cs typeface="Telegraf"/>
                  <a:sym typeface="Telegraf"/>
                </a:rPr>
                <a:t>Visual steps enhance understanding of complex workflows.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6038850"/>
            <a:ext cx="5448300" cy="1264920"/>
            <a:chOff x="0" y="0"/>
            <a:chExt cx="7264400" cy="168656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 u="none" strike="noStrike" spc="-30">
                  <a:solidFill>
                    <a:srgbClr val="687A9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Comparison Analysis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738294"/>
              <a:ext cx="7264400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spc="-20">
                  <a:solidFill>
                    <a:srgbClr val="35475E"/>
                  </a:solidFill>
                  <a:latin typeface="Telegraf"/>
                  <a:ea typeface="Telegraf"/>
                  <a:cs typeface="Telegraf"/>
                  <a:sym typeface="Telegraf"/>
                </a:rPr>
                <a:t>Side-by-side visuals simplify decision-making processes.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001750" y="3352800"/>
            <a:ext cx="1790700" cy="179070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475E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35475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TAKEAWAYS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41972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934213"/>
            <a:ext cx="11201400" cy="1644650"/>
            <a:chOff x="0" y="0"/>
            <a:chExt cx="14935200" cy="21928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771650"/>
              <a:ext cx="14935200" cy="421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00"/>
                </a:lnSpc>
              </a:pPr>
              <a:r>
                <a:rPr lang="en-US" sz="2000" u="none" strike="noStrike" spc="-20">
                  <a:solidFill>
                    <a:srgbClr val="687A95"/>
                  </a:solidFill>
                  <a:latin typeface="Telegraf"/>
                  <a:ea typeface="Telegraf"/>
                  <a:cs typeface="Telegraf"/>
                  <a:sym typeface="Telegraf"/>
                </a:rPr>
                <a:t>Visualizing steps enhances clarity and understanding.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9352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35475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Process and Workflow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038850"/>
            <a:chOff x="0" y="0"/>
            <a:chExt cx="2161206" cy="713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1206" cy="713648"/>
            </a:xfrm>
            <a:custGeom>
              <a:avLst/>
              <a:gdLst/>
              <a:ahLst/>
              <a:cxnLst/>
              <a:rect l="l" t="t" r="r" b="b"/>
              <a:pathLst>
                <a:path w="2161206" h="713648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t="-5268" b="-5268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35475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AND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7B1C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8058150"/>
            <a:chOff x="0" y="0"/>
            <a:chExt cx="81382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3829" cy="952281"/>
            </a:xfrm>
            <a:custGeom>
              <a:avLst/>
              <a:gdLst/>
              <a:ahLst/>
              <a:cxnLst/>
              <a:rect l="l" t="t" r="r" b="b"/>
              <a:pathLst>
                <a:path w="813829" h="952281">
                  <a:moveTo>
                    <a:pt x="39347" y="0"/>
                  </a:moveTo>
                  <a:lnTo>
                    <a:pt x="774482" y="0"/>
                  </a:lnTo>
                  <a:cubicBezTo>
                    <a:pt x="796213" y="0"/>
                    <a:pt x="813829" y="17616"/>
                    <a:pt x="813829" y="39347"/>
                  </a:cubicBezTo>
                  <a:lnTo>
                    <a:pt x="813829" y="912934"/>
                  </a:lnTo>
                  <a:cubicBezTo>
                    <a:pt x="813829" y="934665"/>
                    <a:pt x="796213" y="952281"/>
                    <a:pt x="774482" y="952281"/>
                  </a:cubicBezTo>
                  <a:lnTo>
                    <a:pt x="39347" y="952281"/>
                  </a:lnTo>
                  <a:cubicBezTo>
                    <a:pt x="17616" y="952281"/>
                    <a:pt x="0" y="934665"/>
                    <a:pt x="0" y="912934"/>
                  </a:cubicBezTo>
                  <a:lnTo>
                    <a:pt x="0" y="39347"/>
                  </a:lnTo>
                  <a:cubicBezTo>
                    <a:pt x="0" y="17616"/>
                    <a:pt x="17616" y="0"/>
                    <a:pt x="39347" y="0"/>
                  </a:cubicBezTo>
                  <a:close/>
                </a:path>
              </a:pathLst>
            </a:custGeom>
            <a:blipFill>
              <a:blip r:embed="rId2"/>
              <a:stretch>
                <a:fillRect t="-197" b="-19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296400" y="666750"/>
            <a:ext cx="8324850" cy="5103401"/>
            <a:chOff x="0" y="0"/>
            <a:chExt cx="11099800" cy="6804535"/>
          </a:xfrm>
        </p:grpSpPr>
        <p:sp>
          <p:nvSpPr>
            <p:cNvPr id="8" name="TextBox 8"/>
            <p:cNvSpPr txBox="1"/>
            <p:nvPr/>
          </p:nvSpPr>
          <p:spPr>
            <a:xfrm>
              <a:off x="0" y="4916469"/>
              <a:ext cx="11099800" cy="18880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35475E"/>
                  </a:solidFill>
                  <a:latin typeface="Telegraf"/>
                  <a:ea typeface="Telegraf"/>
                  <a:cs typeface="Telegraf"/>
                  <a:sym typeface="Telegraf"/>
                </a:rPr>
                <a:t>This template provides a comprehensive overview of business operations through modular elements, enabling quick comprehension of workflows and facilitating efficient decision-making for professionals in various industries.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562350"/>
              <a:ext cx="11099800" cy="1187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687A9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Understanding Business Operations Processes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10998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35475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High-Level Overview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35475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INSIGHTS AND NOTES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7B1C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35475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ADDITIONAL INSIGHTS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441506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7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66750" y="666750"/>
            <a:ext cx="12639675" cy="1784350"/>
            <a:chOff x="0" y="0"/>
            <a:chExt cx="16852900" cy="2379134"/>
          </a:xfrm>
        </p:grpSpPr>
        <p:sp>
          <p:nvSpPr>
            <p:cNvPr id="9" name="TextBox 9"/>
            <p:cNvSpPr txBox="1"/>
            <p:nvPr/>
          </p:nvSpPr>
          <p:spPr>
            <a:xfrm>
              <a:off x="0" y="-19050"/>
              <a:ext cx="16852900" cy="1432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700"/>
                </a:lnSpc>
              </a:pPr>
              <a:r>
                <a:rPr lang="en-US" sz="7000" b="1" spc="-70">
                  <a:solidFill>
                    <a:srgbClr val="35475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Step-by-Step Analysis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750484"/>
              <a:ext cx="168529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687A9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Understanding processes through visuals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3352800"/>
            <a:ext cx="8324850" cy="1901825"/>
            <a:chOff x="0" y="0"/>
            <a:chExt cx="11099800" cy="253576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190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none" strike="noStrike" spc="-30">
                  <a:solidFill>
                    <a:srgbClr val="687A9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Detailed Explanations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117600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20">
                  <a:solidFill>
                    <a:srgbClr val="35475E"/>
                  </a:solidFill>
                  <a:latin typeface="Telegraf"/>
                  <a:ea typeface="Telegraf"/>
                  <a:cs typeface="Telegraf"/>
                  <a:sym typeface="Telegraf"/>
                </a:rPr>
                <a:t>Each step of the process is accompanied by </a:t>
              </a:r>
              <a:r>
                <a:rPr lang="en-US" sz="2000" b="1" u="none" strike="noStrike" spc="-20">
                  <a:solidFill>
                    <a:srgbClr val="35475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visual aids</a:t>
              </a:r>
              <a:r>
                <a:rPr lang="en-US" sz="2000" u="none" strike="noStrike" spc="-20">
                  <a:solidFill>
                    <a:srgbClr val="35475E"/>
                  </a:solidFill>
                  <a:latin typeface="Telegraf"/>
                  <a:ea typeface="Telegraf"/>
                  <a:cs typeface="Telegraf"/>
                  <a:sym typeface="Telegraf"/>
                </a:rPr>
                <a:t> that enhance understanding, ensuring clarity and engagement for viewers as they navigate through the workflow presented.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934213"/>
            <a:ext cx="11201400" cy="1644650"/>
            <a:chOff x="0" y="0"/>
            <a:chExt cx="14935200" cy="21928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771650"/>
              <a:ext cx="14935200" cy="421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00"/>
                </a:lnSpc>
              </a:pPr>
              <a:r>
                <a:rPr lang="en-US" sz="2000" u="none" strike="noStrike" spc="-20">
                  <a:solidFill>
                    <a:srgbClr val="35475E"/>
                  </a:solidFill>
                  <a:latin typeface="Telegraf"/>
                  <a:ea typeface="Telegraf"/>
                  <a:cs typeface="Telegraf"/>
                  <a:sym typeface="Telegraf"/>
                </a:rPr>
                <a:t>This section highlights key metrics and insights effectively.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9352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35475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Comparison and Analysis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038850"/>
            <a:chOff x="0" y="0"/>
            <a:chExt cx="2161206" cy="713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1206" cy="713648"/>
            </a:xfrm>
            <a:custGeom>
              <a:avLst/>
              <a:gdLst/>
              <a:ahLst/>
              <a:cxnLst/>
              <a:rect l="l" t="t" r="r" b="b"/>
              <a:pathLst>
                <a:path w="2161206" h="713648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t="-5268" b="-5268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35475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AND REFERENCES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2571392"/>
            <a:chOff x="0" y="0"/>
            <a:chExt cx="9182100" cy="3428523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35475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Overview Comparison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799873"/>
              <a:ext cx="91821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687A9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Strategic Decision Making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4675" y="4248076"/>
            <a:ext cx="5399474" cy="1969789"/>
            <a:chOff x="0" y="0"/>
            <a:chExt cx="7199298" cy="2626385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7199298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687A9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Feature Comparison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38318"/>
              <a:ext cx="7199298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35475E"/>
                  </a:solidFill>
                  <a:latin typeface="Telegraf"/>
                  <a:ea typeface="Telegraf"/>
                  <a:cs typeface="Telegraf"/>
                  <a:sym typeface="Telegraf"/>
                </a:rPr>
                <a:t>An effective feature comparison table highlights essential attributes, enabling stakeholders to make informed choices quickly and efficiently.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8125" y="1562100"/>
            <a:ext cx="2571750" cy="1790700"/>
            <a:chOff x="0" y="0"/>
            <a:chExt cx="116731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67319" cy="812800"/>
            </a:xfrm>
            <a:custGeom>
              <a:avLst/>
              <a:gdLst/>
              <a:ahLst/>
              <a:cxnLst/>
              <a:rect l="l" t="t" r="r" b="b"/>
              <a:pathLst>
                <a:path w="1167319" h="812800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61"/>
                  </a:lnTo>
                  <a:cubicBezTo>
                    <a:pt x="1167319" y="761925"/>
                    <a:pt x="1160024" y="779536"/>
                    <a:pt x="1147040" y="792521"/>
                  </a:cubicBezTo>
                  <a:cubicBezTo>
                    <a:pt x="1134055" y="805505"/>
                    <a:pt x="1116444" y="812800"/>
                    <a:pt x="1098081" y="812800"/>
                  </a:cubicBezTo>
                  <a:lnTo>
                    <a:pt x="69239" y="812800"/>
                  </a:lnTo>
                  <a:cubicBezTo>
                    <a:pt x="50875" y="812800"/>
                    <a:pt x="33264" y="805505"/>
                    <a:pt x="20279" y="792521"/>
                  </a:cubicBezTo>
                  <a:cubicBezTo>
                    <a:pt x="7295" y="779536"/>
                    <a:pt x="0" y="761925"/>
                    <a:pt x="0" y="743561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2"/>
              <a:stretch>
                <a:fillRect l="-365" r="-36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0734675" y="1562100"/>
            <a:ext cx="5448300" cy="1617364"/>
            <a:chOff x="0" y="0"/>
            <a:chExt cx="7264400" cy="2156485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687A9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Decision Matrix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38318"/>
              <a:ext cx="72644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35475E"/>
                  </a:solidFill>
                  <a:latin typeface="Telegraf"/>
                  <a:ea typeface="Telegraf"/>
                  <a:cs typeface="Telegraf"/>
                  <a:sym typeface="Telegraf"/>
                </a:rPr>
                <a:t>A decision matrix helps compare multiple options against predefined criteria, facilitating clear judgment in strategic planning.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734675" y="6932307"/>
            <a:ext cx="5448300" cy="1617345"/>
            <a:chOff x="0" y="0"/>
            <a:chExt cx="7264400" cy="215646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687A9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Performance Analysis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38293"/>
              <a:ext cx="72644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35475E"/>
                  </a:solidFill>
                  <a:latin typeface="Telegraf"/>
                  <a:ea typeface="Telegraf"/>
                  <a:cs typeface="Telegraf"/>
                  <a:sym typeface="Telegraf"/>
                </a:rPr>
                <a:t>A radar chart visually represents performance metrics, allowing teams to identify strengths and weaknesses in various strategic choices.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58125" y="4248076"/>
            <a:ext cx="2571750" cy="1790774"/>
            <a:chOff x="0" y="0"/>
            <a:chExt cx="1167319" cy="8128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3"/>
              <a:stretch>
                <a:fillRect l="-367" r="-367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7858125" y="6934126"/>
            <a:ext cx="2571750" cy="1790774"/>
            <a:chOff x="0" y="0"/>
            <a:chExt cx="1167319" cy="81283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4"/>
              <a:stretch>
                <a:fillRect l="-367" r="-367"/>
              </a:stretch>
            </a:blipFill>
          </p:spPr>
        </p:sp>
      </p:grpSp>
      <p:sp>
        <p:nvSpPr>
          <p:cNvPr id="20" name="AutoShape 20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35475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AND INSIGHTS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43210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934213"/>
            <a:ext cx="11201400" cy="1644650"/>
            <a:chOff x="0" y="0"/>
            <a:chExt cx="14935200" cy="21928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771650"/>
              <a:ext cx="14935200" cy="421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00"/>
                </a:lnSpc>
              </a:pPr>
              <a:r>
                <a:rPr lang="en-US" sz="2000" u="none" strike="noStrike" spc="-20">
                  <a:solidFill>
                    <a:srgbClr val="687A95"/>
                  </a:solidFill>
                  <a:latin typeface="Telegraf"/>
                  <a:ea typeface="Telegraf"/>
                  <a:cs typeface="Telegraf"/>
                  <a:sym typeface="Telegraf"/>
                </a:rPr>
                <a:t>This section outlines key project phases and milestones.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9352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35475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Timeline and Milestones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038850"/>
            <a:chOff x="0" y="0"/>
            <a:chExt cx="2161206" cy="713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1206" cy="713648"/>
            </a:xfrm>
            <a:custGeom>
              <a:avLst/>
              <a:gdLst/>
              <a:ahLst/>
              <a:cxnLst/>
              <a:rect l="l" t="t" r="r" b="b"/>
              <a:pathLst>
                <a:path w="2161206" h="713648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t="-5268" b="-5268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35475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AND COMMENTS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457450"/>
            <a:chOff x="0" y="0"/>
            <a:chExt cx="4816593" cy="647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47230"/>
            </a:xfrm>
            <a:custGeom>
              <a:avLst/>
              <a:gdLst/>
              <a:ahLst/>
              <a:cxnLst/>
              <a:rect l="l" t="t" r="r" b="b"/>
              <a:pathLst>
                <a:path w="4816592" h="647230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A7B1C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694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666750" y="5143500"/>
            <a:ext cx="16954500" cy="0"/>
          </a:xfrm>
          <a:prstGeom prst="line">
            <a:avLst/>
          </a:prstGeom>
          <a:ln w="9525" cap="flat">
            <a:solidFill>
              <a:srgbClr val="35475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666750" y="5008305"/>
            <a:ext cx="270390" cy="27039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475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262897" y="5008305"/>
            <a:ext cx="270390" cy="27039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475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57250" y="3767946"/>
            <a:ext cx="238125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b="1" spc="-30">
                <a:solidFill>
                  <a:srgbClr val="D6E0F0"/>
                </a:solidFill>
                <a:latin typeface="Telegraf Bold"/>
                <a:ea typeface="Telegraf Bold"/>
                <a:cs typeface="Telegraf Bold"/>
                <a:sym typeface="Telegraf Bold"/>
              </a:rPr>
              <a:t>Event One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6750" y="5957734"/>
            <a:ext cx="2571750" cy="108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spc="-20">
                <a:solidFill>
                  <a:srgbClr val="35475E"/>
                </a:solidFill>
                <a:latin typeface="Telegraf"/>
                <a:ea typeface="Telegraf"/>
                <a:cs typeface="Telegraf"/>
                <a:sym typeface="Telegraf"/>
              </a:rPr>
              <a:t>Initial project kickoff, setting goals and timelines for success.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62897" y="5957734"/>
            <a:ext cx="2571750" cy="178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spc="-20">
                <a:solidFill>
                  <a:srgbClr val="35475E"/>
                </a:solidFill>
                <a:latin typeface="Telegraf"/>
                <a:ea typeface="Telegraf"/>
                <a:cs typeface="Telegraf"/>
                <a:sym typeface="Telegraf"/>
              </a:rPr>
              <a:t>Development phase begins, focusing on design and implementation strategies.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98092" y="3767946"/>
            <a:ext cx="2567447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  <a:spcBef>
                <a:spcPct val="0"/>
              </a:spcBef>
            </a:pPr>
            <a:r>
              <a:rPr lang="en-US" sz="3000" b="1" u="none" strike="noStrike" spc="-30">
                <a:solidFill>
                  <a:srgbClr val="D6E0F0"/>
                </a:solidFill>
                <a:latin typeface="Telegraf Bold"/>
                <a:ea typeface="Telegraf Bold"/>
                <a:cs typeface="Telegraf Bold"/>
                <a:sym typeface="Telegraf Bold"/>
              </a:rPr>
              <a:t>Event Two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94240" y="3767946"/>
            <a:ext cx="257083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  <a:spcBef>
                <a:spcPct val="0"/>
              </a:spcBef>
            </a:pPr>
            <a:r>
              <a:rPr lang="en-US" sz="3000" b="1" u="none" strike="noStrike" spc="-30">
                <a:solidFill>
                  <a:srgbClr val="D6E0F0"/>
                </a:solidFill>
                <a:latin typeface="Telegraf Bold"/>
                <a:ea typeface="Telegraf Bold"/>
                <a:cs typeface="Telegraf Bold"/>
                <a:sym typeface="Telegraf Bold"/>
              </a:rPr>
              <a:t>Event Three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93770" y="3767946"/>
            <a:ext cx="257175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  <a:spcBef>
                <a:spcPct val="0"/>
              </a:spcBef>
            </a:pPr>
            <a:r>
              <a:rPr lang="en-US" sz="3000" b="1" u="none" strike="noStrike" spc="-30">
                <a:solidFill>
                  <a:srgbClr val="D6E0F0"/>
                </a:solidFill>
                <a:latin typeface="Telegraf Bold"/>
                <a:ea typeface="Telegraf Bold"/>
                <a:cs typeface="Telegraf Bold"/>
                <a:sym typeface="Telegraf Bold"/>
              </a:rPr>
              <a:t>Event Four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186535" y="3771900"/>
            <a:ext cx="2438707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  <a:spcBef>
                <a:spcPct val="0"/>
              </a:spcBef>
            </a:pPr>
            <a:r>
              <a:rPr lang="en-US" sz="3000" b="1" u="none" strike="noStrike" spc="-30">
                <a:solidFill>
                  <a:srgbClr val="D6E0F0"/>
                </a:solidFill>
                <a:latin typeface="Telegraf Bold"/>
                <a:ea typeface="Telegraf Bold"/>
                <a:cs typeface="Telegraf Bold"/>
                <a:sym typeface="Telegraf Bold"/>
              </a:rPr>
              <a:t>Event Five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6750" y="657225"/>
            <a:ext cx="16954500" cy="106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 spc="-69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Timeline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859045" y="5008305"/>
            <a:ext cx="270390" cy="27039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475E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455192" y="5008305"/>
            <a:ext cx="270390" cy="270390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475E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051340" y="5008305"/>
            <a:ext cx="270390" cy="270390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475E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859045" y="5957734"/>
            <a:ext cx="2571750" cy="143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spc="-20">
                <a:solidFill>
                  <a:srgbClr val="35475E"/>
                </a:solidFill>
                <a:latin typeface="Telegraf"/>
                <a:ea typeface="Telegraf"/>
                <a:cs typeface="Telegraf"/>
                <a:sym typeface="Telegraf"/>
              </a:rPr>
              <a:t>Mid-project review, assessing progress and adjusting timelines as needed.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5192" y="5957734"/>
            <a:ext cx="2571750" cy="143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spc="-20">
                <a:solidFill>
                  <a:srgbClr val="35475E"/>
                </a:solidFill>
                <a:latin typeface="Telegraf"/>
                <a:ea typeface="Telegraf"/>
                <a:cs typeface="Telegraf"/>
                <a:sym typeface="Telegraf"/>
              </a:rPr>
              <a:t>Final testing and quality assurance before the official launch.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051340" y="5957734"/>
            <a:ext cx="2571750" cy="178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spc="-20">
                <a:solidFill>
                  <a:srgbClr val="35475E"/>
                </a:solidFill>
                <a:latin typeface="Telegraf"/>
                <a:ea typeface="Telegraf"/>
                <a:cs typeface="Telegraf"/>
                <a:sym typeface="Telegraf"/>
              </a:rPr>
              <a:t>Project launch and rollout, sharing outcomes with stakeholders and audience.</a:t>
            </a:r>
          </a:p>
        </p:txBody>
      </p:sp>
      <p:sp>
        <p:nvSpPr>
          <p:cNvPr id="32" name="AutoShape 3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35475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TextBox 33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ADDITIONAL INFORMATION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2CC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91600" y="666750"/>
            <a:ext cx="8629650" cy="8058150"/>
            <a:chOff x="0" y="0"/>
            <a:chExt cx="101981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19819" cy="952281"/>
            </a:xfrm>
            <a:custGeom>
              <a:avLst/>
              <a:gdLst/>
              <a:ahLst/>
              <a:cxnLst/>
              <a:rect l="l" t="t" r="r" b="b"/>
              <a:pathLst>
                <a:path w="1019819" h="952281">
                  <a:moveTo>
                    <a:pt x="65491" y="0"/>
                  </a:moveTo>
                  <a:lnTo>
                    <a:pt x="954329" y="0"/>
                  </a:lnTo>
                  <a:cubicBezTo>
                    <a:pt x="971698" y="0"/>
                    <a:pt x="988355" y="6900"/>
                    <a:pt x="1000637" y="19182"/>
                  </a:cubicBezTo>
                  <a:cubicBezTo>
                    <a:pt x="1012919" y="31464"/>
                    <a:pt x="1019819" y="48121"/>
                    <a:pt x="1019819" y="65491"/>
                  </a:cubicBezTo>
                  <a:lnTo>
                    <a:pt x="1019819" y="886791"/>
                  </a:lnTo>
                  <a:cubicBezTo>
                    <a:pt x="1019819" y="904160"/>
                    <a:pt x="1012919" y="920818"/>
                    <a:pt x="1000637" y="933100"/>
                  </a:cubicBezTo>
                  <a:cubicBezTo>
                    <a:pt x="988355" y="945382"/>
                    <a:pt x="971698" y="952281"/>
                    <a:pt x="954329" y="952281"/>
                  </a:cubicBezTo>
                  <a:lnTo>
                    <a:pt x="65491" y="952281"/>
                  </a:lnTo>
                  <a:cubicBezTo>
                    <a:pt x="48121" y="952281"/>
                    <a:pt x="31464" y="945382"/>
                    <a:pt x="19182" y="933100"/>
                  </a:cubicBezTo>
                  <a:cubicBezTo>
                    <a:pt x="6900" y="920818"/>
                    <a:pt x="0" y="904160"/>
                    <a:pt x="0" y="886791"/>
                  </a:cubicBezTo>
                  <a:lnTo>
                    <a:pt x="0" y="65491"/>
                  </a:lnTo>
                  <a:cubicBezTo>
                    <a:pt x="0" y="48121"/>
                    <a:pt x="6900" y="31464"/>
                    <a:pt x="19182" y="19182"/>
                  </a:cubicBezTo>
                  <a:cubicBezTo>
                    <a:pt x="31464" y="6900"/>
                    <a:pt x="48121" y="0"/>
                    <a:pt x="65491" y="0"/>
                  </a:cubicBezTo>
                  <a:close/>
                </a:path>
              </a:pathLst>
            </a:custGeom>
            <a:blipFill>
              <a:blip r:embed="rId2"/>
              <a:stretch>
                <a:fillRect l="-135" r="-135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6750" y="647700"/>
            <a:ext cx="6886575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b="1" u="none" strike="noStrike" spc="-30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tracking made easy</a:t>
            </a:r>
          </a:p>
        </p:txBody>
      </p:sp>
      <p:sp>
        <p:nvSpPr>
          <p:cNvPr id="8" name="AutoShape 8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35475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FOR CONSIDERATION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14988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35475E"/>
                </a:solidFill>
                <a:latin typeface="Telegraf Bold"/>
                <a:ea typeface="Telegraf Bold"/>
                <a:cs typeface="Telegraf Bold"/>
                <a:sym typeface="Telegraf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419850" cy="10287000"/>
            <a:chOff x="0" y="0"/>
            <a:chExt cx="758673" cy="1215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58673" cy="1215678"/>
            </a:xfrm>
            <a:custGeom>
              <a:avLst/>
              <a:gdLst/>
              <a:ahLst/>
              <a:cxnLst/>
              <a:rect l="l" t="t" r="r" b="b"/>
              <a:pathLst>
                <a:path w="758673" h="1215678">
                  <a:moveTo>
                    <a:pt x="0" y="0"/>
                  </a:moveTo>
                  <a:lnTo>
                    <a:pt x="758673" y="0"/>
                  </a:lnTo>
                  <a:lnTo>
                    <a:pt x="758673" y="1215678"/>
                  </a:lnTo>
                  <a:lnTo>
                    <a:pt x="0" y="1215678"/>
                  </a:lnTo>
                  <a:close/>
                </a:path>
              </a:pathLst>
            </a:custGeom>
            <a:blipFill>
              <a:blip r:embed="rId2"/>
              <a:stretch>
                <a:fillRect t="-126" b="-1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858125" y="666750"/>
            <a:ext cx="8324850" cy="2603538"/>
            <a:chOff x="0" y="0"/>
            <a:chExt cx="11099800" cy="3471383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35475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Contact Information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42733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687A9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For further inquiries and support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858125" y="4246590"/>
            <a:ext cx="5753100" cy="898469"/>
            <a:chOff x="0" y="0"/>
            <a:chExt cx="7670800" cy="1197959"/>
          </a:xfrm>
        </p:grpSpPr>
        <p:sp>
          <p:nvSpPr>
            <p:cNvPr id="8" name="TextBox 8"/>
            <p:cNvSpPr txBox="1"/>
            <p:nvPr/>
          </p:nvSpPr>
          <p:spPr>
            <a:xfrm>
              <a:off x="0" y="-104775"/>
              <a:ext cx="76708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spc="-30">
                  <a:solidFill>
                    <a:srgbClr val="687A9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Phone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19592"/>
              <a:ext cx="7670800" cy="47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35475E"/>
                  </a:solidFill>
                  <a:latin typeface="Telegraf"/>
                  <a:ea typeface="Telegraf"/>
                  <a:cs typeface="Telegraf"/>
                  <a:sym typeface="Telegraf"/>
                </a:rPr>
                <a:t>123-456-7890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58125" y="6032294"/>
            <a:ext cx="5753100" cy="901906"/>
            <a:chOff x="0" y="0"/>
            <a:chExt cx="7670800" cy="1202541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04775"/>
              <a:ext cx="76708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u="none" strike="noStrike" spc="-30">
                  <a:solidFill>
                    <a:srgbClr val="687A9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Email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24175"/>
              <a:ext cx="7670800" cy="47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35475E"/>
                  </a:solidFill>
                  <a:latin typeface="Telegraf"/>
                  <a:ea typeface="Telegraf"/>
                  <a:cs typeface="Telegraf"/>
                  <a:sym typeface="Telegraf"/>
                </a:rPr>
                <a:t>hello@reallygreatsite.com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58125" y="7829550"/>
            <a:ext cx="5753100" cy="867604"/>
            <a:chOff x="0" y="0"/>
            <a:chExt cx="7670800" cy="1156805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04775"/>
              <a:ext cx="76708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u="none" strike="noStrike" spc="-30">
                  <a:solidFill>
                    <a:srgbClr val="687A9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Website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78438"/>
              <a:ext cx="7670800" cy="47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20">
                  <a:solidFill>
                    <a:srgbClr val="35475E"/>
                  </a:solidFill>
                  <a:latin typeface="Telegraf"/>
                  <a:ea typeface="Telegraf"/>
                  <a:cs typeface="Telegraf"/>
                  <a:sym typeface="Telegraf"/>
                </a:rPr>
                <a:t>www.reallygreatsite.com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</Words>
  <Application>Microsoft Office PowerPoint</Application>
  <PresentationFormat>Custom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Telegraf Bold</vt:lpstr>
      <vt:lpstr>Calibri</vt:lpstr>
      <vt:lpstr>Telegraf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Infographic PowerPoint Template</dc:title>
  <dc:creator>PADMANAVA</dc:creator>
  <dc:description>Presentation - Infographic PowerPoint Template</dc:description>
  <cp:lastModifiedBy>mojumderpadmanava@gmail.com</cp:lastModifiedBy>
  <cp:revision>1</cp:revision>
  <dcterms:created xsi:type="dcterms:W3CDTF">2006-08-16T00:00:00Z</dcterms:created>
  <dcterms:modified xsi:type="dcterms:W3CDTF">2025-10-18T06:09:14Z</dcterms:modified>
  <dc:identifier>DAG14GWamYM</dc:identifier>
</cp:coreProperties>
</file>