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Telegraf Bold" charset="1" panose="00000800000000000000"/>
      <p:regular r:id="rId21"/>
    </p:embeddedFont>
    <p:embeddedFont>
      <p:font typeface="Telegraf" charset="1" panose="000005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1.jpeg" Type="http://schemas.openxmlformats.org/officeDocument/2006/relationships/image"/><Relationship Id="rId4" Target="../media/image12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15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38500" cy="10287000"/>
            <a:chOff x="0" y="0"/>
            <a:chExt cx="852938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2938" cy="2709333"/>
            </a:xfrm>
            <a:custGeom>
              <a:avLst/>
              <a:gdLst/>
              <a:ahLst/>
              <a:cxnLst/>
              <a:rect r="r" b="b" t="t" l="l"/>
              <a:pathLst>
                <a:path h="2709333" w="852938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5F7F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666750"/>
            <a:ext cx="7191375" cy="8953500"/>
            <a:chOff x="0" y="0"/>
            <a:chExt cx="928643" cy="11561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28643" cy="1156192"/>
            </a:xfrm>
            <a:custGeom>
              <a:avLst/>
              <a:gdLst/>
              <a:ahLst/>
              <a:cxnLst/>
              <a:rect r="r" b="b" t="t" l="l"/>
              <a:pathLst>
                <a:path h="1156192" w="928643">
                  <a:moveTo>
                    <a:pt x="37679" y="0"/>
                  </a:moveTo>
                  <a:lnTo>
                    <a:pt x="890964" y="0"/>
                  </a:lnTo>
                  <a:cubicBezTo>
                    <a:pt x="900957" y="0"/>
                    <a:pt x="910541" y="3970"/>
                    <a:pt x="917607" y="11036"/>
                  </a:cubicBezTo>
                  <a:cubicBezTo>
                    <a:pt x="924673" y="18102"/>
                    <a:pt x="928643" y="27686"/>
                    <a:pt x="928643" y="37679"/>
                  </a:cubicBezTo>
                  <a:lnTo>
                    <a:pt x="928643" y="1118512"/>
                  </a:lnTo>
                  <a:cubicBezTo>
                    <a:pt x="928643" y="1139322"/>
                    <a:pt x="911774" y="1156192"/>
                    <a:pt x="890964" y="1156192"/>
                  </a:cubicBezTo>
                  <a:lnTo>
                    <a:pt x="37679" y="1156192"/>
                  </a:lnTo>
                  <a:cubicBezTo>
                    <a:pt x="16870" y="1156192"/>
                    <a:pt x="0" y="1139322"/>
                    <a:pt x="0" y="1118512"/>
                  </a:cubicBezTo>
                  <a:lnTo>
                    <a:pt x="0" y="37679"/>
                  </a:lnTo>
                  <a:cubicBezTo>
                    <a:pt x="0" y="16870"/>
                    <a:pt x="16870" y="0"/>
                    <a:pt x="37679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296400" y="666750"/>
            <a:ext cx="8324850" cy="3524250"/>
            <a:chOff x="0" y="0"/>
            <a:chExt cx="11099800" cy="469900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1174750"/>
              <a:ext cx="11099800" cy="3524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00"/>
                </a:lnSpc>
              </a:pPr>
              <a:r>
                <a:rPr lang="en-US" b="true" sz="9000" spc="-89">
                  <a:solidFill>
                    <a:srgbClr val="F5F7FA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Marketing and Sales Designs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-9525"/>
              <a:ext cx="11099800" cy="606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99"/>
                </a:lnSpc>
              </a:pPr>
              <a:r>
                <a:rPr lang="en-US" b="true" sz="2999" spc="-29">
                  <a:solidFill>
                    <a:srgbClr val="F5F7FA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Introduction to Templates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296400" y="9144000"/>
            <a:ext cx="832485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00"/>
              </a:lnSpc>
            </a:pPr>
            <a:r>
              <a:rPr lang="en-US" sz="3000" spc="-30">
                <a:solidFill>
                  <a:srgbClr val="F5F7FA"/>
                </a:solidFill>
                <a:latin typeface="Telegraf"/>
                <a:ea typeface="Telegraf"/>
                <a:cs typeface="Telegraf"/>
                <a:sym typeface="Telegraf"/>
              </a:rPr>
              <a:t>Presented by [your name here]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38500" cy="10287000"/>
            <a:chOff x="0" y="0"/>
            <a:chExt cx="852938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2938" cy="2709333"/>
            </a:xfrm>
            <a:custGeom>
              <a:avLst/>
              <a:gdLst/>
              <a:ahLst/>
              <a:cxnLst/>
              <a:rect r="r" b="b" t="t" l="l"/>
              <a:pathLst>
                <a:path h="2709333" w="852938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6386C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666750"/>
            <a:ext cx="6886575" cy="8058150"/>
            <a:chOff x="0" y="0"/>
            <a:chExt cx="813829" cy="95228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3829" cy="952281"/>
            </a:xfrm>
            <a:custGeom>
              <a:avLst/>
              <a:gdLst/>
              <a:ahLst/>
              <a:cxnLst/>
              <a:rect r="r" b="b" t="t" l="l"/>
              <a:pathLst>
                <a:path h="952281" w="813829">
                  <a:moveTo>
                    <a:pt x="39347" y="0"/>
                  </a:moveTo>
                  <a:lnTo>
                    <a:pt x="774482" y="0"/>
                  </a:lnTo>
                  <a:cubicBezTo>
                    <a:pt x="796213" y="0"/>
                    <a:pt x="813829" y="17616"/>
                    <a:pt x="813829" y="39347"/>
                  </a:cubicBezTo>
                  <a:lnTo>
                    <a:pt x="813829" y="912934"/>
                  </a:lnTo>
                  <a:cubicBezTo>
                    <a:pt x="813829" y="934665"/>
                    <a:pt x="796213" y="952281"/>
                    <a:pt x="774482" y="952281"/>
                  </a:cubicBezTo>
                  <a:lnTo>
                    <a:pt x="39347" y="952281"/>
                  </a:lnTo>
                  <a:cubicBezTo>
                    <a:pt x="17616" y="952281"/>
                    <a:pt x="0" y="934665"/>
                    <a:pt x="0" y="912934"/>
                  </a:cubicBezTo>
                  <a:lnTo>
                    <a:pt x="0" y="39347"/>
                  </a:lnTo>
                  <a:cubicBezTo>
                    <a:pt x="0" y="17616"/>
                    <a:pt x="17616" y="0"/>
                    <a:pt x="39347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7" r="0" b="-197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296400" y="666750"/>
            <a:ext cx="8324850" cy="4684301"/>
            <a:chOff x="0" y="0"/>
            <a:chExt cx="11099800" cy="6245735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4357669"/>
              <a:ext cx="11099800" cy="18880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20">
                  <a:solidFill>
                    <a:srgbClr val="F5F7FA"/>
                  </a:solidFill>
                  <a:latin typeface="Telegraf"/>
                  <a:ea typeface="Telegraf"/>
                  <a:cs typeface="Telegraf"/>
                  <a:sym typeface="Telegraf"/>
                </a:rPr>
                <a:t>The core principles of </a:t>
              </a:r>
              <a:r>
                <a:rPr lang="en-US" b="true" sz="2000" spc="-20">
                  <a:solidFill>
                    <a:srgbClr val="F5F7FA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marketing and sales templates</a:t>
              </a:r>
              <a:r>
                <a:rPr lang="en-US" sz="2000" spc="-20">
                  <a:solidFill>
                    <a:srgbClr val="F5F7FA"/>
                  </a:solidFill>
                  <a:latin typeface="Telegraf"/>
                  <a:ea typeface="Telegraf"/>
                  <a:cs typeface="Telegraf"/>
                  <a:sym typeface="Telegraf"/>
                </a:rPr>
                <a:t> focus on versatility and professionalism. Incorporating clean layouts and vibrant colors enhances engagement, ensuring clear communication of ideas and concepts.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562350"/>
              <a:ext cx="11099800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b="true" sz="3000" spc="-30">
                  <a:solidFill>
                    <a:srgbClr val="F5F7FA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Creating Effective Presentation Templates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9525"/>
              <a:ext cx="11099800" cy="2718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699"/>
                </a:lnSpc>
              </a:pPr>
              <a:r>
                <a:rPr lang="en-US" b="true" sz="6999" spc="-69">
                  <a:solidFill>
                    <a:srgbClr val="F5F7FA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Marketing &amp; Sales Templates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cap="flat" w="9525">
            <a:solidFill>
              <a:srgbClr val="F5F7F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666750" y="9676455"/>
            <a:ext cx="2571750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 spc="-12">
                <a:solidFill>
                  <a:srgbClr val="F5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DESIGN PRINCIPLES OVERVIEW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526744" y="9676442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F5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321275" y="4114193"/>
            <a:ext cx="6861700" cy="1461751"/>
            <a:chOff x="0" y="0"/>
            <a:chExt cx="9148933" cy="1949002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000735"/>
              <a:ext cx="9148933" cy="9482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20">
                  <a:solidFill>
                    <a:srgbClr val="F5F7FA"/>
                  </a:solidFill>
                  <a:latin typeface="Telegraf"/>
                  <a:ea typeface="Telegraf"/>
                  <a:cs typeface="Telegraf"/>
                  <a:sym typeface="Telegraf"/>
                </a:rPr>
                <a:t>Digital style elements add modernity and engagement to presentations.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19050"/>
              <a:ext cx="9148933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b="true" sz="3000" spc="-30">
                  <a:solidFill>
                    <a:srgbClr val="F5F7FA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Digital Style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321275" y="1604355"/>
            <a:ext cx="6861700" cy="1109326"/>
            <a:chOff x="0" y="0"/>
            <a:chExt cx="9148933" cy="1479102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000735"/>
              <a:ext cx="9148933" cy="4783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20">
                  <a:solidFill>
                    <a:srgbClr val="F5F7FA"/>
                  </a:solidFill>
                  <a:latin typeface="Telegraf"/>
                  <a:ea typeface="Telegraf"/>
                  <a:cs typeface="Telegraf"/>
                  <a:sym typeface="Telegraf"/>
                </a:rPr>
                <a:t>A clean layout enhances readability and keeps focus clear.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19050"/>
              <a:ext cx="9148933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b="true" sz="3000" spc="-30">
                  <a:solidFill>
                    <a:srgbClr val="F5F7FA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Clean Layout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324222" y="6800243"/>
            <a:ext cx="6858753" cy="1480123"/>
            <a:chOff x="0" y="0"/>
            <a:chExt cx="9145004" cy="1973498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19050"/>
              <a:ext cx="9145004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b="true" sz="3000" spc="-30">
                  <a:solidFill>
                    <a:srgbClr val="F5F7FA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Balanced Use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025231"/>
              <a:ext cx="9145004" cy="9482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20">
                  <a:solidFill>
                    <a:srgbClr val="F5F7FA"/>
                  </a:solidFill>
                  <a:latin typeface="Telegraf"/>
                  <a:ea typeface="Telegraf"/>
                  <a:cs typeface="Telegraf"/>
                  <a:sym typeface="Telegraf"/>
                </a:rPr>
                <a:t>Balanced color and whitespace create visual harmony and professionalism.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66750" y="657337"/>
            <a:ext cx="6886575" cy="204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99"/>
              </a:lnSpc>
            </a:pPr>
            <a:r>
              <a:rPr lang="en-US" b="true" sz="6999" spc="-69">
                <a:solidFill>
                  <a:srgbClr val="F5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Key Design Principles</a:t>
            </a:r>
          </a:p>
        </p:txBody>
      </p:sp>
      <p:sp>
        <p:nvSpPr>
          <p:cNvPr name="AutoShape 12" id="12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cap="flat" w="9525">
            <a:solidFill>
              <a:srgbClr val="F5F7F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666750" y="9676455"/>
            <a:ext cx="2571750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 spc="-12">
                <a:solidFill>
                  <a:srgbClr val="F5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ADDITIONAL INSIGHTS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526744" y="9676442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F5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7068482"/>
            <a:ext cx="11201400" cy="1510382"/>
            <a:chOff x="0" y="0"/>
            <a:chExt cx="14935200" cy="2013842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615274"/>
              <a:ext cx="14935200" cy="3985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72"/>
                </a:lnSpc>
              </a:pPr>
              <a:r>
                <a:rPr lang="en-US" sz="1975" spc="-19" strike="noStrike" u="none">
                  <a:solidFill>
                    <a:srgbClr val="F5F7FA"/>
                  </a:solidFill>
                  <a:latin typeface="Telegraf"/>
                  <a:ea typeface="Telegraf"/>
                  <a:cs typeface="Telegraf"/>
                  <a:sym typeface="Telegraf"/>
                </a:rPr>
                <a:t>Showcasing effective tactics for successful campaigns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9525"/>
              <a:ext cx="14935200" cy="12575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822"/>
                </a:lnSpc>
              </a:pPr>
              <a:r>
                <a:rPr lang="en-US" b="true" sz="6202" spc="-62">
                  <a:solidFill>
                    <a:srgbClr val="F5F7FA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Modern Marketing Strategies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6038850"/>
            <a:chOff x="0" y="0"/>
            <a:chExt cx="2161206" cy="7136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61206" cy="713648"/>
            </a:xfrm>
            <a:custGeom>
              <a:avLst/>
              <a:gdLst/>
              <a:ahLst/>
              <a:cxnLst/>
              <a:rect r="r" b="b" t="t" l="l"/>
              <a:pathLst>
                <a:path h="713648" w="2161206">
                  <a:moveTo>
                    <a:pt x="0" y="0"/>
                  </a:moveTo>
                  <a:lnTo>
                    <a:pt x="2161206" y="0"/>
                  </a:lnTo>
                  <a:lnTo>
                    <a:pt x="2161206" y="713648"/>
                  </a:lnTo>
                  <a:lnTo>
                    <a:pt x="0" y="713648"/>
                  </a:lnTo>
                  <a:close/>
                </a:path>
              </a:pathLst>
            </a:custGeom>
            <a:blipFill>
              <a:blip r:embed="rId2"/>
              <a:stretch>
                <a:fillRect l="0" t="-5268" r="0" b="-5268"/>
              </a:stretch>
            </a:blipFill>
          </p:spPr>
        </p:sp>
      </p:grpSp>
      <p:sp>
        <p:nvSpPr>
          <p:cNvPr name="AutoShape 7" id="7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cap="flat" w="9525">
            <a:solidFill>
              <a:srgbClr val="F5F7F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666750" y="9676455"/>
            <a:ext cx="2571750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 spc="-12">
                <a:solidFill>
                  <a:srgbClr val="F5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NOTES AND INSIGHTS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526744" y="9676442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F5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5448300" cy="3460713"/>
            <a:chOff x="0" y="0"/>
            <a:chExt cx="7264400" cy="461428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3426834"/>
              <a:ext cx="7264400" cy="1187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b="true" sz="3000" spc="-30">
                  <a:solidFill>
                    <a:srgbClr val="F5F7FA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Defining Success for Our Marketing Strategy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9525"/>
              <a:ext cx="7264400" cy="2718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699"/>
                </a:lnSpc>
              </a:pPr>
              <a:r>
                <a:rPr lang="en-US" b="true" sz="6999" spc="-69">
                  <a:solidFill>
                    <a:srgbClr val="F5F7FA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Campaign Objectives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19850" y="666750"/>
            <a:ext cx="5448300" cy="8058150"/>
            <a:chOff x="0" y="0"/>
            <a:chExt cx="643859" cy="95228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3859" cy="952281"/>
            </a:xfrm>
            <a:custGeom>
              <a:avLst/>
              <a:gdLst/>
              <a:ahLst/>
              <a:cxnLst/>
              <a:rect r="r" b="b" t="t" l="l"/>
              <a:pathLst>
                <a:path h="952281" w="643859">
                  <a:moveTo>
                    <a:pt x="49734" y="0"/>
                  </a:moveTo>
                  <a:lnTo>
                    <a:pt x="594125" y="0"/>
                  </a:lnTo>
                  <a:cubicBezTo>
                    <a:pt x="621592" y="0"/>
                    <a:pt x="643859" y="22267"/>
                    <a:pt x="643859" y="49734"/>
                  </a:cubicBezTo>
                  <a:lnTo>
                    <a:pt x="643859" y="902547"/>
                  </a:lnTo>
                  <a:cubicBezTo>
                    <a:pt x="643859" y="930015"/>
                    <a:pt x="621592" y="952281"/>
                    <a:pt x="594125" y="952281"/>
                  </a:cubicBezTo>
                  <a:lnTo>
                    <a:pt x="49734" y="952281"/>
                  </a:lnTo>
                  <a:cubicBezTo>
                    <a:pt x="22267" y="952281"/>
                    <a:pt x="0" y="930015"/>
                    <a:pt x="0" y="902547"/>
                  </a:cubicBezTo>
                  <a:lnTo>
                    <a:pt x="0" y="49734"/>
                  </a:lnTo>
                  <a:cubicBezTo>
                    <a:pt x="0" y="22267"/>
                    <a:pt x="22267" y="0"/>
                    <a:pt x="4973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76" r="0" b="-176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5049500" y="0"/>
            <a:ext cx="3238500" cy="10287000"/>
            <a:chOff x="0" y="0"/>
            <a:chExt cx="852938" cy="2709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52938" cy="2709333"/>
            </a:xfrm>
            <a:custGeom>
              <a:avLst/>
              <a:gdLst/>
              <a:ahLst/>
              <a:cxnLst/>
              <a:rect r="r" b="b" t="t" l="l"/>
              <a:pathLst>
                <a:path h="2709333" w="852938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A6EA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172950" y="666750"/>
            <a:ext cx="5448300" cy="8058150"/>
            <a:chOff x="0" y="0"/>
            <a:chExt cx="643859" cy="95228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3859" cy="952281"/>
            </a:xfrm>
            <a:custGeom>
              <a:avLst/>
              <a:gdLst/>
              <a:ahLst/>
              <a:cxnLst/>
              <a:rect r="r" b="b" t="t" l="l"/>
              <a:pathLst>
                <a:path h="952281" w="643859">
                  <a:moveTo>
                    <a:pt x="49734" y="0"/>
                  </a:moveTo>
                  <a:lnTo>
                    <a:pt x="594125" y="0"/>
                  </a:lnTo>
                  <a:cubicBezTo>
                    <a:pt x="621592" y="0"/>
                    <a:pt x="643859" y="22267"/>
                    <a:pt x="643859" y="49734"/>
                  </a:cubicBezTo>
                  <a:lnTo>
                    <a:pt x="643859" y="902547"/>
                  </a:lnTo>
                  <a:cubicBezTo>
                    <a:pt x="643859" y="930015"/>
                    <a:pt x="621592" y="952281"/>
                    <a:pt x="594125" y="952281"/>
                  </a:cubicBezTo>
                  <a:lnTo>
                    <a:pt x="49734" y="952281"/>
                  </a:lnTo>
                  <a:cubicBezTo>
                    <a:pt x="22267" y="952281"/>
                    <a:pt x="0" y="930015"/>
                    <a:pt x="0" y="902547"/>
                  </a:cubicBezTo>
                  <a:lnTo>
                    <a:pt x="0" y="49734"/>
                  </a:lnTo>
                  <a:cubicBezTo>
                    <a:pt x="0" y="22267"/>
                    <a:pt x="22267" y="0"/>
                    <a:pt x="49734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76" r="0" b="-176"/>
              </a:stretch>
            </a:blipFill>
          </p:spPr>
        </p:sp>
      </p:grpSp>
      <p:sp>
        <p:nvSpPr>
          <p:cNvPr name="AutoShape 12" id="12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cap="flat" w="9525">
            <a:solidFill>
              <a:srgbClr val="F5F7F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666750" y="9676455"/>
            <a:ext cx="2571750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 spc="-12">
                <a:solidFill>
                  <a:srgbClr val="F5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NOTES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526744" y="9676442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F5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457450"/>
            <a:chOff x="0" y="0"/>
            <a:chExt cx="4816593" cy="6472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47230"/>
            </a:xfrm>
            <a:custGeom>
              <a:avLst/>
              <a:gdLst/>
              <a:ahLst/>
              <a:cxnLst/>
              <a:rect r="r" b="b" t="t" l="l"/>
              <a:pathLst>
                <a:path h="64723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47230"/>
                  </a:lnTo>
                  <a:lnTo>
                    <a:pt x="0" y="647230"/>
                  </a:lnTo>
                  <a:close/>
                </a:path>
              </a:pathLst>
            </a:custGeom>
            <a:solidFill>
              <a:srgbClr val="6386C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6948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5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666750" y="5143500"/>
            <a:ext cx="16954500" cy="0"/>
          </a:xfrm>
          <a:prstGeom prst="line">
            <a:avLst/>
          </a:prstGeom>
          <a:ln cap="flat" w="9525">
            <a:solidFill>
              <a:srgbClr val="F5F7F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666750" y="5008305"/>
            <a:ext cx="270390" cy="27039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7FA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138988" y="5008305"/>
            <a:ext cx="270390" cy="27039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7FA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857250" y="3767946"/>
            <a:ext cx="3819525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00"/>
              </a:lnSpc>
            </a:pPr>
            <a:r>
              <a:rPr lang="en-US" b="true" sz="3000" spc="-30">
                <a:solidFill>
                  <a:srgbClr val="6386CC"/>
                </a:solidFill>
                <a:latin typeface="Telegraf Bold"/>
                <a:ea typeface="Telegraf Bold"/>
                <a:cs typeface="Telegraf Bold"/>
                <a:sym typeface="Telegraf Bold"/>
              </a:rPr>
              <a:t>Campaign Launch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6750" y="5957734"/>
            <a:ext cx="4010025" cy="1082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 spc="-20">
                <a:solidFill>
                  <a:srgbClr val="F5F7FA"/>
                </a:solidFill>
                <a:latin typeface="Telegraf"/>
                <a:ea typeface="Telegraf"/>
                <a:cs typeface="Telegraf"/>
                <a:sym typeface="Telegraf"/>
              </a:rPr>
              <a:t>The campaign launch marked a significant milestone in our strategy.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140063" y="5957734"/>
            <a:ext cx="4007874" cy="1082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 spc="-20">
                <a:solidFill>
                  <a:srgbClr val="F5F7FA"/>
                </a:solidFill>
                <a:latin typeface="Telegraf"/>
                <a:ea typeface="Telegraf"/>
                <a:cs typeface="Telegraf"/>
                <a:sym typeface="Telegraf"/>
              </a:rPr>
              <a:t>A detailed performance review highlighted key metrics and successes.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284091" y="3767946"/>
            <a:ext cx="3872679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00"/>
              </a:lnSpc>
              <a:spcBef>
                <a:spcPct val="0"/>
              </a:spcBef>
            </a:pPr>
            <a:r>
              <a:rPr lang="en-US" b="true" sz="3000" spc="-30" strike="noStrike" u="none">
                <a:solidFill>
                  <a:srgbClr val="6386CC"/>
                </a:solidFill>
                <a:latin typeface="Telegraf Bold"/>
                <a:ea typeface="Telegraf Bold"/>
                <a:cs typeface="Telegraf Bold"/>
                <a:sym typeface="Telegraf Bold"/>
              </a:rPr>
              <a:t>Performance Review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764085" y="3767946"/>
            <a:ext cx="3863118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00"/>
              </a:lnSpc>
              <a:spcBef>
                <a:spcPct val="0"/>
              </a:spcBef>
            </a:pPr>
            <a:r>
              <a:rPr lang="en-US" b="true" sz="3000" spc="-30" strike="noStrike" u="none">
                <a:solidFill>
                  <a:srgbClr val="6386CC"/>
                </a:solidFill>
                <a:latin typeface="Telegraf Bold"/>
                <a:ea typeface="Telegraf Bold"/>
                <a:cs typeface="Telegraf Bold"/>
                <a:sym typeface="Telegraf Bold"/>
              </a:rPr>
              <a:t>Client Feedback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66750" y="657225"/>
            <a:ext cx="16954500" cy="1069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99"/>
              </a:lnSpc>
            </a:pPr>
            <a:r>
              <a:rPr lang="en-US" b="true" sz="6999" spc="-69">
                <a:solidFill>
                  <a:srgbClr val="F5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Marketing Milestones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3611225" y="5008305"/>
            <a:ext cx="270390" cy="270390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7FA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3611225" y="5957734"/>
            <a:ext cx="4010025" cy="1082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 spc="-20">
                <a:solidFill>
                  <a:srgbClr val="F5F7FA"/>
                </a:solidFill>
                <a:latin typeface="Telegraf"/>
                <a:ea typeface="Telegraf"/>
                <a:cs typeface="Telegraf"/>
                <a:sym typeface="Telegraf"/>
              </a:rPr>
              <a:t>Client feedback provided valuable insights for future marketing efforts.</a:t>
            </a:r>
          </a:p>
        </p:txBody>
      </p:sp>
      <p:sp>
        <p:nvSpPr>
          <p:cNvPr name="AutoShape 22" id="22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cap="flat" w="9525">
            <a:solidFill>
              <a:srgbClr val="F5F7F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3" id="23"/>
          <p:cNvSpPr txBox="true"/>
          <p:nvPr/>
        </p:nvSpPr>
        <p:spPr>
          <a:xfrm rot="0">
            <a:off x="666750" y="9676455"/>
            <a:ext cx="2571750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 spc="-12">
                <a:solidFill>
                  <a:srgbClr val="F5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ADDITIONAL INSIGHTS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7526744" y="9676442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F5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934213"/>
            <a:ext cx="11201400" cy="1644650"/>
            <a:chOff x="0" y="0"/>
            <a:chExt cx="14935200" cy="2192867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771650"/>
              <a:ext cx="14935200" cy="4212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200"/>
                </a:lnSpc>
              </a:pPr>
              <a:r>
                <a:rPr lang="en-US" sz="2000" spc="-20" strike="noStrike" u="none">
                  <a:solidFill>
                    <a:srgbClr val="F5F7FA"/>
                  </a:solidFill>
                  <a:latin typeface="Telegraf"/>
                  <a:ea typeface="Telegraf"/>
                  <a:cs typeface="Telegraf"/>
                  <a:sym typeface="Telegraf"/>
                </a:rPr>
                <a:t>Tailored for impactful client presentations and persuasion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9525"/>
              <a:ext cx="14935200" cy="14234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699"/>
                </a:lnSpc>
              </a:pPr>
              <a:r>
                <a:rPr lang="en-US" b="true" sz="6999" spc="-69">
                  <a:solidFill>
                    <a:srgbClr val="F5F7FA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Sales Pitch Deck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6038850"/>
            <a:chOff x="0" y="0"/>
            <a:chExt cx="2161206" cy="7136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61206" cy="713648"/>
            </a:xfrm>
            <a:custGeom>
              <a:avLst/>
              <a:gdLst/>
              <a:ahLst/>
              <a:cxnLst/>
              <a:rect r="r" b="b" t="t" l="l"/>
              <a:pathLst>
                <a:path h="713648" w="2161206">
                  <a:moveTo>
                    <a:pt x="0" y="0"/>
                  </a:moveTo>
                  <a:lnTo>
                    <a:pt x="2161206" y="0"/>
                  </a:lnTo>
                  <a:lnTo>
                    <a:pt x="2161206" y="713648"/>
                  </a:lnTo>
                  <a:lnTo>
                    <a:pt x="0" y="713648"/>
                  </a:lnTo>
                  <a:close/>
                </a:path>
              </a:pathLst>
            </a:custGeom>
            <a:blipFill>
              <a:blip r:embed="rId2"/>
              <a:stretch>
                <a:fillRect l="0" t="-5268" r="0" b="-5268"/>
              </a:stretch>
            </a:blipFill>
          </p:spPr>
        </p:sp>
      </p:grpSp>
      <p:sp>
        <p:nvSpPr>
          <p:cNvPr name="AutoShape 7" id="7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cap="flat" w="9525">
            <a:solidFill>
              <a:srgbClr val="F5F7F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666750" y="9676455"/>
            <a:ext cx="2571750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 spc="-12">
                <a:solidFill>
                  <a:srgbClr val="F5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NOTES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526744" y="9676442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F5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419850" y="666750"/>
            <a:ext cx="5448300" cy="8058150"/>
            <a:chOff x="0" y="0"/>
            <a:chExt cx="643859" cy="9522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3859" cy="952281"/>
            </a:xfrm>
            <a:custGeom>
              <a:avLst/>
              <a:gdLst/>
              <a:ahLst/>
              <a:cxnLst/>
              <a:rect r="r" b="b" t="t" l="l"/>
              <a:pathLst>
                <a:path h="952281" w="643859">
                  <a:moveTo>
                    <a:pt x="49734" y="0"/>
                  </a:moveTo>
                  <a:lnTo>
                    <a:pt x="594125" y="0"/>
                  </a:lnTo>
                  <a:cubicBezTo>
                    <a:pt x="621592" y="0"/>
                    <a:pt x="643859" y="22267"/>
                    <a:pt x="643859" y="49734"/>
                  </a:cubicBezTo>
                  <a:lnTo>
                    <a:pt x="643859" y="902547"/>
                  </a:lnTo>
                  <a:cubicBezTo>
                    <a:pt x="643859" y="930015"/>
                    <a:pt x="621592" y="952281"/>
                    <a:pt x="594125" y="952281"/>
                  </a:cubicBezTo>
                  <a:lnTo>
                    <a:pt x="49734" y="952281"/>
                  </a:lnTo>
                  <a:cubicBezTo>
                    <a:pt x="22267" y="952281"/>
                    <a:pt x="0" y="930015"/>
                    <a:pt x="0" y="902547"/>
                  </a:cubicBezTo>
                  <a:lnTo>
                    <a:pt x="0" y="49734"/>
                  </a:lnTo>
                  <a:cubicBezTo>
                    <a:pt x="0" y="22267"/>
                    <a:pt x="22267" y="0"/>
                    <a:pt x="4973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76" r="0" b="-17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049500" y="0"/>
            <a:ext cx="3238500" cy="10287000"/>
            <a:chOff x="0" y="0"/>
            <a:chExt cx="852938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52938" cy="2709333"/>
            </a:xfrm>
            <a:custGeom>
              <a:avLst/>
              <a:gdLst/>
              <a:ahLst/>
              <a:cxnLst/>
              <a:rect r="r" b="b" t="t" l="l"/>
              <a:pathLst>
                <a:path h="2709333" w="852938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6386C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172950" y="666750"/>
            <a:ext cx="5448300" cy="8058150"/>
            <a:chOff x="0" y="0"/>
            <a:chExt cx="643859" cy="95228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43859" cy="952281"/>
            </a:xfrm>
            <a:custGeom>
              <a:avLst/>
              <a:gdLst/>
              <a:ahLst/>
              <a:cxnLst/>
              <a:rect r="r" b="b" t="t" l="l"/>
              <a:pathLst>
                <a:path h="952281" w="643859">
                  <a:moveTo>
                    <a:pt x="49734" y="0"/>
                  </a:moveTo>
                  <a:lnTo>
                    <a:pt x="594125" y="0"/>
                  </a:lnTo>
                  <a:cubicBezTo>
                    <a:pt x="621592" y="0"/>
                    <a:pt x="643859" y="22267"/>
                    <a:pt x="643859" y="49734"/>
                  </a:cubicBezTo>
                  <a:lnTo>
                    <a:pt x="643859" y="902547"/>
                  </a:lnTo>
                  <a:cubicBezTo>
                    <a:pt x="643859" y="930015"/>
                    <a:pt x="621592" y="952281"/>
                    <a:pt x="594125" y="952281"/>
                  </a:cubicBezTo>
                  <a:lnTo>
                    <a:pt x="49734" y="952281"/>
                  </a:lnTo>
                  <a:cubicBezTo>
                    <a:pt x="22267" y="952281"/>
                    <a:pt x="0" y="930015"/>
                    <a:pt x="0" y="902547"/>
                  </a:cubicBezTo>
                  <a:lnTo>
                    <a:pt x="0" y="49734"/>
                  </a:lnTo>
                  <a:cubicBezTo>
                    <a:pt x="0" y="22267"/>
                    <a:pt x="22267" y="0"/>
                    <a:pt x="49734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76" r="0" b="-176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666750" y="666750"/>
            <a:ext cx="5448300" cy="5773289"/>
            <a:chOff x="0" y="0"/>
            <a:chExt cx="7264400" cy="7697719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5339753"/>
              <a:ext cx="7264400" cy="23579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50">
                  <a:solidFill>
                    <a:srgbClr val="F5F7FA"/>
                  </a:solidFill>
                  <a:latin typeface="Telegraf"/>
                  <a:ea typeface="Telegraf"/>
                  <a:cs typeface="Telegraf"/>
                  <a:sym typeface="Telegraf"/>
                </a:rPr>
                <a:t>Addressing common </a:t>
              </a:r>
              <a:r>
                <a:rPr lang="en-US" b="true" sz="2000" spc="-50">
                  <a:solidFill>
                    <a:srgbClr val="F5F7FA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client pain points</a:t>
              </a:r>
              <a:r>
                <a:rPr lang="en-US" sz="2000" spc="-50">
                  <a:solidFill>
                    <a:srgbClr val="F5F7FA"/>
                  </a:solidFill>
                  <a:latin typeface="Telegraf"/>
                  <a:ea typeface="Telegraf"/>
                  <a:cs typeface="Telegraf"/>
                  <a:sym typeface="Telegraf"/>
                </a:rPr>
                <a:t> is vital for successful sales. Clearly outlining solutions enhances persuasion and demonstrates value, making your pitch resonate and establish trust with potential customers.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3426834"/>
              <a:ext cx="7264400" cy="1746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b="true" sz="3000" spc="-30">
                  <a:solidFill>
                    <a:srgbClr val="F5F7FA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Identifying challenges and presenting effective solutions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-9525"/>
              <a:ext cx="7264400" cy="2718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699"/>
                </a:lnSpc>
              </a:pPr>
              <a:r>
                <a:rPr lang="en-US" b="true" sz="6999" spc="-69">
                  <a:solidFill>
                    <a:srgbClr val="F5F7FA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Problem and Solution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cap="flat" w="9525">
            <a:solidFill>
              <a:srgbClr val="F5F7F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666750" y="9676455"/>
            <a:ext cx="2571750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 spc="-12">
                <a:solidFill>
                  <a:srgbClr val="F5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NOTES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526744" y="9676442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F5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321275" y="4114193"/>
            <a:ext cx="6861700" cy="1461751"/>
            <a:chOff x="0" y="0"/>
            <a:chExt cx="9148933" cy="1949002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000735"/>
              <a:ext cx="9148933" cy="9482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20">
                  <a:solidFill>
                    <a:srgbClr val="F5F7FA"/>
                  </a:solidFill>
                  <a:latin typeface="Telegraf"/>
                  <a:ea typeface="Telegraf"/>
                  <a:cs typeface="Telegraf"/>
                  <a:sym typeface="Telegraf"/>
                </a:rPr>
                <a:t>Experience increased efficiency and productivity through streamlined processes.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19050"/>
              <a:ext cx="9148933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b="true" sz="3000" spc="-30">
                  <a:solidFill>
                    <a:srgbClr val="F5F7FA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Benefits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321275" y="1428143"/>
            <a:ext cx="6861700" cy="1461751"/>
            <a:chOff x="0" y="0"/>
            <a:chExt cx="9148933" cy="1949002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000735"/>
              <a:ext cx="9148933" cy="9482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20">
                  <a:solidFill>
                    <a:srgbClr val="F5F7FA"/>
                  </a:solidFill>
                  <a:latin typeface="Telegraf"/>
                  <a:ea typeface="Telegraf"/>
                  <a:cs typeface="Telegraf"/>
                  <a:sym typeface="Telegraf"/>
                </a:rPr>
                <a:t>Our product offers advanced technology and versatility for users.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19050"/>
              <a:ext cx="9148933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b="true" sz="3000" spc="-30">
                  <a:solidFill>
                    <a:srgbClr val="F5F7FA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Features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324222" y="6800243"/>
            <a:ext cx="6858753" cy="1480123"/>
            <a:chOff x="0" y="0"/>
            <a:chExt cx="9145004" cy="1973498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19050"/>
              <a:ext cx="9145004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b="true" sz="3000" spc="-30">
                  <a:solidFill>
                    <a:srgbClr val="F5F7FA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Value Proposition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025231"/>
              <a:ext cx="9145004" cy="9482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20">
                  <a:solidFill>
                    <a:srgbClr val="F5F7FA"/>
                  </a:solidFill>
                  <a:latin typeface="Telegraf"/>
                  <a:ea typeface="Telegraf"/>
                  <a:cs typeface="Telegraf"/>
                  <a:sym typeface="Telegraf"/>
                </a:rPr>
                <a:t>Delivering exceptional quality at a competitive price for clients.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66750" y="657337"/>
            <a:ext cx="6886575" cy="301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99"/>
              </a:lnSpc>
            </a:pPr>
            <a:r>
              <a:rPr lang="en-US" b="true" sz="6999" spc="-69">
                <a:solidFill>
                  <a:srgbClr val="F5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Product Features and Benefits</a:t>
            </a:r>
          </a:p>
        </p:txBody>
      </p:sp>
      <p:sp>
        <p:nvSpPr>
          <p:cNvPr name="AutoShape 12" id="12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cap="flat" w="9525">
            <a:solidFill>
              <a:srgbClr val="F5F7F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666750" y="9676455"/>
            <a:ext cx="2571750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 spc="-12">
                <a:solidFill>
                  <a:srgbClr val="F5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ADDITIONAL INSIGHTS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526744" y="9676442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F5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934213"/>
            <a:ext cx="11201400" cy="1644650"/>
            <a:chOff x="0" y="0"/>
            <a:chExt cx="14935200" cy="2192867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771650"/>
              <a:ext cx="14935200" cy="4212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200"/>
                </a:lnSpc>
              </a:pPr>
              <a:r>
                <a:rPr lang="en-US" sz="2000" spc="-20" strike="noStrike" u="none">
                  <a:solidFill>
                    <a:srgbClr val="F5F7FA"/>
                  </a:solidFill>
                  <a:latin typeface="Telegraf"/>
                  <a:ea typeface="Telegraf"/>
                  <a:cs typeface="Telegraf"/>
                  <a:sym typeface="Telegraf"/>
                </a:rPr>
                <a:t>Overview of key performance metrics and insights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9525"/>
              <a:ext cx="14935200" cy="14234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699"/>
                </a:lnSpc>
              </a:pPr>
              <a:r>
                <a:rPr lang="en-US" b="true" sz="6999" spc="-69">
                  <a:solidFill>
                    <a:srgbClr val="F5F7FA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Digital Marketing Report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6038850"/>
            <a:chOff x="0" y="0"/>
            <a:chExt cx="2161206" cy="7136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61206" cy="713648"/>
            </a:xfrm>
            <a:custGeom>
              <a:avLst/>
              <a:gdLst/>
              <a:ahLst/>
              <a:cxnLst/>
              <a:rect r="r" b="b" t="t" l="l"/>
              <a:pathLst>
                <a:path h="713648" w="2161206">
                  <a:moveTo>
                    <a:pt x="0" y="0"/>
                  </a:moveTo>
                  <a:lnTo>
                    <a:pt x="2161206" y="0"/>
                  </a:lnTo>
                  <a:lnTo>
                    <a:pt x="2161206" y="713648"/>
                  </a:lnTo>
                  <a:lnTo>
                    <a:pt x="0" y="713648"/>
                  </a:lnTo>
                  <a:close/>
                </a:path>
              </a:pathLst>
            </a:custGeom>
            <a:blipFill>
              <a:blip r:embed="rId2"/>
              <a:stretch>
                <a:fillRect l="0" t="-5268" r="0" b="-5268"/>
              </a:stretch>
            </a:blipFill>
          </p:spPr>
        </p:sp>
      </p:grpSp>
      <p:sp>
        <p:nvSpPr>
          <p:cNvPr name="AutoShape 7" id="7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cap="flat" w="9525">
            <a:solidFill>
              <a:srgbClr val="F5F7F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666750" y="9676455"/>
            <a:ext cx="2571750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 spc="-12">
                <a:solidFill>
                  <a:srgbClr val="F5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NOTES ON PERFORMANCE DATA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526744" y="9676442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F5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6886575" cy="3042096"/>
            <a:chOff x="0" y="0"/>
            <a:chExt cx="9182100" cy="4056128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9182100" cy="33369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394"/>
                </a:lnSpc>
              </a:pPr>
              <a:r>
                <a:rPr lang="en-US" b="true" sz="5813" spc="-58">
                  <a:solidFill>
                    <a:srgbClr val="F5F7FA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Campaign Performance Overview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427478"/>
              <a:ext cx="9182100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b="true" sz="3000" spc="-30">
                  <a:solidFill>
                    <a:srgbClr val="F5F7FA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Summary of results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734675" y="4248076"/>
            <a:ext cx="5399474" cy="1969789"/>
            <a:chOff x="0" y="0"/>
            <a:chExt cx="7199298" cy="2626385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19050"/>
              <a:ext cx="7199298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b="true" sz="3000" spc="-30">
                  <a:solidFill>
                    <a:srgbClr val="F5F7FA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Data Integration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738318"/>
              <a:ext cx="7199298" cy="18880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20">
                  <a:solidFill>
                    <a:srgbClr val="F5F7FA"/>
                  </a:solidFill>
                  <a:latin typeface="Telegraf"/>
                  <a:ea typeface="Telegraf"/>
                  <a:cs typeface="Telegraf"/>
                  <a:sym typeface="Telegraf"/>
                </a:rPr>
                <a:t>The visual represents </a:t>
              </a:r>
              <a:r>
                <a:rPr lang="en-US" b="true" sz="2000" spc="-20">
                  <a:solidFill>
                    <a:srgbClr val="F5F7FA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holistic data integration</a:t>
              </a:r>
              <a:r>
                <a:rPr lang="en-US" sz="2000" spc="-20">
                  <a:solidFill>
                    <a:srgbClr val="F5F7FA"/>
                  </a:solidFill>
                  <a:latin typeface="Telegraf"/>
                  <a:ea typeface="Telegraf"/>
                  <a:cs typeface="Telegraf"/>
                  <a:sym typeface="Telegraf"/>
                </a:rPr>
                <a:t>, emphasizing how various marketing efforts synergize to drive overall performance.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858125" y="1562100"/>
            <a:ext cx="2571750" cy="1790700"/>
            <a:chOff x="0" y="0"/>
            <a:chExt cx="1167319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67319" cy="812800"/>
            </a:xfrm>
            <a:custGeom>
              <a:avLst/>
              <a:gdLst/>
              <a:ahLst/>
              <a:cxnLst/>
              <a:rect r="r" b="b" t="t" l="l"/>
              <a:pathLst>
                <a:path h="812800" w="1167319">
                  <a:moveTo>
                    <a:pt x="69239" y="0"/>
                  </a:moveTo>
                  <a:lnTo>
                    <a:pt x="1098081" y="0"/>
                  </a:lnTo>
                  <a:cubicBezTo>
                    <a:pt x="1136320" y="0"/>
                    <a:pt x="1167319" y="30999"/>
                    <a:pt x="1167319" y="69239"/>
                  </a:cubicBezTo>
                  <a:lnTo>
                    <a:pt x="1167319" y="743561"/>
                  </a:lnTo>
                  <a:cubicBezTo>
                    <a:pt x="1167319" y="761925"/>
                    <a:pt x="1160024" y="779536"/>
                    <a:pt x="1147040" y="792521"/>
                  </a:cubicBezTo>
                  <a:cubicBezTo>
                    <a:pt x="1134055" y="805505"/>
                    <a:pt x="1116444" y="812800"/>
                    <a:pt x="1098081" y="812800"/>
                  </a:cubicBezTo>
                  <a:lnTo>
                    <a:pt x="69239" y="812800"/>
                  </a:lnTo>
                  <a:cubicBezTo>
                    <a:pt x="50875" y="812800"/>
                    <a:pt x="33264" y="805505"/>
                    <a:pt x="20279" y="792521"/>
                  </a:cubicBezTo>
                  <a:cubicBezTo>
                    <a:pt x="7295" y="779536"/>
                    <a:pt x="0" y="761925"/>
                    <a:pt x="0" y="743561"/>
                  </a:cubicBezTo>
                  <a:lnTo>
                    <a:pt x="0" y="69239"/>
                  </a:lnTo>
                  <a:cubicBezTo>
                    <a:pt x="0" y="50875"/>
                    <a:pt x="7295" y="33264"/>
                    <a:pt x="20279" y="20279"/>
                  </a:cubicBezTo>
                  <a:cubicBezTo>
                    <a:pt x="33264" y="7295"/>
                    <a:pt x="50875" y="0"/>
                    <a:pt x="69239" y="0"/>
                  </a:cubicBezTo>
                  <a:close/>
                </a:path>
              </a:pathLst>
            </a:custGeom>
            <a:blipFill>
              <a:blip r:embed="rId2"/>
              <a:stretch>
                <a:fillRect l="-365" t="0" r="-365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734675" y="1562100"/>
            <a:ext cx="5448300" cy="1617364"/>
            <a:chOff x="0" y="0"/>
            <a:chExt cx="7264400" cy="2156485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19050"/>
              <a:ext cx="7264400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b="true" sz="3000" spc="-30">
                  <a:solidFill>
                    <a:srgbClr val="F5F7FA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Performance Highlights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738318"/>
              <a:ext cx="7264400" cy="14181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20">
                  <a:solidFill>
                    <a:srgbClr val="F5F7FA"/>
                  </a:solidFill>
                  <a:latin typeface="Telegraf"/>
                  <a:ea typeface="Telegraf"/>
                  <a:cs typeface="Telegraf"/>
                  <a:sym typeface="Telegraf"/>
                </a:rPr>
                <a:t>This image captures the </a:t>
              </a:r>
              <a:r>
                <a:rPr lang="en-US" b="true" sz="2000" spc="-20">
                  <a:solidFill>
                    <a:srgbClr val="F5F7FA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essence of success</a:t>
              </a:r>
              <a:r>
                <a:rPr lang="en-US" sz="2000" spc="-20">
                  <a:solidFill>
                    <a:srgbClr val="F5F7FA"/>
                  </a:solidFill>
                  <a:latin typeface="Telegraf"/>
                  <a:ea typeface="Telegraf"/>
                  <a:cs typeface="Telegraf"/>
                  <a:sym typeface="Telegraf"/>
                </a:rPr>
                <a:t>, showing significant growth in campaign metrics through visual data representation.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734675" y="6932307"/>
            <a:ext cx="5448300" cy="1617345"/>
            <a:chOff x="0" y="0"/>
            <a:chExt cx="7264400" cy="2156460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-19050"/>
              <a:ext cx="7264400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b="true" sz="3000" spc="-30">
                  <a:solidFill>
                    <a:srgbClr val="F5F7FA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Key Metrics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738293"/>
              <a:ext cx="7264400" cy="14181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20">
                  <a:solidFill>
                    <a:srgbClr val="F5F7FA"/>
                  </a:solidFill>
                  <a:latin typeface="Telegraf"/>
                  <a:ea typeface="Telegraf"/>
                  <a:cs typeface="Telegraf"/>
                  <a:sym typeface="Telegraf"/>
                </a:rPr>
                <a:t>This image effectively displays </a:t>
              </a:r>
              <a:r>
                <a:rPr lang="en-US" b="true" sz="2000" spc="-20">
                  <a:solidFill>
                    <a:srgbClr val="F5F7FA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key metrics</a:t>
              </a:r>
              <a:r>
                <a:rPr lang="en-US" sz="2000" spc="-20">
                  <a:solidFill>
                    <a:srgbClr val="F5F7FA"/>
                  </a:solidFill>
                  <a:latin typeface="Telegraf"/>
                  <a:ea typeface="Telegraf"/>
                  <a:cs typeface="Telegraf"/>
                  <a:sym typeface="Telegraf"/>
                </a:rPr>
                <a:t>, highlighting critical performance indicators that drive marketing strategy decisions.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858125" y="4248076"/>
            <a:ext cx="2571750" cy="1790774"/>
            <a:chOff x="0" y="0"/>
            <a:chExt cx="1167319" cy="81283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67319" cy="812834"/>
            </a:xfrm>
            <a:custGeom>
              <a:avLst/>
              <a:gdLst/>
              <a:ahLst/>
              <a:cxnLst/>
              <a:rect r="r" b="b" t="t" l="l"/>
              <a:pathLst>
                <a:path h="812834" w="1167319">
                  <a:moveTo>
                    <a:pt x="69239" y="0"/>
                  </a:moveTo>
                  <a:lnTo>
                    <a:pt x="1098081" y="0"/>
                  </a:lnTo>
                  <a:cubicBezTo>
                    <a:pt x="1136320" y="0"/>
                    <a:pt x="1167319" y="30999"/>
                    <a:pt x="1167319" y="69239"/>
                  </a:cubicBezTo>
                  <a:lnTo>
                    <a:pt x="1167319" y="743595"/>
                  </a:lnTo>
                  <a:cubicBezTo>
                    <a:pt x="1167319" y="761958"/>
                    <a:pt x="1160024" y="779570"/>
                    <a:pt x="1147040" y="792554"/>
                  </a:cubicBezTo>
                  <a:cubicBezTo>
                    <a:pt x="1134055" y="805539"/>
                    <a:pt x="1116444" y="812834"/>
                    <a:pt x="1098081" y="812834"/>
                  </a:cubicBezTo>
                  <a:lnTo>
                    <a:pt x="69239" y="812834"/>
                  </a:lnTo>
                  <a:cubicBezTo>
                    <a:pt x="50875" y="812834"/>
                    <a:pt x="33264" y="805539"/>
                    <a:pt x="20279" y="792554"/>
                  </a:cubicBezTo>
                  <a:cubicBezTo>
                    <a:pt x="7295" y="779570"/>
                    <a:pt x="0" y="761958"/>
                    <a:pt x="0" y="743595"/>
                  </a:cubicBezTo>
                  <a:lnTo>
                    <a:pt x="0" y="69239"/>
                  </a:lnTo>
                  <a:cubicBezTo>
                    <a:pt x="0" y="50875"/>
                    <a:pt x="7295" y="33264"/>
                    <a:pt x="20279" y="20279"/>
                  </a:cubicBezTo>
                  <a:cubicBezTo>
                    <a:pt x="33264" y="7295"/>
                    <a:pt x="50875" y="0"/>
                    <a:pt x="69239" y="0"/>
                  </a:cubicBezTo>
                  <a:close/>
                </a:path>
              </a:pathLst>
            </a:custGeom>
            <a:blipFill>
              <a:blip r:embed="rId3"/>
              <a:stretch>
                <a:fillRect l="-367" t="0" r="-367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858125" y="6934126"/>
            <a:ext cx="2571750" cy="1790774"/>
            <a:chOff x="0" y="0"/>
            <a:chExt cx="1167319" cy="81283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67319" cy="812834"/>
            </a:xfrm>
            <a:custGeom>
              <a:avLst/>
              <a:gdLst/>
              <a:ahLst/>
              <a:cxnLst/>
              <a:rect r="r" b="b" t="t" l="l"/>
              <a:pathLst>
                <a:path h="812834" w="1167319">
                  <a:moveTo>
                    <a:pt x="69239" y="0"/>
                  </a:moveTo>
                  <a:lnTo>
                    <a:pt x="1098081" y="0"/>
                  </a:lnTo>
                  <a:cubicBezTo>
                    <a:pt x="1136320" y="0"/>
                    <a:pt x="1167319" y="30999"/>
                    <a:pt x="1167319" y="69239"/>
                  </a:cubicBezTo>
                  <a:lnTo>
                    <a:pt x="1167319" y="743595"/>
                  </a:lnTo>
                  <a:cubicBezTo>
                    <a:pt x="1167319" y="761958"/>
                    <a:pt x="1160024" y="779570"/>
                    <a:pt x="1147040" y="792554"/>
                  </a:cubicBezTo>
                  <a:cubicBezTo>
                    <a:pt x="1134055" y="805539"/>
                    <a:pt x="1116444" y="812834"/>
                    <a:pt x="1098081" y="812834"/>
                  </a:cubicBezTo>
                  <a:lnTo>
                    <a:pt x="69239" y="812834"/>
                  </a:lnTo>
                  <a:cubicBezTo>
                    <a:pt x="50875" y="812834"/>
                    <a:pt x="33264" y="805539"/>
                    <a:pt x="20279" y="792554"/>
                  </a:cubicBezTo>
                  <a:cubicBezTo>
                    <a:pt x="7295" y="779570"/>
                    <a:pt x="0" y="761958"/>
                    <a:pt x="0" y="743595"/>
                  </a:cubicBezTo>
                  <a:lnTo>
                    <a:pt x="0" y="69239"/>
                  </a:lnTo>
                  <a:cubicBezTo>
                    <a:pt x="0" y="50875"/>
                    <a:pt x="7295" y="33264"/>
                    <a:pt x="20279" y="20279"/>
                  </a:cubicBezTo>
                  <a:cubicBezTo>
                    <a:pt x="33264" y="7295"/>
                    <a:pt x="50875" y="0"/>
                    <a:pt x="69239" y="0"/>
                  </a:cubicBezTo>
                  <a:close/>
                </a:path>
              </a:pathLst>
            </a:custGeom>
            <a:blipFill>
              <a:blip r:embed="rId4"/>
              <a:stretch>
                <a:fillRect l="-367" t="0" r="-367" b="0"/>
              </a:stretch>
            </a:blipFill>
          </p:spPr>
        </p:sp>
      </p:grpSp>
      <p:sp>
        <p:nvSpPr>
          <p:cNvPr name="AutoShape 20" id="20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cap="flat" w="9525">
            <a:solidFill>
              <a:srgbClr val="F5F7F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666750" y="9676455"/>
            <a:ext cx="2571750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 spc="-12">
                <a:solidFill>
                  <a:srgbClr val="F5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NOTES AND INSIGHTS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432103" y="9676442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F5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934213"/>
            <a:ext cx="11201400" cy="1644650"/>
            <a:chOff x="0" y="0"/>
            <a:chExt cx="14935200" cy="2192867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771650"/>
              <a:ext cx="14935200" cy="4212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200"/>
                </a:lnSpc>
              </a:pPr>
              <a:r>
                <a:rPr lang="en-US" sz="2000" spc="-20" strike="noStrike" u="none">
                  <a:solidFill>
                    <a:srgbClr val="F5F7FA"/>
                  </a:solidFill>
                  <a:latin typeface="Telegraf"/>
                  <a:ea typeface="Telegraf"/>
                  <a:cs typeface="Telegraf"/>
                  <a:sym typeface="Telegraf"/>
                </a:rPr>
                <a:t>Empower your team with effective training strategies today.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9525"/>
              <a:ext cx="14935200" cy="14234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699"/>
                </a:lnSpc>
              </a:pPr>
              <a:r>
                <a:rPr lang="en-US" b="true" sz="6999" spc="-69">
                  <a:solidFill>
                    <a:srgbClr val="F5F7FA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Sales Team Enablement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6038850"/>
            <a:chOff x="0" y="0"/>
            <a:chExt cx="2161206" cy="7136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61206" cy="713648"/>
            </a:xfrm>
            <a:custGeom>
              <a:avLst/>
              <a:gdLst/>
              <a:ahLst/>
              <a:cxnLst/>
              <a:rect r="r" b="b" t="t" l="l"/>
              <a:pathLst>
                <a:path h="713648" w="2161206">
                  <a:moveTo>
                    <a:pt x="0" y="0"/>
                  </a:moveTo>
                  <a:lnTo>
                    <a:pt x="2161206" y="0"/>
                  </a:lnTo>
                  <a:lnTo>
                    <a:pt x="2161206" y="713648"/>
                  </a:lnTo>
                  <a:lnTo>
                    <a:pt x="0" y="713648"/>
                  </a:lnTo>
                  <a:close/>
                </a:path>
              </a:pathLst>
            </a:custGeom>
            <a:blipFill>
              <a:blip r:embed="rId2"/>
              <a:stretch>
                <a:fillRect l="0" t="-5268" r="0" b="-5268"/>
              </a:stretch>
            </a:blipFill>
          </p:spPr>
        </p:sp>
      </p:grpSp>
      <p:sp>
        <p:nvSpPr>
          <p:cNvPr name="AutoShape 7" id="7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cap="flat" w="9525">
            <a:solidFill>
              <a:srgbClr val="F5F7F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666750" y="9676455"/>
            <a:ext cx="2571750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 spc="-12">
                <a:solidFill>
                  <a:srgbClr val="F5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NOTES AND INSIGHTS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526744" y="9676442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F5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5448300" cy="3460713"/>
            <a:chOff x="0" y="0"/>
            <a:chExt cx="7264400" cy="461428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3426834"/>
              <a:ext cx="7264400" cy="1187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b="true" sz="3000" spc="-30">
                  <a:solidFill>
                    <a:srgbClr val="F5F7FA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Engaging Sales Tips and Strategies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9525"/>
              <a:ext cx="7264400" cy="2718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699"/>
                </a:lnSpc>
              </a:pPr>
              <a:r>
                <a:rPr lang="en-US" b="true" sz="6999" spc="-69">
                  <a:solidFill>
                    <a:srgbClr val="F5F7FA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Role-Play Scenarios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19850" y="666750"/>
            <a:ext cx="5448300" cy="8058150"/>
            <a:chOff x="0" y="0"/>
            <a:chExt cx="643859" cy="95228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3859" cy="952281"/>
            </a:xfrm>
            <a:custGeom>
              <a:avLst/>
              <a:gdLst/>
              <a:ahLst/>
              <a:cxnLst/>
              <a:rect r="r" b="b" t="t" l="l"/>
              <a:pathLst>
                <a:path h="952281" w="643859">
                  <a:moveTo>
                    <a:pt x="49734" y="0"/>
                  </a:moveTo>
                  <a:lnTo>
                    <a:pt x="594125" y="0"/>
                  </a:lnTo>
                  <a:cubicBezTo>
                    <a:pt x="621592" y="0"/>
                    <a:pt x="643859" y="22267"/>
                    <a:pt x="643859" y="49734"/>
                  </a:cubicBezTo>
                  <a:lnTo>
                    <a:pt x="643859" y="902547"/>
                  </a:lnTo>
                  <a:cubicBezTo>
                    <a:pt x="643859" y="930015"/>
                    <a:pt x="621592" y="952281"/>
                    <a:pt x="594125" y="952281"/>
                  </a:cubicBezTo>
                  <a:lnTo>
                    <a:pt x="49734" y="952281"/>
                  </a:lnTo>
                  <a:cubicBezTo>
                    <a:pt x="22267" y="952281"/>
                    <a:pt x="0" y="930015"/>
                    <a:pt x="0" y="902547"/>
                  </a:cubicBezTo>
                  <a:lnTo>
                    <a:pt x="0" y="49734"/>
                  </a:lnTo>
                  <a:cubicBezTo>
                    <a:pt x="0" y="22267"/>
                    <a:pt x="22267" y="0"/>
                    <a:pt x="4973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76" r="0" b="-176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5049500" y="0"/>
            <a:ext cx="3238500" cy="10287000"/>
            <a:chOff x="0" y="0"/>
            <a:chExt cx="852938" cy="2709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52938" cy="2709333"/>
            </a:xfrm>
            <a:custGeom>
              <a:avLst/>
              <a:gdLst/>
              <a:ahLst/>
              <a:cxnLst/>
              <a:rect r="r" b="b" t="t" l="l"/>
              <a:pathLst>
                <a:path h="2709333" w="852938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6386CC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172950" y="666750"/>
            <a:ext cx="5448300" cy="8058150"/>
            <a:chOff x="0" y="0"/>
            <a:chExt cx="643859" cy="95228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3859" cy="952281"/>
            </a:xfrm>
            <a:custGeom>
              <a:avLst/>
              <a:gdLst/>
              <a:ahLst/>
              <a:cxnLst/>
              <a:rect r="r" b="b" t="t" l="l"/>
              <a:pathLst>
                <a:path h="952281" w="643859">
                  <a:moveTo>
                    <a:pt x="49734" y="0"/>
                  </a:moveTo>
                  <a:lnTo>
                    <a:pt x="594125" y="0"/>
                  </a:lnTo>
                  <a:cubicBezTo>
                    <a:pt x="621592" y="0"/>
                    <a:pt x="643859" y="22267"/>
                    <a:pt x="643859" y="49734"/>
                  </a:cubicBezTo>
                  <a:lnTo>
                    <a:pt x="643859" y="902547"/>
                  </a:lnTo>
                  <a:cubicBezTo>
                    <a:pt x="643859" y="930015"/>
                    <a:pt x="621592" y="952281"/>
                    <a:pt x="594125" y="952281"/>
                  </a:cubicBezTo>
                  <a:lnTo>
                    <a:pt x="49734" y="952281"/>
                  </a:lnTo>
                  <a:cubicBezTo>
                    <a:pt x="22267" y="952281"/>
                    <a:pt x="0" y="930015"/>
                    <a:pt x="0" y="902547"/>
                  </a:cubicBezTo>
                  <a:lnTo>
                    <a:pt x="0" y="49734"/>
                  </a:lnTo>
                  <a:cubicBezTo>
                    <a:pt x="0" y="22267"/>
                    <a:pt x="22267" y="0"/>
                    <a:pt x="49734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76" r="0" b="-176"/>
              </a:stretch>
            </a:blipFill>
          </p:spPr>
        </p:sp>
      </p:grpSp>
      <p:sp>
        <p:nvSpPr>
          <p:cNvPr name="AutoShape 12" id="12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cap="flat" w="9525">
            <a:solidFill>
              <a:srgbClr val="F5F7F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666750" y="9676455"/>
            <a:ext cx="2571750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 spc="-12">
                <a:solidFill>
                  <a:srgbClr val="F5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KEY TAKEAWAYS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526744" y="9676442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F5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38500" cy="10287000"/>
            <a:chOff x="0" y="0"/>
            <a:chExt cx="852938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2938" cy="2709333"/>
            </a:xfrm>
            <a:custGeom>
              <a:avLst/>
              <a:gdLst/>
              <a:ahLst/>
              <a:cxnLst/>
              <a:rect r="r" b="b" t="t" l="l"/>
              <a:pathLst>
                <a:path h="2709333" w="852938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6386C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666750"/>
            <a:ext cx="6886575" cy="8058150"/>
            <a:chOff x="0" y="0"/>
            <a:chExt cx="813829" cy="95228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3829" cy="952281"/>
            </a:xfrm>
            <a:custGeom>
              <a:avLst/>
              <a:gdLst/>
              <a:ahLst/>
              <a:cxnLst/>
              <a:rect r="r" b="b" t="t" l="l"/>
              <a:pathLst>
                <a:path h="952281" w="813829">
                  <a:moveTo>
                    <a:pt x="39347" y="0"/>
                  </a:moveTo>
                  <a:lnTo>
                    <a:pt x="774482" y="0"/>
                  </a:lnTo>
                  <a:cubicBezTo>
                    <a:pt x="796213" y="0"/>
                    <a:pt x="813829" y="17616"/>
                    <a:pt x="813829" y="39347"/>
                  </a:cubicBezTo>
                  <a:lnTo>
                    <a:pt x="813829" y="912934"/>
                  </a:lnTo>
                  <a:cubicBezTo>
                    <a:pt x="813829" y="934665"/>
                    <a:pt x="796213" y="952281"/>
                    <a:pt x="774482" y="952281"/>
                  </a:cubicBezTo>
                  <a:lnTo>
                    <a:pt x="39347" y="952281"/>
                  </a:lnTo>
                  <a:cubicBezTo>
                    <a:pt x="17616" y="952281"/>
                    <a:pt x="0" y="934665"/>
                    <a:pt x="0" y="912934"/>
                  </a:cubicBezTo>
                  <a:lnTo>
                    <a:pt x="0" y="39347"/>
                  </a:lnTo>
                  <a:cubicBezTo>
                    <a:pt x="0" y="17616"/>
                    <a:pt x="17616" y="0"/>
                    <a:pt x="39347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7" r="0" b="-197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296400" y="666750"/>
            <a:ext cx="8324850" cy="4750976"/>
            <a:chOff x="0" y="0"/>
            <a:chExt cx="11099800" cy="6334635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4916469"/>
              <a:ext cx="11099800" cy="14181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20">
                  <a:solidFill>
                    <a:srgbClr val="F5F7FA"/>
                  </a:solidFill>
                  <a:latin typeface="Telegraf"/>
                  <a:ea typeface="Telegraf"/>
                  <a:cs typeface="Telegraf"/>
                  <a:sym typeface="Telegraf"/>
                </a:rPr>
                <a:t>To maximize your </a:t>
              </a:r>
              <a:r>
                <a:rPr lang="en-US" b="true" sz="2000" spc="-20">
                  <a:solidFill>
                    <a:srgbClr val="F5F7FA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template's impact</a:t>
              </a:r>
              <a:r>
                <a:rPr lang="en-US" sz="2000" spc="-20">
                  <a:solidFill>
                    <a:srgbClr val="F5F7FA"/>
                  </a:solidFill>
                  <a:latin typeface="Telegraf"/>
                  <a:ea typeface="Telegraf"/>
                  <a:cs typeface="Telegraf"/>
                  <a:sym typeface="Telegraf"/>
                </a:rPr>
                <a:t>, focus on customizing elements like colors and fonts. Ensure consistency throughout your slides to engage your audience and reinforce your brand identity.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562350"/>
              <a:ext cx="11099800" cy="1187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b="true" sz="3000" spc="-30">
                  <a:solidFill>
                    <a:srgbClr val="F5F7FA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Enhancing Presentation Engagement Techniques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9525"/>
              <a:ext cx="11099800" cy="2718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699"/>
                </a:lnSpc>
              </a:pPr>
              <a:r>
                <a:rPr lang="en-US" b="true" sz="6999" spc="-69">
                  <a:solidFill>
                    <a:srgbClr val="F5F7FA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Template Usage Tips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cap="flat" w="9525">
            <a:solidFill>
              <a:srgbClr val="F5F7F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666750" y="9676455"/>
            <a:ext cx="2571750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 spc="-12">
                <a:solidFill>
                  <a:srgbClr val="F5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NOTES FOR SUCCESS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526744" y="9676442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F5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419850" cy="10287000"/>
            <a:chOff x="0" y="0"/>
            <a:chExt cx="758673" cy="12156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58673" cy="1215678"/>
            </a:xfrm>
            <a:custGeom>
              <a:avLst/>
              <a:gdLst/>
              <a:ahLst/>
              <a:cxnLst/>
              <a:rect r="r" b="b" t="t" l="l"/>
              <a:pathLst>
                <a:path h="1215678" w="758673">
                  <a:moveTo>
                    <a:pt x="0" y="0"/>
                  </a:moveTo>
                  <a:lnTo>
                    <a:pt x="758673" y="0"/>
                  </a:lnTo>
                  <a:lnTo>
                    <a:pt x="758673" y="1215678"/>
                  </a:lnTo>
                  <a:lnTo>
                    <a:pt x="0" y="1215678"/>
                  </a:lnTo>
                  <a:close/>
                </a:path>
              </a:pathLst>
            </a:custGeom>
            <a:blipFill>
              <a:blip r:embed="rId2"/>
              <a:stretch>
                <a:fillRect l="0" t="-126" r="0" b="-12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858125" y="666750"/>
            <a:ext cx="8324850" cy="2603538"/>
            <a:chOff x="0" y="0"/>
            <a:chExt cx="11099800" cy="3471383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9525"/>
              <a:ext cx="11099800" cy="2718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699"/>
                </a:lnSpc>
              </a:pPr>
              <a:r>
                <a:rPr lang="en-US" b="true" sz="6999" spc="-69">
                  <a:solidFill>
                    <a:srgbClr val="F5F7FA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Contact Information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842733"/>
              <a:ext cx="11099800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b="true" sz="3000" spc="-30">
                  <a:solidFill>
                    <a:srgbClr val="F5F7FA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Get in Touch with Us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858125" y="4246590"/>
            <a:ext cx="5753100" cy="898469"/>
            <a:chOff x="0" y="0"/>
            <a:chExt cx="7670800" cy="1197959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104775"/>
              <a:ext cx="7670800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b="true" sz="3000" spc="-30">
                  <a:solidFill>
                    <a:srgbClr val="F5F7FA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Phone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719592"/>
              <a:ext cx="7670800" cy="4783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20">
                  <a:solidFill>
                    <a:srgbClr val="F5F7FA"/>
                  </a:solidFill>
                  <a:latin typeface="Telegraf"/>
                  <a:ea typeface="Telegraf"/>
                  <a:cs typeface="Telegraf"/>
                  <a:sym typeface="Telegraf"/>
                </a:rPr>
                <a:t>123-456-7890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858125" y="6032294"/>
            <a:ext cx="5753100" cy="901906"/>
            <a:chOff x="0" y="0"/>
            <a:chExt cx="7670800" cy="1202541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104775"/>
              <a:ext cx="7670800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b="true" sz="3000" spc="-30" strike="noStrike" u="none">
                  <a:solidFill>
                    <a:srgbClr val="F5F7FA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Email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724175"/>
              <a:ext cx="7670800" cy="4783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20">
                  <a:solidFill>
                    <a:srgbClr val="F5F7FA"/>
                  </a:solidFill>
                  <a:latin typeface="Telegraf"/>
                  <a:ea typeface="Telegraf"/>
                  <a:cs typeface="Telegraf"/>
                  <a:sym typeface="Telegraf"/>
                </a:rPr>
                <a:t>hello@reallygreatsite.com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858125" y="7829550"/>
            <a:ext cx="5753100" cy="867604"/>
            <a:chOff x="0" y="0"/>
            <a:chExt cx="7670800" cy="1156805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-104775"/>
              <a:ext cx="7670800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b="true" sz="3000" spc="-30" strike="noStrike" u="none">
                  <a:solidFill>
                    <a:srgbClr val="F5F7FA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Website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678438"/>
              <a:ext cx="7670800" cy="4783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20" strike="noStrike" u="none">
                  <a:solidFill>
                    <a:srgbClr val="F5F7FA"/>
                  </a:solidFill>
                  <a:latin typeface="Telegraf"/>
                  <a:ea typeface="Telegraf"/>
                  <a:cs typeface="Telegraf"/>
                  <a:sym typeface="Telegraf"/>
                </a:rPr>
                <a:t>www.reallygreatsite.com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Marketing and Sales Designs</dc:description>
  <dc:identifier>DAG13jx6hO8</dc:identifier>
  <dcterms:modified xsi:type="dcterms:W3CDTF">2011-08-01T06:04:30Z</dcterms:modified>
  <cp:revision>1</cp:revision>
  <dc:title>Presentation - Marketing and Sales Designs</dc:title>
</cp:coreProperties>
</file>