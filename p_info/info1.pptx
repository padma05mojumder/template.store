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roxima Nova" panose="020B0604020202020204" charset="0"/>
      <p:regular r:id="rId18"/>
    </p:embeddedFont>
    <p:embeddedFont>
      <p:font typeface="Proxima Nova Bold" panose="020B0604020202020204" charset="0"/>
      <p:regular r:id="rId19"/>
    </p:embeddedFont>
    <p:embeddedFont>
      <p:font typeface="The Seasons" panose="020B0604020202020204" charset="0"/>
      <p:regular r:id="rId20"/>
    </p:embeddedFont>
    <p:embeddedFont>
      <p:font typeface="The Seaso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69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10186" y="1562100"/>
            <a:ext cx="7467627" cy="8058150"/>
            <a:chOff x="0" y="0"/>
            <a:chExt cx="660400" cy="712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712623"/>
            </a:xfrm>
            <a:custGeom>
              <a:avLst/>
              <a:gdLst/>
              <a:ahLst/>
              <a:cxnLst/>
              <a:rect l="l" t="t" r="r" b="b"/>
              <a:pathLst>
                <a:path w="660400" h="712623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6277"/>
                  </a:cubicBezTo>
                  <a:lnTo>
                    <a:pt x="660400" y="712623"/>
                  </a:lnTo>
                  <a:lnTo>
                    <a:pt x="0" y="712623"/>
                  </a:lnTo>
                  <a:lnTo>
                    <a:pt x="0" y="326564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105025" y="695325"/>
            <a:ext cx="14077950" cy="38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1"/>
              </a:lnSpc>
            </a:pPr>
            <a:r>
              <a:rPr lang="en-US" sz="2764" spc="138">
                <a:solidFill>
                  <a:srgbClr val="D7DDE5"/>
                </a:solidFill>
                <a:latin typeface="Proxima Nova"/>
                <a:ea typeface="Proxima Nova"/>
                <a:cs typeface="Proxima Nova"/>
                <a:sym typeface="Proxima Nova"/>
              </a:rPr>
              <a:t>INFOGRAPHIC TEMPLATE PRESENTATION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4331970"/>
            <a:ext cx="4591050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50"/>
              </a:lnSpc>
              <a:spcBef>
                <a:spcPct val="0"/>
              </a:spcBef>
            </a:pPr>
            <a:r>
              <a:rPr lang="en-US" sz="6150" u="none" strike="noStrike" spc="61" dirty="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Professional</a:t>
            </a:r>
          </a:p>
          <a:p>
            <a:pPr marL="0" lvl="0" indent="0" algn="ctr">
              <a:lnSpc>
                <a:spcPts val="6150"/>
              </a:lnSpc>
              <a:spcBef>
                <a:spcPct val="0"/>
              </a:spcBef>
            </a:pPr>
            <a:r>
              <a:rPr lang="en-US" sz="6150" u="none" strike="noStrike" spc="61" dirty="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 Use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06425" y="4331970"/>
            <a:ext cx="4314825" cy="167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50"/>
              </a:lnSpc>
            </a:pPr>
            <a:r>
              <a:rPr lang="en-US" sz="6150" spc="61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Data Specialist</a:t>
            </a:r>
          </a:p>
        </p:txBody>
      </p:sp>
      <p:sp>
        <p:nvSpPr>
          <p:cNvPr id="7" name="AutoShape 7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5448300" cy="4470805"/>
            <a:chOff x="0" y="0"/>
            <a:chExt cx="1015061" cy="832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061" cy="832946"/>
            </a:xfrm>
            <a:custGeom>
              <a:avLst/>
              <a:gdLst/>
              <a:ahLst/>
              <a:cxnLst/>
              <a:rect l="l" t="t" r="r" b="b"/>
              <a:pathLst>
                <a:path w="1015061" h="832946">
                  <a:moveTo>
                    <a:pt x="0" y="0"/>
                  </a:moveTo>
                  <a:lnTo>
                    <a:pt x="1015061" y="0"/>
                  </a:lnTo>
                  <a:lnTo>
                    <a:pt x="1015061" y="832946"/>
                  </a:lnTo>
                  <a:lnTo>
                    <a:pt x="0" y="832946"/>
                  </a:lnTo>
                  <a:close/>
                </a:path>
              </a:pathLst>
            </a:custGeom>
            <a:blipFill>
              <a:blip r:embed="rId2"/>
              <a:stretch>
                <a:fillRect l="-265" r="-26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19850" y="2463395"/>
            <a:ext cx="5448300" cy="4470805"/>
            <a:chOff x="0" y="0"/>
            <a:chExt cx="1015061" cy="8329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5061" cy="832946"/>
            </a:xfrm>
            <a:custGeom>
              <a:avLst/>
              <a:gdLst/>
              <a:ahLst/>
              <a:cxnLst/>
              <a:rect l="l" t="t" r="r" b="b"/>
              <a:pathLst>
                <a:path w="1015061" h="832946">
                  <a:moveTo>
                    <a:pt x="0" y="0"/>
                  </a:moveTo>
                  <a:lnTo>
                    <a:pt x="1015061" y="0"/>
                  </a:lnTo>
                  <a:lnTo>
                    <a:pt x="1015061" y="832946"/>
                  </a:lnTo>
                  <a:lnTo>
                    <a:pt x="0" y="832946"/>
                  </a:lnTo>
                  <a:close/>
                </a:path>
              </a:pathLst>
            </a:custGeom>
            <a:blipFill>
              <a:blip r:embed="rId3"/>
              <a:stretch>
                <a:fillRect l="-265" r="-26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2172950" y="2475286"/>
            <a:ext cx="5452633" cy="4458914"/>
            <a:chOff x="0" y="0"/>
            <a:chExt cx="1015868" cy="8307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5868" cy="830730"/>
            </a:xfrm>
            <a:custGeom>
              <a:avLst/>
              <a:gdLst/>
              <a:ahLst/>
              <a:cxnLst/>
              <a:rect l="l" t="t" r="r" b="b"/>
              <a:pathLst>
                <a:path w="1015868" h="830730">
                  <a:moveTo>
                    <a:pt x="0" y="0"/>
                  </a:moveTo>
                  <a:lnTo>
                    <a:pt x="1015868" y="0"/>
                  </a:lnTo>
                  <a:lnTo>
                    <a:pt x="1015868" y="830730"/>
                  </a:lnTo>
                  <a:lnTo>
                    <a:pt x="0" y="830730"/>
                  </a:lnTo>
                  <a:close/>
                </a:path>
              </a:pathLst>
            </a:custGeom>
            <a:blipFill>
              <a:blip r:embed="rId4"/>
              <a:stretch>
                <a:fillRect l="-92" r="-9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5448300" cy="1228725"/>
            <a:chOff x="0" y="0"/>
            <a:chExt cx="7264400" cy="16383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3919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Overview of performance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 u="none" strike="noStrike">
                  <a:solidFill>
                    <a:srgbClr val="5A6978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Key Metrics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19850" y="7829550"/>
            <a:ext cx="5448300" cy="1228725"/>
            <a:chOff x="0" y="0"/>
            <a:chExt cx="7264400" cy="16383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3919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Clear graphical presentation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 u="none" strike="noStrike">
                  <a:solidFill>
                    <a:srgbClr val="5A6978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Data Visualization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72950" y="7829550"/>
            <a:ext cx="5448300" cy="1228725"/>
            <a:chOff x="0" y="0"/>
            <a:chExt cx="7264400" cy="16383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3919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Summary of findings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 u="none" strike="noStrike">
                  <a:solidFill>
                    <a:srgbClr val="5A6978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Insightful Analysis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80">
                <a:solidFill>
                  <a:srgbClr val="5A6978"/>
                </a:solidFill>
                <a:latin typeface="The Seasons"/>
                <a:ea typeface="The Seasons"/>
                <a:cs typeface="The Seasons"/>
                <a:sym typeface="The Seasons"/>
              </a:rPr>
              <a:t>Modular Data Overview</a:t>
            </a:r>
          </a:p>
        </p:txBody>
      </p:sp>
      <p:sp>
        <p:nvSpPr>
          <p:cNvPr id="18" name="AutoShape 18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812" y="-309562"/>
            <a:ext cx="11715750" cy="911542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6750" y="714375"/>
            <a:ext cx="5448300" cy="217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Key Metrics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7564755"/>
            <a:ext cx="5437751" cy="116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D7DDE5"/>
                </a:solidFill>
                <a:latin typeface="Proxima Nova"/>
                <a:ea typeface="Proxima Nova"/>
                <a:cs typeface="Proxima Nova"/>
                <a:sym typeface="Proxima Nova"/>
              </a:rPr>
              <a:t>This bar chart illustrates the </a:t>
            </a:r>
            <a:r>
              <a:rPr lang="en-US" sz="2400" b="1" u="none" strike="noStrike">
                <a:solidFill>
                  <a:srgbClr val="D7DDE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trends in key performance indicators</a:t>
            </a:r>
            <a:r>
              <a:rPr lang="en-US" sz="2400" u="none" strike="noStrike">
                <a:solidFill>
                  <a:srgbClr val="D7DDE5"/>
                </a:solidFill>
                <a:latin typeface="Proxima Nova"/>
                <a:ea typeface="Proxima Nova"/>
                <a:cs typeface="Proxima Nova"/>
                <a:sym typeface="Proxima Nova"/>
              </a:rPr>
              <a:t> over the past quarters.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8125" y="8345805"/>
            <a:ext cx="9763125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D7DDE5"/>
                </a:solidFill>
                <a:latin typeface="Proxima Nova"/>
                <a:ea typeface="Proxima Nova"/>
                <a:cs typeface="Proxima Nova"/>
                <a:sym typeface="Proxima Nova"/>
              </a:rPr>
              <a:t>Metrics reflect growth and performance insights.</a:t>
            </a:r>
          </a:p>
        </p:txBody>
      </p:sp>
      <p:sp>
        <p:nvSpPr>
          <p:cNvPr id="6" name="AutoShape 6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80">
                <a:solidFill>
                  <a:srgbClr val="5A6978"/>
                </a:solidFill>
                <a:latin typeface="The Seasons"/>
                <a:ea typeface="The Seasons"/>
                <a:cs typeface="The Seasons"/>
                <a:sym typeface="The Seasons"/>
              </a:rPr>
              <a:t>Summary Insights</a:t>
            </a:r>
          </a:p>
        </p:txBody>
      </p:sp>
      <p:sp>
        <p:nvSpPr>
          <p:cNvPr id="3" name="AutoShape 3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71241" y="6888480"/>
            <a:ext cx="8629650" cy="1836420"/>
            <a:chOff x="0" y="0"/>
            <a:chExt cx="11506200" cy="2448560"/>
          </a:xfrm>
        </p:grpSpPr>
        <p:sp>
          <p:nvSpPr>
            <p:cNvPr id="5" name="TextBox 5"/>
            <p:cNvSpPr txBox="1"/>
            <p:nvPr/>
          </p:nvSpPr>
          <p:spPr>
            <a:xfrm>
              <a:off x="0" y="908050"/>
              <a:ext cx="11500212" cy="1540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section highlights the </a:t>
              </a:r>
              <a:r>
                <a:rPr lang="en-US" sz="2400" b="1" u="none" strike="noStrike">
                  <a:solidFill>
                    <a:srgbClr val="5A6978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most critical findings</a:t>
              </a: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and actionable insights derived from the dashboard metrics, optimizing decision-making.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15062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  <a:spcBef>
                  <a:spcPct val="0"/>
                </a:spcBef>
              </a:pPr>
              <a:r>
                <a:rPr lang="en-US" sz="3600" b="1" u="none" strike="noStrike">
                  <a:solidFill>
                    <a:srgbClr val="768296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Key Takeaways from the Dashboard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3161193"/>
            <a:chOff x="0" y="0"/>
            <a:chExt cx="1015061" cy="588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061" cy="588955"/>
            </a:xfrm>
            <a:custGeom>
              <a:avLst/>
              <a:gdLst/>
              <a:ahLst/>
              <a:cxnLst/>
              <a:rect l="l" t="t" r="r" b="b"/>
              <a:pathLst>
                <a:path w="1015061" h="588955">
                  <a:moveTo>
                    <a:pt x="0" y="0"/>
                  </a:moveTo>
                  <a:lnTo>
                    <a:pt x="1015061" y="0"/>
                  </a:lnTo>
                  <a:lnTo>
                    <a:pt x="1015061" y="588955"/>
                  </a:lnTo>
                  <a:lnTo>
                    <a:pt x="0" y="588955"/>
                  </a:lnTo>
                  <a:close/>
                </a:path>
              </a:pathLst>
            </a:custGeom>
            <a:blipFill>
              <a:blip r:embed="rId2"/>
              <a:stretch>
                <a:fillRect l="-344" r="-34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19850" y="3352800"/>
            <a:ext cx="5448300" cy="3161193"/>
            <a:chOff x="0" y="0"/>
            <a:chExt cx="1015061" cy="5889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5061" cy="588955"/>
            </a:xfrm>
            <a:custGeom>
              <a:avLst/>
              <a:gdLst/>
              <a:ahLst/>
              <a:cxnLst/>
              <a:rect l="l" t="t" r="r" b="b"/>
              <a:pathLst>
                <a:path w="1015061" h="588955">
                  <a:moveTo>
                    <a:pt x="0" y="0"/>
                  </a:moveTo>
                  <a:lnTo>
                    <a:pt x="1015061" y="0"/>
                  </a:lnTo>
                  <a:lnTo>
                    <a:pt x="1015061" y="588955"/>
                  </a:lnTo>
                  <a:lnTo>
                    <a:pt x="0" y="588955"/>
                  </a:lnTo>
                  <a:close/>
                </a:path>
              </a:pathLst>
            </a:custGeom>
            <a:blipFill>
              <a:blip r:embed="rId3"/>
              <a:stretch>
                <a:fillRect l="-344" r="-34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2172950" y="3352800"/>
            <a:ext cx="5448300" cy="3161193"/>
            <a:chOff x="0" y="0"/>
            <a:chExt cx="1015061" cy="5889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5061" cy="588955"/>
            </a:xfrm>
            <a:custGeom>
              <a:avLst/>
              <a:gdLst/>
              <a:ahLst/>
              <a:cxnLst/>
              <a:rect l="l" t="t" r="r" b="b"/>
              <a:pathLst>
                <a:path w="1015061" h="588955">
                  <a:moveTo>
                    <a:pt x="0" y="0"/>
                  </a:moveTo>
                  <a:lnTo>
                    <a:pt x="1015061" y="0"/>
                  </a:lnTo>
                  <a:lnTo>
                    <a:pt x="1015061" y="588955"/>
                  </a:lnTo>
                  <a:lnTo>
                    <a:pt x="0" y="588955"/>
                  </a:lnTo>
                  <a:close/>
                </a:path>
              </a:pathLst>
            </a:custGeom>
            <a:blipFill>
              <a:blip r:embed="rId4"/>
              <a:stretch>
                <a:fillRect l="-344" r="-34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High-Level Process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6934200"/>
            <a:ext cx="5448300" cy="1626870"/>
            <a:chOff x="0" y="0"/>
            <a:chExt cx="7264400" cy="21691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Initiation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9350"/>
              <a:ext cx="72644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Identifying project goals and assembling key stakeholders.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6934200"/>
            <a:ext cx="5448300" cy="1626870"/>
            <a:chOff x="0" y="0"/>
            <a:chExt cx="7264400" cy="21691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Execution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49350"/>
              <a:ext cx="72644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Implementing steps to achieve defined objectives effectively.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6934200"/>
            <a:ext cx="5448300" cy="1626870"/>
            <a:chOff x="0" y="0"/>
            <a:chExt cx="7264400" cy="21691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Evaluation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49350"/>
              <a:ext cx="72644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Assessing outcomes and refining processes for improvement.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80">
                <a:solidFill>
                  <a:srgbClr val="5A6978"/>
                </a:solidFill>
                <a:latin typeface="The Seasons"/>
                <a:ea typeface="The Seasons"/>
                <a:cs typeface="The Seasons"/>
                <a:sym typeface="The Seasons"/>
              </a:rPr>
              <a:t>Process Explanation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71241" y="6774180"/>
            <a:ext cx="8629650" cy="1950720"/>
            <a:chOff x="0" y="0"/>
            <a:chExt cx="11506200" cy="2600960"/>
          </a:xfrm>
        </p:grpSpPr>
        <p:sp>
          <p:nvSpPr>
            <p:cNvPr id="5" name="TextBox 5"/>
            <p:cNvSpPr txBox="1"/>
            <p:nvPr/>
          </p:nvSpPr>
          <p:spPr>
            <a:xfrm>
              <a:off x="0" y="1581150"/>
              <a:ext cx="11500212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section outlines each step in the process, providing clarity and ensuring efficient task execution across teams.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1506200" cy="141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  <a:spcBef>
                  <a:spcPct val="0"/>
                </a:spcBef>
              </a:pPr>
              <a:r>
                <a:rPr lang="en-US" sz="3600" b="1" u="none" strike="noStrike">
                  <a:solidFill>
                    <a:srgbClr val="768296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Step-by-step guide to understanding workflows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660005"/>
            <a:ext cx="4010025" cy="106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D7DDE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Exploring different process pathways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419850" y="0"/>
            <a:ext cx="5448300" cy="10287000"/>
            <a:chOff x="0" y="0"/>
            <a:chExt cx="844084" cy="1593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4084" cy="1593725"/>
            </a:xfrm>
            <a:custGeom>
              <a:avLst/>
              <a:gdLst/>
              <a:ahLst/>
              <a:cxnLst/>
              <a:rect l="l" t="t" r="r" b="b"/>
              <a:pathLst>
                <a:path w="844084" h="1593725">
                  <a:moveTo>
                    <a:pt x="0" y="0"/>
                  </a:moveTo>
                  <a:lnTo>
                    <a:pt x="844084" y="0"/>
                  </a:lnTo>
                  <a:lnTo>
                    <a:pt x="84408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440" b="-44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66750" y="714375"/>
            <a:ext cx="4010025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</a:pPr>
            <a:r>
              <a:rPr lang="en-US" sz="5250" u="none" strike="noStrike" spc="-52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Workflow Comparisons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72950" y="0"/>
            <a:ext cx="5448300" cy="10287000"/>
            <a:chOff x="0" y="0"/>
            <a:chExt cx="844084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084" cy="1593725"/>
            </a:xfrm>
            <a:custGeom>
              <a:avLst/>
              <a:gdLst/>
              <a:ahLst/>
              <a:cxnLst/>
              <a:rect l="l" t="t" r="r" b="b"/>
              <a:pathLst>
                <a:path w="844084" h="1593725">
                  <a:moveTo>
                    <a:pt x="0" y="0"/>
                  </a:moveTo>
                  <a:lnTo>
                    <a:pt x="844084" y="0"/>
                  </a:lnTo>
                  <a:lnTo>
                    <a:pt x="84408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t="-440" b="-44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8" name="AutoShape 8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69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248150"/>
            <a:ext cx="4010025" cy="4476750"/>
            <a:chOff x="0" y="0"/>
            <a:chExt cx="747099" cy="8340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7099" cy="834053"/>
            </a:xfrm>
            <a:custGeom>
              <a:avLst/>
              <a:gdLst/>
              <a:ahLst/>
              <a:cxnLst/>
              <a:rect l="l" t="t" r="r" b="b"/>
              <a:pathLst>
                <a:path w="747099" h="834053">
                  <a:moveTo>
                    <a:pt x="0" y="0"/>
                  </a:moveTo>
                  <a:lnTo>
                    <a:pt x="747099" y="0"/>
                  </a:lnTo>
                  <a:lnTo>
                    <a:pt x="747099" y="834053"/>
                  </a:lnTo>
                  <a:lnTo>
                    <a:pt x="0" y="834053"/>
                  </a:lnTo>
                  <a:close/>
                </a:path>
              </a:pathLst>
            </a:custGeom>
            <a:blipFill>
              <a:blip r:embed="rId2"/>
              <a:stretch>
                <a:fillRect t="-252" b="-25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296400" y="4248150"/>
            <a:ext cx="4010025" cy="4476750"/>
            <a:chOff x="0" y="0"/>
            <a:chExt cx="747099" cy="8340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7099" cy="834053"/>
            </a:xfrm>
            <a:custGeom>
              <a:avLst/>
              <a:gdLst/>
              <a:ahLst/>
              <a:cxnLst/>
              <a:rect l="l" t="t" r="r" b="b"/>
              <a:pathLst>
                <a:path w="747099" h="834053">
                  <a:moveTo>
                    <a:pt x="0" y="0"/>
                  </a:moveTo>
                  <a:lnTo>
                    <a:pt x="747099" y="0"/>
                  </a:lnTo>
                  <a:lnTo>
                    <a:pt x="747099" y="834053"/>
                  </a:lnTo>
                  <a:lnTo>
                    <a:pt x="0" y="834053"/>
                  </a:lnTo>
                  <a:close/>
                </a:path>
              </a:pathLst>
            </a:custGeom>
            <a:blipFill>
              <a:blip r:embed="rId3"/>
              <a:stretch>
                <a:fillRect t="-252" b="-25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Comparison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81575" y="4248150"/>
            <a:ext cx="4010025" cy="2017395"/>
            <a:chOff x="0" y="0"/>
            <a:chExt cx="5346700" cy="268986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53467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Metrics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49350"/>
              <a:ext cx="5346700" cy="1540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 representation of critical performance indicators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611225" y="4248150"/>
            <a:ext cx="4010025" cy="1626870"/>
            <a:chOff x="0" y="0"/>
            <a:chExt cx="5346700" cy="21691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53467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Analysis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49350"/>
              <a:ext cx="53467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Insightful examination of comparative data points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66750" y="3352800"/>
          <a:ext cx="16954500" cy="5384737"/>
        </p:xfrm>
        <a:graphic>
          <a:graphicData uri="http://schemas.openxmlformats.org/drawingml/2006/table">
            <a:tbl>
              <a:tblPr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2166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pc="24">
                          <a:solidFill>
                            <a:srgbClr val="D7DDE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Heading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pc="24">
                          <a:solidFill>
                            <a:srgbClr val="D7DDE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Heading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pc="24">
                          <a:solidFill>
                            <a:srgbClr val="D7DDE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Heading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pc="24">
                          <a:solidFill>
                            <a:srgbClr val="D7DDE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Heading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2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pc="24">
                          <a:solidFill>
                            <a:srgbClr val="D7DDE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Heading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8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851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1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51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51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8514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682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80">
                <a:solidFill>
                  <a:srgbClr val="5A6978"/>
                </a:solidFill>
                <a:latin typeface="The Seasons"/>
                <a:ea typeface="The Seasons"/>
                <a:cs typeface="The Seasons"/>
                <a:sym typeface="The Seasons"/>
              </a:rPr>
              <a:t>Feature Comparison Table</a:t>
            </a:r>
          </a:p>
        </p:txBody>
      </p:sp>
      <p:sp>
        <p:nvSpPr>
          <p:cNvPr id="4" name="AutoShape 4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Summary Insights</a:t>
            </a:r>
          </a:p>
        </p:txBody>
      </p:sp>
      <p:sp>
        <p:nvSpPr>
          <p:cNvPr id="3" name="AutoShape 3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71241" y="6774180"/>
            <a:ext cx="8629650" cy="1950720"/>
            <a:chOff x="0" y="0"/>
            <a:chExt cx="11506200" cy="2600960"/>
          </a:xfrm>
        </p:grpSpPr>
        <p:sp>
          <p:nvSpPr>
            <p:cNvPr id="5" name="TextBox 5"/>
            <p:cNvSpPr txBox="1"/>
            <p:nvPr/>
          </p:nvSpPr>
          <p:spPr>
            <a:xfrm>
              <a:off x="0" y="1581150"/>
              <a:ext cx="11500212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section highlights essential findings and actionable insights to support informed choices and strategic planning.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1506200" cy="1416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  <a:spcBef>
                  <a:spcPct val="0"/>
                </a:spcBef>
              </a:pPr>
              <a:r>
                <a:rPr lang="en-US" sz="3600" b="1" u="none" strike="noStrike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Key takeaways and recommendations for decision-making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038850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66750" y="5946229"/>
            <a:ext cx="185242" cy="185242"/>
            <a:chOff x="0" y="0"/>
            <a:chExt cx="48788" cy="48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15821025" cy="2534924"/>
            <a:chOff x="0" y="0"/>
            <a:chExt cx="21094700" cy="3379899"/>
          </a:xfrm>
        </p:grpSpPr>
        <p:sp>
          <p:nvSpPr>
            <p:cNvPr id="7" name="TextBox 7"/>
            <p:cNvSpPr txBox="1"/>
            <p:nvPr/>
          </p:nvSpPr>
          <p:spPr>
            <a:xfrm>
              <a:off x="0" y="47625"/>
              <a:ext cx="21094700" cy="1569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</a:pPr>
              <a:r>
                <a:rPr lang="en-US" sz="8000" u="none" strike="noStrike" spc="-80">
                  <a:solidFill>
                    <a:srgbClr val="5A6978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Timeline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60089"/>
              <a:ext cx="210947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timeline infographic outlines key milestones in our project, highlighting significant events and their impact on overall goals, ensuring clear visibility into progress and future directions.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 product launch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81575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Midway project assessment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Comprehensive evaluation phase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1225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Final project delivery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516064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81575" y="516064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Progress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96400" y="515302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11225" y="515302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Completion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990110" y="5946229"/>
            <a:ext cx="185242" cy="185242"/>
            <a:chOff x="0" y="0"/>
            <a:chExt cx="48788" cy="487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5492" y="5946229"/>
            <a:ext cx="185242" cy="185242"/>
            <a:chOff x="0" y="0"/>
            <a:chExt cx="48788" cy="487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96400" y="5946229"/>
            <a:ext cx="185242" cy="185242"/>
            <a:chOff x="0" y="0"/>
            <a:chExt cx="48788" cy="487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5372100"/>
            <a:chOff x="0" y="0"/>
            <a:chExt cx="1015061" cy="1000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061" cy="1000864"/>
            </a:xfrm>
            <a:custGeom>
              <a:avLst/>
              <a:gdLst/>
              <a:ahLst/>
              <a:cxnLst/>
              <a:rect l="l" t="t" r="r" b="b"/>
              <a:pathLst>
                <a:path w="1015061" h="1000864">
                  <a:moveTo>
                    <a:pt x="0" y="0"/>
                  </a:moveTo>
                  <a:lnTo>
                    <a:pt x="1015061" y="0"/>
                  </a:lnTo>
                  <a:lnTo>
                    <a:pt x="1015061" y="1000864"/>
                  </a:lnTo>
                  <a:lnTo>
                    <a:pt x="0" y="1000864"/>
                  </a:ln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Key Milestone Insights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3352800"/>
            <a:ext cx="4314825" cy="2017395"/>
            <a:chOff x="0" y="0"/>
            <a:chExt cx="5753100" cy="268986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7531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49350"/>
              <a:ext cx="5753100" cy="1540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section explores the essential </a:t>
              </a:r>
              <a:r>
                <a:rPr lang="en-US" sz="2400" b="1">
                  <a:solidFill>
                    <a:srgbClr val="D7DDE5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details</a:t>
              </a: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of the first key milestone.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5372100"/>
            <a:chOff x="0" y="0"/>
            <a:chExt cx="1015061" cy="1000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061" cy="1000864"/>
            </a:xfrm>
            <a:custGeom>
              <a:avLst/>
              <a:gdLst/>
              <a:ahLst/>
              <a:cxnLst/>
              <a:rect l="l" t="t" r="r" b="b"/>
              <a:pathLst>
                <a:path w="1015061" h="1000864">
                  <a:moveTo>
                    <a:pt x="0" y="0"/>
                  </a:moveTo>
                  <a:lnTo>
                    <a:pt x="1015061" y="0"/>
                  </a:lnTo>
                  <a:lnTo>
                    <a:pt x="1015061" y="1000864"/>
                  </a:lnTo>
                  <a:lnTo>
                    <a:pt x="0" y="1000864"/>
                  </a:ln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5A6978"/>
                </a:solidFill>
                <a:latin typeface="The Seasons"/>
                <a:ea typeface="The Seasons"/>
                <a:cs typeface="The Seasons"/>
                <a:sym typeface="The Seasons"/>
              </a:rPr>
              <a:t>Key Milestone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3352800"/>
            <a:ext cx="4314825" cy="1626870"/>
            <a:chOff x="0" y="0"/>
            <a:chExt cx="5753100" cy="216916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7531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768296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Milestone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49350"/>
              <a:ext cx="57531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5A6978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Analysis</a:t>
              </a:r>
              <a:r>
                <a:rPr lang="en-US" sz="2400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of the project's progress and significance.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5372100"/>
            <a:chOff x="0" y="0"/>
            <a:chExt cx="1015061" cy="1000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061" cy="1000864"/>
            </a:xfrm>
            <a:custGeom>
              <a:avLst/>
              <a:gdLst/>
              <a:ahLst/>
              <a:cxnLst/>
              <a:rect l="l" t="t" r="r" b="b"/>
              <a:pathLst>
                <a:path w="1015061" h="1000864">
                  <a:moveTo>
                    <a:pt x="0" y="0"/>
                  </a:moveTo>
                  <a:lnTo>
                    <a:pt x="1015061" y="0"/>
                  </a:lnTo>
                  <a:lnTo>
                    <a:pt x="1015061" y="1000864"/>
                  </a:lnTo>
                  <a:lnTo>
                    <a:pt x="0" y="1000864"/>
                  </a:ln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66750" y="714375"/>
            <a:ext cx="16954500" cy="11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Key Milestone Insights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419850" y="3352800"/>
            <a:ext cx="4314825" cy="1626870"/>
            <a:chOff x="0" y="0"/>
            <a:chExt cx="5753100" cy="216916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57531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Exploration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49350"/>
              <a:ext cx="57531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section details essential findings and impacts.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-11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038850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66750" y="5946229"/>
            <a:ext cx="185242" cy="185242"/>
            <a:chOff x="0" y="0"/>
            <a:chExt cx="48788" cy="48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15821025" cy="2534924"/>
            <a:chOff x="0" y="0"/>
            <a:chExt cx="21094700" cy="3379899"/>
          </a:xfrm>
        </p:grpSpPr>
        <p:sp>
          <p:nvSpPr>
            <p:cNvPr id="7" name="TextBox 7"/>
            <p:cNvSpPr txBox="1"/>
            <p:nvPr/>
          </p:nvSpPr>
          <p:spPr>
            <a:xfrm>
              <a:off x="0" y="47625"/>
              <a:ext cx="21094700" cy="1569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</a:pPr>
              <a:r>
                <a:rPr lang="en-US" sz="8000" u="none" strike="noStrike" spc="-80">
                  <a:solidFill>
                    <a:srgbClr val="5A6978"/>
                  </a:solidFill>
                  <a:latin typeface="The Seasons"/>
                  <a:ea typeface="The Seasons"/>
                  <a:cs typeface="The Seasons"/>
                  <a:sym typeface="The Seasons"/>
                </a:rPr>
                <a:t>Future Projections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60089"/>
              <a:ext cx="210947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timeline outlines the </a:t>
              </a:r>
              <a:r>
                <a:rPr lang="en-US" sz="2400" b="1" u="none" strike="noStrike">
                  <a:solidFill>
                    <a:srgbClr val="5A6978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anticipated milestones</a:t>
              </a:r>
              <a:r>
                <a:rPr lang="en-US" sz="2400" u="none" strike="noStrike">
                  <a:solidFill>
                    <a:srgbClr val="5A6978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and projections for our upcoming projects over the next 12 months, providing clarity on expected developments.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kickoff event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81575" y="6915150"/>
            <a:ext cx="2571750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New market entry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Mid-year assessment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1225" y="6915150"/>
            <a:ext cx="257175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5A6978"/>
                </a:solidFill>
                <a:latin typeface="Proxima Nova"/>
                <a:ea typeface="Proxima Nova"/>
                <a:cs typeface="Proxima Nova"/>
                <a:sym typeface="Proxima Nova"/>
              </a:rPr>
              <a:t>Final project delivery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516064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81575" y="516064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Expansion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96400" y="515302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11225" y="5153025"/>
            <a:ext cx="257175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</a:pPr>
            <a:r>
              <a:rPr lang="en-US" sz="3600" b="1" u="none" strike="noStrike">
                <a:solidFill>
                  <a:srgbClr val="5A6978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Completion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990110" y="5946229"/>
            <a:ext cx="185242" cy="185242"/>
            <a:chOff x="0" y="0"/>
            <a:chExt cx="48788" cy="487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5492" y="5946229"/>
            <a:ext cx="185242" cy="185242"/>
            <a:chOff x="0" y="0"/>
            <a:chExt cx="48788" cy="487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96400" y="5946229"/>
            <a:ext cx="185242" cy="185242"/>
            <a:chOff x="0" y="0"/>
            <a:chExt cx="48788" cy="487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88" cy="48788"/>
            </a:xfrm>
            <a:custGeom>
              <a:avLst/>
              <a:gdLst/>
              <a:ahLst/>
              <a:cxnLst/>
              <a:rect l="l" t="t" r="r" b="b"/>
              <a:pathLst>
                <a:path w="48788" h="48788">
                  <a:moveTo>
                    <a:pt x="0" y="0"/>
                  </a:moveTo>
                  <a:lnTo>
                    <a:pt x="48788" y="0"/>
                  </a:lnTo>
                  <a:lnTo>
                    <a:pt x="48788" y="48788"/>
                  </a:lnTo>
                  <a:lnTo>
                    <a:pt x="0" y="48788"/>
                  </a:lnTo>
                  <a:close/>
                </a:path>
              </a:pathLst>
            </a:custGeom>
            <a:solidFill>
              <a:srgbClr val="5A697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8788" cy="67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5A697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82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14375"/>
            <a:ext cx="9763125" cy="217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none" strike="noStrike" spc="-80">
                <a:solidFill>
                  <a:srgbClr val="D7DDE5"/>
                </a:solidFill>
                <a:latin typeface="The Seasons"/>
                <a:ea typeface="The Seasons"/>
                <a:cs typeface="The Seasons"/>
                <a:sym typeface="The Seasons"/>
              </a:rPr>
              <a:t>Contact us for your infographic needs</a:t>
            </a:r>
          </a:p>
        </p:txBody>
      </p:sp>
      <p:sp>
        <p:nvSpPr>
          <p:cNvPr id="3" name="AutoShape 3"/>
          <p:cNvSpPr/>
          <p:nvPr/>
        </p:nvSpPr>
        <p:spPr>
          <a:xfrm>
            <a:off x="-22" y="515778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66750" y="7279005"/>
            <a:ext cx="5448300" cy="1445895"/>
            <a:chOff x="0" y="0"/>
            <a:chExt cx="7264400" cy="192786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Email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065" y="1428750"/>
              <a:ext cx="7250335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hello@reallygreatsite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7279005"/>
            <a:ext cx="5448300" cy="1445895"/>
            <a:chOff x="0" y="0"/>
            <a:chExt cx="7264400" cy="192786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Social Media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65" y="1428750"/>
              <a:ext cx="7250335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@reallygreatsite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7279005"/>
            <a:ext cx="5448300" cy="1445895"/>
            <a:chOff x="0" y="0"/>
            <a:chExt cx="7264400" cy="19278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7264400" cy="7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60"/>
                </a:lnSpc>
              </a:pPr>
              <a:r>
                <a:rPr lang="en-US" sz="3600" b="1">
                  <a:solidFill>
                    <a:srgbClr val="D7DDE5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Phone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065" y="1428750"/>
              <a:ext cx="7250335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D7DDE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123-456-7890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-22" y="9634538"/>
            <a:ext cx="18288022" cy="0"/>
          </a:xfrm>
          <a:prstGeom prst="line">
            <a:avLst/>
          </a:prstGeom>
          <a:ln w="28575" cap="flat">
            <a:solidFill>
              <a:srgbClr val="D7DDE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Custom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Proxima Nova</vt:lpstr>
      <vt:lpstr>Proxima Nova Bold</vt:lpstr>
      <vt:lpstr>The Seasons</vt:lpstr>
      <vt:lpstr>The Seasons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Professional Use</dc:title>
  <dc:creator>PADMANAVA</dc:creator>
  <dc:description>Presentation - Professional Use</dc:description>
  <cp:lastModifiedBy>mojumderpadmanava@gmail.com</cp:lastModifiedBy>
  <cp:revision>2</cp:revision>
  <dcterms:created xsi:type="dcterms:W3CDTF">2006-08-16T00:00:00Z</dcterms:created>
  <dcterms:modified xsi:type="dcterms:W3CDTF">2025-10-18T05:56:42Z</dcterms:modified>
  <dc:identifier>DAG14NnHh-k</dc:identifier>
</cp:coreProperties>
</file>