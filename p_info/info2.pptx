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K Grotesk" panose="020B0604020202020204" charset="0"/>
      <p:regular r:id="rId13"/>
    </p:embeddedFont>
    <p:embeddedFont>
      <p:font typeface="HK Grotesk Bold" panose="020B0604020202020204" charset="0"/>
      <p:regular r:id="rId14"/>
    </p:embeddedFont>
    <p:embeddedFont>
      <p:font typeface="HK Grotesk Semi-Bold" panose="020B0604020202020204" charset="0"/>
      <p:regular r:id="rId15"/>
    </p:embeddedFont>
    <p:embeddedFont>
      <p:font typeface="Noto Serif Display ExtraCondensed Light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1638300"/>
            <a:ext cx="688657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>
                <a:solidFill>
                  <a:srgbClr val="495057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Infographics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4741545"/>
            <a:ext cx="6886575" cy="4821555"/>
            <a:chOff x="0" y="0"/>
            <a:chExt cx="9182100" cy="6428740"/>
          </a:xfrm>
        </p:grpSpPr>
        <p:sp>
          <p:nvSpPr>
            <p:cNvPr id="6" name="TextBox 6"/>
            <p:cNvSpPr txBox="1"/>
            <p:nvPr/>
          </p:nvSpPr>
          <p:spPr>
            <a:xfrm>
              <a:off x="0" y="586994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[Your Name Here]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57175"/>
              <a:ext cx="9182100" cy="474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425"/>
                </a:lnSpc>
              </a:pPr>
              <a:r>
                <a:rPr lang="en-US" sz="13425" spc="-268">
                  <a:solidFill>
                    <a:srgbClr val="21252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PowerPoint Templates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858125" y="1733550"/>
            <a:ext cx="9763125" cy="123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40"/>
              </a:lnSpc>
            </a:pPr>
            <a:r>
              <a:rPr lang="en-US" sz="9240" u="none" spc="-184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Modular Data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4248150"/>
            <a:ext cx="83248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High-level metrics help summarize complex data efficiently.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6038850"/>
            <a:ext cx="832485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Icon-based highlights enhance quick comprehension of figures.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29550"/>
            <a:ext cx="83248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Modular layouts allow easy adjustments for diverse presentations.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8125" y="4286250"/>
            <a:ext cx="11334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8125" y="6076950"/>
            <a:ext cx="11334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8125" y="7867650"/>
            <a:ext cx="11334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115050" y="676275"/>
            <a:ext cx="1217295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115050" y="9620250"/>
            <a:ext cx="1217295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5910"/>
            <a:ext cx="4010025" cy="3425190"/>
            <a:chOff x="0" y="0"/>
            <a:chExt cx="621258" cy="530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258" cy="530652"/>
            </a:xfrm>
            <a:custGeom>
              <a:avLst/>
              <a:gdLst/>
              <a:ahLst/>
              <a:cxnLst/>
              <a:rect l="l" t="t" r="r" b="b"/>
              <a:pathLst>
                <a:path w="621258" h="530652">
                  <a:moveTo>
                    <a:pt x="0" y="0"/>
                  </a:moveTo>
                  <a:lnTo>
                    <a:pt x="621258" y="0"/>
                  </a:lnTo>
                  <a:lnTo>
                    <a:pt x="621258" y="530652"/>
                  </a:lnTo>
                  <a:lnTo>
                    <a:pt x="0" y="530652"/>
                  </a:lnTo>
                  <a:close/>
                </a:path>
              </a:pathLst>
            </a:custGeom>
            <a:blipFill>
              <a:blip r:embed="rId2"/>
              <a:stretch>
                <a:fillRect l="-170" r="-1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296400" y="5295900"/>
            <a:ext cx="4010025" cy="3429000"/>
            <a:chOff x="0" y="0"/>
            <a:chExt cx="621258" cy="5312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1258" cy="531242"/>
            </a:xfrm>
            <a:custGeom>
              <a:avLst/>
              <a:gdLst/>
              <a:ahLst/>
              <a:cxnLst/>
              <a:rect l="l" t="t" r="r" b="b"/>
              <a:pathLst>
                <a:path w="621258" h="531242">
                  <a:moveTo>
                    <a:pt x="0" y="0"/>
                  </a:moveTo>
                  <a:lnTo>
                    <a:pt x="621258" y="0"/>
                  </a:lnTo>
                  <a:lnTo>
                    <a:pt x="621258" y="531242"/>
                  </a:lnTo>
                  <a:lnTo>
                    <a:pt x="0" y="531242"/>
                  </a:lnTo>
                  <a:close/>
                </a:path>
              </a:pathLst>
            </a:custGeom>
            <a:blipFill>
              <a:blip r:embed="rId3"/>
              <a:stretch>
                <a:fillRect l="-226" r="-226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1743920"/>
            <a:ext cx="6886575" cy="6158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Expanded Charts: Analyzing Trends and Insights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1225" y="5295900"/>
            <a:ext cx="4010025" cy="1618693"/>
            <a:chOff x="0" y="0"/>
            <a:chExt cx="5346700" cy="215825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305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Detailed examination brings clarity to data analysis.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Insightful Metrics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1565910"/>
            <a:ext cx="4010025" cy="1615440"/>
            <a:chOff x="0" y="0"/>
            <a:chExt cx="5346700" cy="215392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88720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Analyzing key metrics helps identify patterns effectively.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Trends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6886575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Summary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6191250"/>
            <a:ext cx="5448300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This section provides </a:t>
            </a:r>
            <a:r>
              <a:rPr lang="en-US" sz="2400" b="1" u="none" strike="noStrike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takeaways</a:t>
            </a: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 and impactful quotes that encapsulate crucial findings from the data presented. Icons enhance visual appeal while guiding the audience through the main points, ensuring clear understanding and retention of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372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8F9F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High-Level Process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619672"/>
            <a:chOff x="0" y="0"/>
            <a:chExt cx="5346700" cy="21595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F8F9F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Initiate</a:t>
              </a:r>
              <a:r>
                <a:rPr lang="en-US" sz="2400" u="none" strike="noStrike">
                  <a:solidFill>
                    <a:srgbClr val="F8F9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 project with clear goals and objectives.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8F9F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Step One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618693"/>
            <a:chOff x="0" y="0"/>
            <a:chExt cx="5346700" cy="21582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F8F9F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Plan</a:t>
              </a:r>
              <a:r>
                <a:rPr lang="en-US" sz="2400" u="none" strike="noStrike">
                  <a:solidFill>
                    <a:srgbClr val="F8F9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resources and timelines for effective execution.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8F9F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Step Two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981200"/>
            <a:chOff x="0" y="0"/>
            <a:chExt cx="5346700" cy="2641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F8F9F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Execute</a:t>
              </a:r>
              <a:r>
                <a:rPr lang="en-US" sz="2400" u="none" strike="noStrike">
                  <a:solidFill>
                    <a:srgbClr val="F8F9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 process with ongoing monitoring and adjustments.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8F9F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Step Three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8F9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8F9F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54483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858125" y="2457450"/>
            <a:ext cx="4010025" cy="1619250"/>
            <a:chOff x="0" y="0"/>
            <a:chExt cx="5346700" cy="2159000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Planning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93800"/>
              <a:ext cx="5312521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49505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Outline project objectives</a:t>
              </a: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goals.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11225" y="2457450"/>
            <a:ext cx="4010025" cy="1619250"/>
            <a:chOff x="0" y="0"/>
            <a:chExt cx="5346700" cy="2159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Monitoring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93800"/>
              <a:ext cx="5312521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49505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Track progress</a:t>
              </a: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adjust plans.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11225" y="6038850"/>
            <a:ext cx="4022842" cy="1619250"/>
            <a:chOff x="0" y="0"/>
            <a:chExt cx="5363789" cy="2159000"/>
          </a:xfrm>
        </p:grpSpPr>
        <p:sp>
          <p:nvSpPr>
            <p:cNvPr id="10" name="TextBox 10"/>
            <p:cNvSpPr txBox="1"/>
            <p:nvPr/>
          </p:nvSpPr>
          <p:spPr>
            <a:xfrm>
              <a:off x="17089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Completion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93800"/>
              <a:ext cx="5312521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49505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Finalize project deliverables</a:t>
              </a: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review.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58125" y="6038850"/>
            <a:ext cx="4010025" cy="1619250"/>
            <a:chOff x="0" y="0"/>
            <a:chExt cx="5346700" cy="21590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Execution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93800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b="1" u="none" strike="noStrike">
                  <a:solidFill>
                    <a:srgbClr val="49505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Implement tasks</a:t>
              </a: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according to timeline.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2457450"/>
            <a:ext cx="9763125" cy="1618405"/>
            <a:chOff x="0" y="0"/>
            <a:chExt cx="13017500" cy="215787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Comparison Tables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2674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Comparison tables facilitate quick evaluation of multiple options against established criteria, aiding decision-making.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5143078"/>
            <a:ext cx="9763125" cy="1618828"/>
            <a:chOff x="0" y="0"/>
            <a:chExt cx="13017500" cy="215843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Visual Charts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237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Visual charts provide insights into performance metrics, making complex data more digestible and actionable for analysis.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1743920"/>
            <a:ext cx="544830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Overview Comparison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333750"/>
            <a:chOff x="0" y="0"/>
            <a:chExt cx="5346700" cy="4445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Performance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section provides a concise analysis of the feature performance, highlighting the strengths and weaknesses of each metric in relation to overall project goals and objectives.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362325"/>
            <a:chOff x="0" y="0"/>
            <a:chExt cx="5346700" cy="4483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User Engagement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731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detailed breakdown of user engagement metrics showcases trends and patterns, allowing stakeholders to make informed decisions based on user behavior and feedback received during the analysis period.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333750"/>
            <a:chOff x="0" y="0"/>
            <a:chExt cx="5346700" cy="44450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Cost Efficiency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 examination of cost efficiency reveals the financial implications of each feature, helping organizations allocate resources effectively and maximize return on investment while minimizing potential risks.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212529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Feature Comparison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Detailed Analysis of Key Metrics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00625" y="5131506"/>
            <a:ext cx="14907864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676775" y="4912022"/>
            <a:ext cx="438967" cy="43896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91600" y="4912022"/>
            <a:ext cx="438967" cy="43896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06425" y="4912022"/>
            <a:ext cx="438967" cy="43896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9505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1756410"/>
            <a:ext cx="158210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 spc="-192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Milestones Timeline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76775" y="3962400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Event One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76775" y="5893506"/>
            <a:ext cx="318135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Launch of the project marked a significant milestone in our strategic planning.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91600" y="3962400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Event Two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91600" y="5893506"/>
            <a:ext cx="318135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Completion of phase one allowed us to move forward with additional development.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06425" y="3962400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4950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Event Three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06425" y="5893506"/>
            <a:ext cx="318135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495057"/>
                </a:solidFill>
                <a:latin typeface="HK Grotesk"/>
                <a:ea typeface="HK Grotesk"/>
                <a:cs typeface="HK Grotesk"/>
                <a:sym typeface="HK Grotesk"/>
              </a:rPr>
              <a:t>Final review and approval led to the official rollout of the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w="19050" cap="flat">
            <a:solidFill>
              <a:srgbClr val="ADB5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ADB5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68865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8F9F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Project Phases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6191250"/>
            <a:ext cx="5448300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F8F9FA"/>
                </a:solidFill>
                <a:latin typeface="HK Grotesk"/>
                <a:ea typeface="HK Grotesk"/>
                <a:cs typeface="HK Grotesk"/>
                <a:sym typeface="HK Grotesk"/>
              </a:rPr>
              <a:t>This section outlines the </a:t>
            </a:r>
            <a:r>
              <a:rPr lang="en-US" sz="2400" b="1" u="none" strike="noStrike">
                <a:solidFill>
                  <a:srgbClr val="F8F9F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milestones</a:t>
            </a:r>
            <a:r>
              <a:rPr lang="en-US" sz="2400" u="none" strike="noStrike">
                <a:solidFill>
                  <a:srgbClr val="F8F9FA"/>
                </a:solidFill>
                <a:latin typeface="HK Grotesk"/>
                <a:ea typeface="HK Grotesk"/>
                <a:cs typeface="HK Grotesk"/>
                <a:sym typeface="HK Grotesk"/>
              </a:rPr>
              <a:t> of our project, detailing each phase from inception to completion. By clearly defining these stages, we aim to provide a comprehensive overview that facilitates understanding and tracking of our progress throughout the project lifecycle.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544830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212529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Future 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210300"/>
            <a:ext cx="5448300" cy="2514600"/>
            <a:chOff x="0" y="0"/>
            <a:chExt cx="7264400" cy="3352800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72644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49505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Projecting Outcomes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39800"/>
              <a:ext cx="7264400" cy="241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49505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section highlights essential data-driven projections for upcoming initiatives, emphasizing trends and potential impacts to ensure informed decision-making moving forward.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w="19050" cap="flat">
            <a:solidFill>
              <a:srgbClr val="49505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Custom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HK Grotesk Semi-Bold</vt:lpstr>
      <vt:lpstr>HK Grotesk</vt:lpstr>
      <vt:lpstr>Arial</vt:lpstr>
      <vt:lpstr>HK Grotesk Bold</vt:lpstr>
      <vt:lpstr>Noto Serif Display ExtraCondensed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PowerPoint Templates</dc:title>
  <dc:creator>PADMANAVA</dc:creator>
  <dc:description>Presentation -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2025-10-18T06:02:18Z</dcterms:modified>
  <dc:identifier>DAG14F59IyM</dc:identifier>
</cp:coreProperties>
</file>