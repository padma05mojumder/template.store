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T Ramillas" charset="1" panose="020E0000080000020004"/>
      <p:regular r:id="rId22"/>
    </p:embeddedFont>
    <p:embeddedFont>
      <p:font typeface="TT Interphases" charset="1" panose="02000503020000020004"/>
      <p:regular r:id="rId23"/>
    </p:embeddedFont>
    <p:embeddedFont>
      <p:font typeface="TT Interphases Bold" charset="1" panose="0200080306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Relationship Id="rId7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429875" y="9620250"/>
            <a:ext cx="7191375" cy="0"/>
          </a:xfrm>
          <a:prstGeom prst="line">
            <a:avLst/>
          </a:prstGeom>
          <a:ln cap="flat" w="19050">
            <a:solidFill>
              <a:srgbClr val="E0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9296400" cy="10287000"/>
            <a:chOff x="0" y="0"/>
            <a:chExt cx="1440256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25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40256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4675" y="723900"/>
            <a:ext cx="5448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sz="3000" spc="-60">
                <a:solidFill>
                  <a:srgbClr val="D1D5DB"/>
                </a:solidFill>
                <a:latin typeface="TT Ramillas"/>
                <a:ea typeface="TT Ramillas"/>
                <a:cs typeface="TT Ramillas"/>
                <a:sym typeface="TT Ramillas"/>
              </a:rPr>
              <a:t>BrandX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6788291"/>
            <a:ext cx="6886575" cy="1936609"/>
            <a:chOff x="0" y="0"/>
            <a:chExt cx="9182100" cy="258214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71450"/>
              <a:ext cx="9182100" cy="1672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75"/>
                </a:lnSpc>
              </a:pPr>
              <a:r>
                <a:rPr lang="en-US" sz="9075" spc="-181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Presentations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981859"/>
              <a:ext cx="91821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 u="none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JOHN DOE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393" y="7281545"/>
            <a:ext cx="9732482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1D5D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These </a:t>
            </a:r>
            <a:r>
              <a:rPr lang="en-US" b="true" sz="2799">
                <a:solidFill>
                  <a:srgbClr val="D1D5D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versatile templates</a:t>
            </a:r>
            <a:r>
              <a:rPr lang="en-US" sz="2799">
                <a:solidFill>
                  <a:srgbClr val="D1D5D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enhance your marketing and sales presentations, ensuring a sleek design, clear messaging, and branding adaptability to effectively engage diverse professional audiences.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3479165"/>
            <a:chOff x="0" y="0"/>
            <a:chExt cx="18770600" cy="46388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8770600" cy="3526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Marketing and Sales Templates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0386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PROFESSIONAL DIGITAL PRESENTATION DESIGNS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Key Design Principles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Clean Layout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clean layout enhances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audience engagement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understanding.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Digital Style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Incorporating digital style elements creates a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modern aesthetic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Balanced Color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balanced color scheme promotes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visual harmony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clarity.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7023101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Modern Marketing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6886575" cy="1965960"/>
            <a:chOff x="0" y="0"/>
            <a:chExt cx="9182100" cy="26212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Purpose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Our templates provide versatile, polished options tailored to marketing and sales presentations, ensuring impactful communication in every slide.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05025" y="6934200"/>
            <a:ext cx="6886575" cy="1965960"/>
            <a:chOff x="0" y="0"/>
            <a:chExt cx="9182100" cy="26212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Design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 design principles include clean layouts, balanced color use, and digital style elements that enhance professional presentation quality.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66750" y="421005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689610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666750"/>
            <a:ext cx="8324850" cy="2212340"/>
            <a:chOff x="0" y="0"/>
            <a:chExt cx="11099800" cy="29497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0"/>
              <a:ext cx="110998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Marketing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349500"/>
              <a:ext cx="110998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OVERVIEW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34675" y="666750"/>
            <a:ext cx="6886575" cy="8953500"/>
            <a:chOff x="0" y="0"/>
            <a:chExt cx="1066911" cy="13871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91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066911">
                  <a:moveTo>
                    <a:pt x="0" y="0"/>
                  </a:moveTo>
                  <a:lnTo>
                    <a:pt x="1066911" y="0"/>
                  </a:lnTo>
                  <a:lnTo>
                    <a:pt x="1066911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140779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Key Insights into Marketing Success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25900" y="777240"/>
            <a:ext cx="895350" cy="895350"/>
            <a:chOff x="0" y="0"/>
            <a:chExt cx="1193800" cy="119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3300" y="3851275"/>
            <a:ext cx="2571750" cy="1955483"/>
            <a:chOff x="0" y="0"/>
            <a:chExt cx="3429000" cy="260731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7150"/>
              <a:ext cx="3429000" cy="53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</a:pPr>
              <a:r>
                <a:rPr lang="en-US" sz="2962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KPI Metrics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4905"/>
              <a:ext cx="34290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Visualizing performance through key metrics.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894080"/>
              <a:ext cx="34290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43300" y="6934200"/>
            <a:ext cx="2571750" cy="1955483"/>
            <a:chOff x="0" y="0"/>
            <a:chExt cx="3429000" cy="260731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7150"/>
              <a:ext cx="3429000" cy="53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</a:pPr>
              <a:r>
                <a:rPr lang="en-US" sz="2962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Traffic Trends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44905"/>
              <a:ext cx="34290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Analyzing trends to inform marketing strategy.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894080"/>
              <a:ext cx="34290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96400" y="3851275"/>
            <a:ext cx="2571750" cy="2326958"/>
            <a:chOff x="0" y="0"/>
            <a:chExt cx="3429000" cy="310261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57150"/>
              <a:ext cx="3429000" cy="103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</a:pPr>
              <a:r>
                <a:rPr lang="en-US" sz="2962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Customer Demographics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40205"/>
              <a:ext cx="34290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target audience for better outreach.</a:t>
              </a: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313" y="1389380"/>
              <a:ext cx="3420687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96400" y="6934200"/>
            <a:ext cx="2571750" cy="2326958"/>
            <a:chOff x="0" y="0"/>
            <a:chExt cx="3429000" cy="310261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57150"/>
              <a:ext cx="3429000" cy="1033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</a:pPr>
              <a:r>
                <a:rPr lang="en-US" sz="2962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Customer Success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13" y="1640205"/>
              <a:ext cx="3420687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Showcasing impactful results of marketing efforts.</a:t>
              </a:r>
            </a:p>
          </p:txBody>
        </p:sp>
        <p:sp>
          <p:nvSpPr>
            <p:cNvPr name="AutoShape 23" id="23"/>
            <p:cNvSpPr/>
            <p:nvPr/>
          </p:nvSpPr>
          <p:spPr>
            <a:xfrm>
              <a:off x="8313" y="1389380"/>
              <a:ext cx="3420687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19850" y="3851275"/>
            <a:ext cx="2571750" cy="2686050"/>
            <a:chOff x="0" y="0"/>
            <a:chExt cx="621258" cy="648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4"/>
              <a:stretch>
                <a:fillRect l="0" t="-193" r="0" b="-19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6750" y="3851275"/>
            <a:ext cx="2571750" cy="2686050"/>
            <a:chOff x="0" y="0"/>
            <a:chExt cx="621258" cy="6488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5"/>
              <a:stretch>
                <a:fillRect l="0" t="-193" r="0" b="-19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6750" y="6934200"/>
            <a:ext cx="2571750" cy="2686050"/>
            <a:chOff x="0" y="0"/>
            <a:chExt cx="621258" cy="6488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6"/>
              <a:stretch>
                <a:fillRect l="0" t="-193" r="0" b="-19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19850" y="6934200"/>
            <a:ext cx="2571750" cy="2686050"/>
            <a:chOff x="0" y="0"/>
            <a:chExt cx="621258" cy="6488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7"/>
              <a:stretch>
                <a:fillRect l="0" t="-193" r="0" b="-19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7023101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Sales Pitch Deck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6886575" cy="1965960"/>
            <a:chOff x="0" y="0"/>
            <a:chExt cx="9182100" cy="26212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Problem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Clearly identifying the customer’s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pain points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enables effective solutions tailored to their needs and enhances engagement.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05025" y="6934200"/>
            <a:ext cx="6886575" cy="1965960"/>
            <a:chOff x="0" y="0"/>
            <a:chExt cx="9182100" cy="26212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Highlighting key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attributes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products or services effectively communicates their value and helps build trust with potential clients.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66750" y="421005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689610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666750"/>
            <a:ext cx="8324850" cy="2212340"/>
            <a:chOff x="0" y="0"/>
            <a:chExt cx="11099800" cy="29497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0"/>
              <a:ext cx="110998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Value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349500"/>
              <a:ext cx="110998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PROPOSITION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34675" y="666750"/>
            <a:ext cx="6886575" cy="8953500"/>
            <a:chOff x="0" y="0"/>
            <a:chExt cx="1066911" cy="13871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91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066911">
                  <a:moveTo>
                    <a:pt x="0" y="0"/>
                  </a:moveTo>
                  <a:lnTo>
                    <a:pt x="1066911" y="0"/>
                  </a:lnTo>
                  <a:lnTo>
                    <a:pt x="1066911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6962" y="5143500"/>
            <a:ext cx="6057900" cy="2295969"/>
            <a:chOff x="0" y="0"/>
            <a:chExt cx="8077200" cy="30612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Customer Satisfaction Rate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03587"/>
              <a:ext cx="80772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recent survey revealed that 85% of clients reported satisfaction with our sales pitch deck templates, highlighting their effectiveness in presentations.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66962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85%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2007" y="3004280"/>
            <a:ext cx="605790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60%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2007" y="5143500"/>
            <a:ext cx="6057900" cy="2295969"/>
            <a:chOff x="0" y="0"/>
            <a:chExt cx="8077200" cy="30612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80772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Conversion Rate Boost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03587"/>
              <a:ext cx="80772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Implementing our marketing presentation templates has resulted in a 60% increase in conversion rates for businesses, demonstrating their impact on sales success.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491145" y="4739052"/>
            <a:ext cx="4619625" cy="0"/>
          </a:xfrm>
          <a:prstGeom prst="line">
            <a:avLst/>
          </a:prstGeom>
          <a:ln cap="flat" w="19050">
            <a:solidFill>
              <a:srgbClr val="E0E7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238500" y="4739052"/>
            <a:ext cx="4619625" cy="0"/>
          </a:xfrm>
          <a:prstGeom prst="line">
            <a:avLst/>
          </a:prstGeom>
          <a:ln cap="flat" w="19050">
            <a:solidFill>
              <a:srgbClr val="E0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7023101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Digital Analytics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6886575" cy="1965960"/>
            <a:chOff x="0" y="0"/>
            <a:chExt cx="9182100" cy="26212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Traffic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Our digital marketing efforts have resulted in </a:t>
              </a:r>
              <a:r>
                <a:rPr lang="en-US" b="true" sz="2100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significant traffic growth</a:t>
              </a: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indicating a successful outreach strategy and effective content engagement.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05025" y="6934200"/>
            <a:ext cx="6886575" cy="1965960"/>
            <a:chOff x="0" y="0"/>
            <a:chExt cx="9182100" cy="26212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Engagement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Enhanced engagement metrics show increased user interaction, showcasing the effectiveness of tailored content and targeted marketing initiatives.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66750" y="421005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689610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A5B4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666750"/>
            <a:ext cx="8324850" cy="2212340"/>
            <a:chOff x="0" y="0"/>
            <a:chExt cx="11099800" cy="29497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0"/>
              <a:ext cx="110998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Summary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349500"/>
              <a:ext cx="110998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KEY METRICS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34675" y="666750"/>
            <a:ext cx="6886575" cy="8953500"/>
            <a:chOff x="0" y="0"/>
            <a:chExt cx="1066911" cy="13871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91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066911">
                  <a:moveTo>
                    <a:pt x="0" y="0"/>
                  </a:moveTo>
                  <a:lnTo>
                    <a:pt x="1066911" y="0"/>
                  </a:lnTo>
                  <a:lnTo>
                    <a:pt x="1066911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4550409"/>
            <a:chOff x="0" y="0"/>
            <a:chExt cx="18770600" cy="606721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019001"/>
              <a:ext cx="187706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999" spc="-59" strike="noStrike" u="none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Understanding Conversion Funnel and Budget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114163"/>
              <a:ext cx="18770600" cy="1953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Analyzing the </a:t>
              </a:r>
              <a:r>
                <a:rPr lang="en-US" b="true" sz="2799">
                  <a:solidFill>
                    <a:srgbClr val="D1D5DB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conversion funnel</a:t>
              </a:r>
              <a:r>
                <a:rPr lang="en-US" sz="2799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budget overview provides insights into campaign effectiveness, highlighting areas for improvement and ensuring efficient allocation of marketing resources.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3865032"/>
              <a:ext cx="187706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Campaign Performance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6934200"/>
            <a:ext cx="5448300" cy="2686050"/>
            <a:chOff x="0" y="0"/>
            <a:chExt cx="1199887" cy="591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9887" cy="591552"/>
            </a:xfrm>
            <a:custGeom>
              <a:avLst/>
              <a:gdLst/>
              <a:ahLst/>
              <a:cxnLst/>
              <a:rect r="r" b="b" t="t" l="l"/>
              <a:pathLst>
                <a:path h="591552" w="1199887">
                  <a:moveTo>
                    <a:pt x="0" y="0"/>
                  </a:moveTo>
                  <a:lnTo>
                    <a:pt x="1199887" y="0"/>
                  </a:lnTo>
                  <a:lnTo>
                    <a:pt x="1199887" y="591552"/>
                  </a:lnTo>
                  <a:lnTo>
                    <a:pt x="0" y="591552"/>
                  </a:ln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934200"/>
            <a:ext cx="5448300" cy="2686050"/>
            <a:chOff x="0" y="0"/>
            <a:chExt cx="1199887" cy="591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9887" cy="591552"/>
            </a:xfrm>
            <a:custGeom>
              <a:avLst/>
              <a:gdLst/>
              <a:ahLst/>
              <a:cxnLst/>
              <a:rect r="r" b="b" t="t" l="l"/>
              <a:pathLst>
                <a:path h="591552" w="1199887">
                  <a:moveTo>
                    <a:pt x="0" y="0"/>
                  </a:moveTo>
                  <a:lnTo>
                    <a:pt x="1199887" y="0"/>
                  </a:lnTo>
                  <a:lnTo>
                    <a:pt x="1199887" y="591552"/>
                  </a:lnTo>
                  <a:lnTo>
                    <a:pt x="0" y="591552"/>
                  </a:lnTo>
                  <a:close/>
                </a:path>
              </a:pathLst>
            </a:custGeom>
            <a:blipFill>
              <a:blip r:embed="rId3"/>
              <a:stretch>
                <a:fillRect l="-178" t="0" r="-17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19850" y="6934200"/>
            <a:ext cx="5448300" cy="2686050"/>
            <a:chOff x="0" y="0"/>
            <a:chExt cx="1199887" cy="5915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9887" cy="591552"/>
            </a:xfrm>
            <a:custGeom>
              <a:avLst/>
              <a:gdLst/>
              <a:ahLst/>
              <a:cxnLst/>
              <a:rect r="r" b="b" t="t" l="l"/>
              <a:pathLst>
                <a:path h="591552" w="1199887">
                  <a:moveTo>
                    <a:pt x="0" y="0"/>
                  </a:moveTo>
                  <a:lnTo>
                    <a:pt x="1199887" y="0"/>
                  </a:lnTo>
                  <a:lnTo>
                    <a:pt x="1199887" y="591552"/>
                  </a:lnTo>
                  <a:lnTo>
                    <a:pt x="0" y="591552"/>
                  </a:lnTo>
                  <a:close/>
                </a:path>
              </a:pathLst>
            </a:custGeom>
            <a:blipFill>
              <a:blip r:embed="rId4"/>
              <a:stretch>
                <a:fillRect l="-178" t="0" r="-17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8289926"/>
            <a:ext cx="6886575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 strike="noStrike" u="none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Sales Team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28675"/>
            <a:ext cx="14077950" cy="237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24"/>
              </a:lnSpc>
              <a:spcBef>
                <a:spcPct val="0"/>
              </a:spcBef>
            </a:pPr>
            <a:r>
              <a:rPr lang="en-US" sz="9124" spc="-182">
                <a:solidFill>
                  <a:srgbClr val="E0E7FF"/>
                </a:solidFill>
                <a:latin typeface="TT Ramillas"/>
                <a:ea typeface="TT Ramillas"/>
                <a:cs typeface="TT Ramillas"/>
                <a:sym typeface="TT Ramillas"/>
              </a:rPr>
              <a:t>Enhancing Sales Training through Effective Strategies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25900" y="777240"/>
            <a:ext cx="895350" cy="895350"/>
            <a:chOff x="0" y="0"/>
            <a:chExt cx="1193800" cy="119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74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43300" y="3851275"/>
            <a:ext cx="2571750" cy="1710832"/>
            <a:chOff x="0" y="0"/>
            <a:chExt cx="3429000" cy="228110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47625"/>
              <a:ext cx="3429000" cy="440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7"/>
                </a:lnSpc>
              </a:pPr>
              <a:r>
                <a:rPr lang="en-US" sz="2407" spc="-48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Process Flow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56275"/>
              <a:ext cx="3429000" cy="1224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3"/>
                </a:lnSpc>
                <a:spcBef>
                  <a:spcPct val="0"/>
                </a:spcBef>
              </a:pPr>
              <a:r>
                <a:rPr lang="en-US" sz="1802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Visualizing sales steps enhances clarity and focus.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786400"/>
              <a:ext cx="34290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43300" y="6934200"/>
            <a:ext cx="2571750" cy="1710832"/>
            <a:chOff x="0" y="0"/>
            <a:chExt cx="3429000" cy="228110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7625"/>
              <a:ext cx="3429000" cy="440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7"/>
                </a:lnSpc>
              </a:pPr>
              <a:r>
                <a:rPr lang="en-US" sz="2407" spc="-48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Engaging Training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56275"/>
              <a:ext cx="3429000" cy="1224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3"/>
                </a:lnSpc>
                <a:spcBef>
                  <a:spcPct val="0"/>
                </a:spcBef>
              </a:pPr>
              <a:r>
                <a:rPr lang="en-US" sz="1802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Interactive sessions foster team collaboration and learning.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786400"/>
              <a:ext cx="3429000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96400" y="3851275"/>
            <a:ext cx="2571750" cy="2015632"/>
            <a:chOff x="0" y="0"/>
            <a:chExt cx="3429000" cy="268750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3429000" cy="846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7"/>
                </a:lnSpc>
              </a:pPr>
              <a:r>
                <a:rPr lang="en-US" sz="2407" spc="-48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Competitive Comparison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462675"/>
              <a:ext cx="3429000" cy="1224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3"/>
                </a:lnSpc>
                <a:spcBef>
                  <a:spcPct val="0"/>
                </a:spcBef>
              </a:pPr>
              <a:r>
                <a:rPr lang="en-US" sz="1802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Highlighting differences aids informed decision-making.</a:t>
              </a:r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313" y="1192800"/>
              <a:ext cx="3420687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96400" y="6934200"/>
            <a:ext cx="2571750" cy="1710832"/>
            <a:chOff x="0" y="0"/>
            <a:chExt cx="3429000" cy="228110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47625"/>
              <a:ext cx="3429000" cy="440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7"/>
                </a:lnSpc>
              </a:pPr>
              <a:r>
                <a:rPr lang="en-US" sz="2407" spc="-48">
                  <a:solidFill>
                    <a:srgbClr val="A5B4FC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Results Orientation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313" y="1056275"/>
              <a:ext cx="3420687" cy="1224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3"/>
                </a:lnSpc>
                <a:spcBef>
                  <a:spcPct val="0"/>
                </a:spcBef>
              </a:pPr>
              <a:r>
                <a:rPr lang="en-US" sz="1802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Focusing on outcomes drives motivation and performance.</a:t>
              </a:r>
            </a:p>
          </p:txBody>
        </p:sp>
        <p:sp>
          <p:nvSpPr>
            <p:cNvPr name="AutoShape 23" id="23"/>
            <p:cNvSpPr/>
            <p:nvPr/>
          </p:nvSpPr>
          <p:spPr>
            <a:xfrm>
              <a:off x="8313" y="786400"/>
              <a:ext cx="3420687" cy="0"/>
            </a:xfrm>
            <a:prstGeom prst="line">
              <a:avLst/>
            </a:prstGeom>
            <a:ln cap="flat" w="25400">
              <a:solidFill>
                <a:srgbClr val="E0E7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19850" y="3851275"/>
            <a:ext cx="2571750" cy="2686050"/>
            <a:chOff x="0" y="0"/>
            <a:chExt cx="621258" cy="648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4"/>
              <a:stretch>
                <a:fillRect l="0" t="-193" r="0" b="-19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6750" y="3851275"/>
            <a:ext cx="2571750" cy="2686050"/>
            <a:chOff x="0" y="0"/>
            <a:chExt cx="621258" cy="6488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5"/>
              <a:stretch>
                <a:fillRect l="0" t="-193" r="0" b="-19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66750" y="6934200"/>
            <a:ext cx="2571750" cy="2686050"/>
            <a:chOff x="0" y="0"/>
            <a:chExt cx="621258" cy="6488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6"/>
              <a:stretch>
                <a:fillRect l="0" t="-193" r="0" b="-19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19850" y="6934200"/>
            <a:ext cx="2571750" cy="2686050"/>
            <a:chOff x="0" y="0"/>
            <a:chExt cx="621258" cy="6488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258" cy="648869"/>
            </a:xfrm>
            <a:custGeom>
              <a:avLst/>
              <a:gdLst/>
              <a:ahLst/>
              <a:cxnLst/>
              <a:rect r="r" b="b" t="t" l="l"/>
              <a:pathLst>
                <a:path h="6488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648869"/>
                  </a:lnTo>
                  <a:lnTo>
                    <a:pt x="0" y="648869"/>
                  </a:lnTo>
                  <a:close/>
                </a:path>
              </a:pathLst>
            </a:custGeom>
            <a:blipFill>
              <a:blip r:embed="rId7"/>
              <a:stretch>
                <a:fillRect l="0" t="-193" r="0" b="-19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393" y="7281545"/>
            <a:ext cx="9732482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D1D5D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 maximize the impact of marketing and sales templates, focus on </a:t>
            </a:r>
            <a:r>
              <a:rPr lang="en-US" b="true" sz="2799">
                <a:solidFill>
                  <a:srgbClr val="D1D5D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customization</a:t>
            </a:r>
            <a:r>
              <a:rPr lang="en-US" sz="2799">
                <a:solidFill>
                  <a:srgbClr val="D1D5D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brand alignment while ensuring clarity and engagement for your audience during presentations.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Conclusion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A5B4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ENHANCING YOUR MARKETING PRESENTATIONS EFFECTIVELY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212340"/>
            <a:chOff x="0" y="0"/>
            <a:chExt cx="226060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226060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E0E7FF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Customizing Templates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226060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D1D5D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PRACTICAL TIPS FOR YOUR BRANDING NEEDS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Presentations</dc:description>
  <dc:identifier>DAG13nKF8-A</dc:identifier>
  <dcterms:modified xsi:type="dcterms:W3CDTF">2011-08-01T06:04:30Z</dcterms:modified>
  <cp:revision>1</cp:revision>
  <dc:title>Presentation - Presentations</dc:title>
</cp:coreProperties>
</file>