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ilda Display" panose="020B0604020202020204" charset="0"/>
      <p:regular r:id="rId13"/>
    </p:embeddedFont>
    <p:embeddedFont>
      <p:font typeface="HK Grotesk" panose="020B0604020202020204" charset="0"/>
      <p:regular r:id="rId14"/>
    </p:embeddedFont>
    <p:embeddedFont>
      <p:font typeface="HK Grotesk Bold" panose="020B0604020202020204" charset="0"/>
      <p:regular r:id="rId15"/>
    </p:embeddedFont>
    <p:embeddedFont>
      <p:font typeface="HK Grotesk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734675" y="680185"/>
            <a:ext cx="6886575" cy="4972652"/>
            <a:chOff x="0" y="0"/>
            <a:chExt cx="9182100" cy="6630203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2993"/>
              <a:ext cx="9182100" cy="314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23"/>
                </a:lnSpc>
              </a:pPr>
              <a:r>
                <a:rPr lang="en-US" sz="6023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Management: Driving Success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192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Project Management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15 Oct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Benefits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value of project management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602831"/>
            <a:chOff x="0" y="0"/>
            <a:chExt cx="7264400" cy="480377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Improved Efficiency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65225"/>
              <a:ext cx="7264400" cy="363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Project management streamlines processes, leading to </a:t>
              </a:r>
              <a:r>
                <a:rPr lang="en-US" sz="2812" b="1" u="none" strike="noStrike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quicker completion</a:t>
              </a: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of tasks and projects. This results in optimal resource utilization and better alignment with business objectives.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4060031"/>
            <a:chOff x="0" y="0"/>
            <a:chExt cx="7264400" cy="54133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 Mitigation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Effective project management identifies potential risks early, allowing teams to develop strategies to </a:t>
              </a:r>
              <a:r>
                <a:rPr lang="en-US" sz="2812" b="1" u="none" strike="noStrike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minimize their impact</a:t>
              </a: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. This proactive approach ensures smoother project execution and fewer disruptions.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4060031"/>
            <a:chOff x="0" y="0"/>
            <a:chExt cx="7264400" cy="54133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Stakeholder Alignment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Strong project management fosters </a:t>
              </a:r>
              <a:r>
                <a:rPr lang="en-US" sz="2812" b="1" u="none" strike="noStrike">
                  <a:solidFill>
                    <a:srgbClr val="A5B4FC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clear communication</a:t>
              </a:r>
              <a:r>
                <a:rPr lang="en-US" sz="2812" u="none" strike="noStrike">
                  <a:solidFill>
                    <a:srgbClr val="A5B4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among stakeholders. Regular updates and feedback loops ensure everyone is on the same page, enhancing collaboration and overall project success.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</a:t>
              </a: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project kickoff meeting</a:t>
              </a: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sets the foundation for success, aligning stakeholders and clarifying objectives to ensure a unified vision.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Initiation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813290">
            <a:off x="-7998005" y="514445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38500" y="4248150"/>
            <a:ext cx="3181350" cy="2686050"/>
            <a:chOff x="0" y="0"/>
            <a:chExt cx="721712" cy="609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53325" y="4248150"/>
            <a:ext cx="3181350" cy="2686050"/>
            <a:chOff x="0" y="0"/>
            <a:chExt cx="721712" cy="609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5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1868150" y="4248150"/>
            <a:ext cx="3181350" cy="2686050"/>
            <a:chOff x="0" y="0"/>
            <a:chExt cx="721712" cy="6093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6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666750" y="809625"/>
            <a:ext cx="12639675" cy="201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6"/>
              </a:lnSpc>
            </a:pPr>
            <a:r>
              <a:rPr lang="en-US" sz="7736">
                <a:solidFill>
                  <a:srgbClr val="1F2937"/>
                </a:solidFill>
                <a:latin typeface="Gilda Display"/>
                <a:ea typeface="Gilda Display"/>
                <a:cs typeface="Gilda Display"/>
                <a:sym typeface="Gilda Display"/>
              </a:rPr>
              <a:t>Common Project Management Methodologies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238500" y="7829550"/>
            <a:ext cx="3181350" cy="1143060"/>
            <a:chOff x="0" y="0"/>
            <a:chExt cx="4241800" cy="152408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Waterfall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72414"/>
              <a:ext cx="4241800" cy="751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sequential process with defined stages of completion.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53325" y="7829550"/>
            <a:ext cx="3181350" cy="1143060"/>
            <a:chOff x="0" y="0"/>
            <a:chExt cx="4241800" cy="152408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Agile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72414"/>
              <a:ext cx="4241800" cy="751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 iterative approach focusing on flexibility and customer feedback.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68150" y="7820372"/>
            <a:ext cx="3181350" cy="1437988"/>
            <a:chOff x="0" y="0"/>
            <a:chExt cx="4241800" cy="191731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Scrum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84651"/>
              <a:ext cx="4241800" cy="1132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framework emphasizing teamwork and accountability in sprints.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813290">
            <a:off x="-7998005" y="514445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238500" y="4248150"/>
            <a:ext cx="3181350" cy="2686050"/>
            <a:chOff x="0" y="0"/>
            <a:chExt cx="721712" cy="6093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4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7553325" y="4248150"/>
            <a:ext cx="3181350" cy="2686050"/>
            <a:chOff x="0" y="0"/>
            <a:chExt cx="721712" cy="609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5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1868150" y="4248150"/>
            <a:ext cx="3181350" cy="2686050"/>
            <a:chOff x="0" y="0"/>
            <a:chExt cx="721712" cy="6093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21712" cy="609349"/>
            </a:xfrm>
            <a:custGeom>
              <a:avLst/>
              <a:gdLst/>
              <a:ahLst/>
              <a:cxnLst/>
              <a:rect l="l" t="t" r="r" b="b"/>
              <a:pathLst>
                <a:path w="721712" h="609349">
                  <a:moveTo>
                    <a:pt x="97341" y="0"/>
                  </a:moveTo>
                  <a:lnTo>
                    <a:pt x="624371" y="0"/>
                  </a:lnTo>
                  <a:cubicBezTo>
                    <a:pt x="650187" y="0"/>
                    <a:pt x="674946" y="10256"/>
                    <a:pt x="693201" y="28511"/>
                  </a:cubicBezTo>
                  <a:cubicBezTo>
                    <a:pt x="711456" y="46766"/>
                    <a:pt x="721712" y="71525"/>
                    <a:pt x="721712" y="97341"/>
                  </a:cubicBezTo>
                  <a:lnTo>
                    <a:pt x="721712" y="512008"/>
                  </a:lnTo>
                  <a:cubicBezTo>
                    <a:pt x="721712" y="565768"/>
                    <a:pt x="678131" y="609349"/>
                    <a:pt x="624371" y="609349"/>
                  </a:cubicBezTo>
                  <a:lnTo>
                    <a:pt x="97341" y="609349"/>
                  </a:lnTo>
                  <a:cubicBezTo>
                    <a:pt x="43581" y="609349"/>
                    <a:pt x="0" y="565768"/>
                    <a:pt x="0" y="512008"/>
                  </a:cubicBezTo>
                  <a:lnTo>
                    <a:pt x="0" y="97341"/>
                  </a:lnTo>
                  <a:cubicBezTo>
                    <a:pt x="0" y="43581"/>
                    <a:pt x="43581" y="0"/>
                    <a:pt x="97341" y="0"/>
                  </a:cubicBezTo>
                  <a:close/>
                </a:path>
              </a:pathLst>
            </a:custGeom>
            <a:blipFill>
              <a:blip r:embed="rId6"/>
              <a:stretch>
                <a:fillRect l="-256" r="-256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666750" y="800100"/>
            <a:ext cx="12639675" cy="210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29"/>
              </a:lnSpc>
            </a:pPr>
            <a:r>
              <a:rPr lang="en-US" sz="8029">
                <a:solidFill>
                  <a:srgbClr val="1F2937"/>
                </a:solidFill>
                <a:latin typeface="Gilda Display"/>
                <a:ea typeface="Gilda Display"/>
                <a:cs typeface="Gilda Display"/>
                <a:sym typeface="Gilda Display"/>
              </a:rPr>
              <a:t>Essential Tools for Effective Project Management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238500" y="7829550"/>
            <a:ext cx="3181350" cy="1143060"/>
            <a:chOff x="0" y="0"/>
            <a:chExt cx="4241800" cy="152408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Gantt Charts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72414"/>
              <a:ext cx="4241800" cy="751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Essential for visualizing project timelines and tasks.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53325" y="7829550"/>
            <a:ext cx="3181350" cy="1428810"/>
            <a:chOff x="0" y="0"/>
            <a:chExt cx="4241800" cy="190508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Project Charters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72414"/>
              <a:ext cx="4241800" cy="1132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Define project goals and stakeholder responsibilities clearly.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68150" y="7820372"/>
            <a:ext cx="3181350" cy="1152238"/>
            <a:chOff x="0" y="0"/>
            <a:chExt cx="4241800" cy="1536317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4241082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Risk Registers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84651"/>
              <a:ext cx="4241800" cy="751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55"/>
                </a:lnSpc>
              </a:pPr>
              <a:r>
                <a:rPr lang="en-US" sz="1735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Track and manage potential project risks effectively.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illustration presents a clear visualization of project workflows, showcasing the essential phases for effective project management.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Workflow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Effective dashboards provide real-time visibility into project status, enabling teams to monitor progress and make informed decisions quickly.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Tracking Project Progress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Effective tracking of </a:t>
              </a: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performance indicators</a:t>
              </a: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(KPIs) ensures project goals are met on time and within budget.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KPIs and Milestones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019424"/>
            <a:chOff x="0" y="0"/>
            <a:chExt cx="11099800" cy="4025899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Project management software enhances </a:t>
              </a:r>
              <a:r>
                <a:rPr lang="en-US" sz="3000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team collaboration</a:t>
              </a: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streamlines tracking, ensuring projects stay on schedule and within budget.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Digital Tools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514724"/>
            <a:chOff x="0" y="0"/>
            <a:chExt cx="11099800" cy="4686299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Structured project management is vital for achieving objectives, enhancing efficiency, and fostering collaboration among teams and stakeholders.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F293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Takeaways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29444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F2937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Contact Information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2457450"/>
            <a:ext cx="8324850" cy="4375123"/>
            <a:chOff x="0" y="0"/>
            <a:chExt cx="11099800" cy="5833497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Phone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0633"/>
              <a:ext cx="110998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123-456-7890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378039"/>
              <a:ext cx="11099800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 u="none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Email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793964"/>
              <a:ext cx="110998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>
                  <a:solidFill>
                    <a:srgbClr val="1F293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hello@reallygreatsite.com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765639"/>
              <a:ext cx="11099800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>
                  <a:solidFill>
                    <a:srgbClr val="1F293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Social Media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185797"/>
              <a:ext cx="110998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F293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@reallygreatsite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HK Grotesk Bold</vt:lpstr>
      <vt:lpstr>Gilda Display</vt:lpstr>
      <vt:lpstr>HK Grotesk</vt:lpstr>
      <vt:lpstr>HK Grotesk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Project Management: Driving Success</dc:title>
  <dc:creator>PADMANAVA</dc:creator>
  <dc:description>Presentation - Project Management: Driving Success</dc:description>
  <cp:lastModifiedBy>mojumderpadmanava@gmail.com</cp:lastModifiedBy>
  <cp:revision>1</cp:revision>
  <dcterms:created xsi:type="dcterms:W3CDTF">2006-08-16T00:00:00Z</dcterms:created>
  <dcterms:modified xsi:type="dcterms:W3CDTF">2025-10-18T06:27:36Z</dcterms:modified>
  <dc:identifier>DAG137fbc1w</dc:identifier>
</cp:coreProperties>
</file>