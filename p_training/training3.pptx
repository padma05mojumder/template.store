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8288000" cy="10287000"/>
  <p:notesSz cx="6858000" cy="9144000"/>
  <p:embeddedFontLst>
    <p:embeddedFont>
      <p:font typeface="ITC Motter Corpus Semicondensed" panose="020B0604020202020204" charset="0"/>
      <p:regular r:id="rId15"/>
    </p:embeddedFont>
    <p:embeddedFont>
      <p:font typeface="Rubik" panose="020B0604020202020204" charset="-79"/>
      <p:regular r:id="rId16"/>
    </p:embeddedFont>
    <p:embeddedFont>
      <p:font typeface="Rubik Bold" panose="020B0604020202020204" charset="-79"/>
      <p:regular r:id="rId17"/>
    </p:embeddedFont>
    <p:embeddedFont>
      <p:font typeface="Rubik Italics" panose="020B0604020202020204" charset="-79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666750"/>
            <a:ext cx="8324850" cy="6587588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7559138"/>
            <a:ext cx="5448300" cy="2061112"/>
            <a:chOff x="0" y="0"/>
            <a:chExt cx="1434943" cy="542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542844"/>
            </a:xfrm>
            <a:custGeom>
              <a:avLst/>
              <a:gdLst/>
              <a:ahLst/>
              <a:cxnLst/>
              <a:rect l="l" t="t" r="r" b="b"/>
              <a:pathLst>
                <a:path w="1434943" h="54284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296400" y="666750"/>
            <a:ext cx="8324850" cy="8953500"/>
            <a:chOff x="0" y="0"/>
            <a:chExt cx="1066627" cy="114717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  <p:grpSp>
        <p:nvGrpSpPr>
          <p:cNvPr id="10" name="Group 10"/>
          <p:cNvGrpSpPr/>
          <p:nvPr/>
        </p:nvGrpSpPr>
        <p:grpSpPr>
          <a:xfrm>
            <a:off x="6419850" y="7559138"/>
            <a:ext cx="2571750" cy="2061112"/>
            <a:chOff x="0" y="0"/>
            <a:chExt cx="677333" cy="54284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7333" cy="542844"/>
            </a:xfrm>
            <a:custGeom>
              <a:avLst/>
              <a:gdLst/>
              <a:ahLst/>
              <a:cxnLst/>
              <a:rect l="l" t="t" r="r" b="b"/>
              <a:pathLst>
                <a:path w="677333" h="542844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D9E2F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7248914" y="8142019"/>
            <a:ext cx="913622" cy="895350"/>
            <a:chOff x="0" y="0"/>
            <a:chExt cx="635000" cy="622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5747" y="1187741"/>
            <a:ext cx="6916790" cy="353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800"/>
              </a:lnSpc>
            </a:pPr>
            <a:r>
              <a:rPr lang="en-US" sz="8000">
                <a:solidFill>
                  <a:srgbClr val="526BAD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Training &amp; Development Templates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47" y="8143924"/>
            <a:ext cx="4353750" cy="834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359"/>
              </a:lnSpc>
            </a:pPr>
            <a:r>
              <a:rPr lang="en-US" sz="2399">
                <a:solidFill>
                  <a:srgbClr val="2B3A67"/>
                </a:solidFill>
                <a:latin typeface="Rubik"/>
                <a:ea typeface="Rubik"/>
                <a:cs typeface="Rubik"/>
                <a:sym typeface="Rubik"/>
              </a:rPr>
              <a:t>Presented by [Your Name Here], Training Specialist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506200" y="0"/>
            <a:ext cx="6781800" cy="10287000"/>
            <a:chOff x="0" y="0"/>
            <a:chExt cx="1786153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86153" cy="2709333"/>
            </a:xfrm>
            <a:custGeom>
              <a:avLst/>
              <a:gdLst/>
              <a:ahLst/>
              <a:cxnLst/>
              <a:rect l="l" t="t" r="r" b="b"/>
              <a:pathLst>
                <a:path w="1786153" h="2709333">
                  <a:moveTo>
                    <a:pt x="0" y="0"/>
                  </a:moveTo>
                  <a:lnTo>
                    <a:pt x="1786153" y="0"/>
                  </a:lnTo>
                  <a:lnTo>
                    <a:pt x="178615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78615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172950" y="666750"/>
            <a:ext cx="5448300" cy="8953500"/>
            <a:chOff x="0" y="0"/>
            <a:chExt cx="1406084" cy="2310698"/>
          </a:xfrm>
        </p:grpSpPr>
        <p:sp>
          <p:nvSpPr>
            <p:cNvPr id="6" name="Freeform 6"/>
            <p:cNvSpPr/>
            <p:nvPr/>
          </p:nvSpPr>
          <p:spPr>
            <a:xfrm>
              <a:off x="0" y="-1"/>
              <a:ext cx="1406084" cy="2310699"/>
            </a:xfrm>
            <a:custGeom>
              <a:avLst/>
              <a:gdLst/>
              <a:ahLst/>
              <a:cxnLst/>
              <a:rect l="l" t="t" r="r" b="b"/>
              <a:pathLst>
                <a:path w="1406084" h="2310699">
                  <a:moveTo>
                    <a:pt x="974733" y="348725"/>
                  </a:moveTo>
                  <a:lnTo>
                    <a:pt x="974733" y="310036"/>
                  </a:lnTo>
                  <a:cubicBezTo>
                    <a:pt x="974733" y="286047"/>
                    <a:pt x="965203" y="263041"/>
                    <a:pt x="948241" y="246079"/>
                  </a:cubicBezTo>
                  <a:cubicBezTo>
                    <a:pt x="931278" y="229117"/>
                    <a:pt x="908272" y="219587"/>
                    <a:pt x="884283" y="219588"/>
                  </a:cubicBezTo>
                  <a:lnTo>
                    <a:pt x="660890" y="219588"/>
                  </a:lnTo>
                  <a:cubicBezTo>
                    <a:pt x="610936" y="219588"/>
                    <a:pt x="570441" y="179092"/>
                    <a:pt x="570441" y="129138"/>
                  </a:cubicBezTo>
                  <a:lnTo>
                    <a:pt x="570441" y="90449"/>
                  </a:lnTo>
                  <a:cubicBezTo>
                    <a:pt x="570441" y="66460"/>
                    <a:pt x="560911" y="43454"/>
                    <a:pt x="543948" y="26491"/>
                  </a:cubicBezTo>
                  <a:cubicBezTo>
                    <a:pt x="526985" y="9529"/>
                    <a:pt x="503978" y="0"/>
                    <a:pt x="479989" y="1"/>
                  </a:cubicBezTo>
                  <a:lnTo>
                    <a:pt x="90448" y="1"/>
                  </a:lnTo>
                  <a:cubicBezTo>
                    <a:pt x="40495" y="1"/>
                    <a:pt x="0" y="40496"/>
                    <a:pt x="0" y="90449"/>
                  </a:cubicBezTo>
                  <a:lnTo>
                    <a:pt x="0" y="2220251"/>
                  </a:lnTo>
                  <a:cubicBezTo>
                    <a:pt x="0" y="2270204"/>
                    <a:pt x="40495" y="2310699"/>
                    <a:pt x="90448" y="2310699"/>
                  </a:cubicBezTo>
                  <a:lnTo>
                    <a:pt x="1315636" y="2310699"/>
                  </a:lnTo>
                  <a:cubicBezTo>
                    <a:pt x="1365589" y="2310699"/>
                    <a:pt x="1406084" y="2270204"/>
                    <a:pt x="1406084" y="2220251"/>
                  </a:cubicBezTo>
                  <a:lnTo>
                    <a:pt x="1406084" y="529621"/>
                  </a:lnTo>
                  <a:cubicBezTo>
                    <a:pt x="1406084" y="479668"/>
                    <a:pt x="1365589" y="439173"/>
                    <a:pt x="1315636" y="439173"/>
                  </a:cubicBezTo>
                  <a:lnTo>
                    <a:pt x="1065181" y="439173"/>
                  </a:lnTo>
                  <a:cubicBezTo>
                    <a:pt x="1015228" y="439173"/>
                    <a:pt x="974733" y="398678"/>
                    <a:pt x="974733" y="348725"/>
                  </a:cubicBezTo>
                  <a:close/>
                </a:path>
              </a:pathLst>
            </a:custGeom>
            <a:blipFill>
              <a:blip r:embed="rId2"/>
              <a:stretch>
                <a:fillRect t="-290" b="-290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4600392" y="666750"/>
            <a:ext cx="1371371" cy="653784"/>
            <a:chOff x="0" y="0"/>
            <a:chExt cx="361184" cy="17219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361184" cy="172190"/>
            </a:xfrm>
            <a:custGeom>
              <a:avLst/>
              <a:gdLst/>
              <a:ahLst/>
              <a:cxnLst/>
              <a:rect l="l" t="t" r="r" b="b"/>
              <a:pathLst>
                <a:path w="361184" h="172190">
                  <a:moveTo>
                    <a:pt x="86095" y="0"/>
                  </a:moveTo>
                  <a:lnTo>
                    <a:pt x="275089" y="0"/>
                  </a:lnTo>
                  <a:cubicBezTo>
                    <a:pt x="322638" y="0"/>
                    <a:pt x="361184" y="38546"/>
                    <a:pt x="361184" y="86095"/>
                  </a:cubicBezTo>
                  <a:lnTo>
                    <a:pt x="361184" y="86095"/>
                  </a:lnTo>
                  <a:cubicBezTo>
                    <a:pt x="361184" y="108929"/>
                    <a:pt x="352113" y="130828"/>
                    <a:pt x="335967" y="146973"/>
                  </a:cubicBezTo>
                  <a:cubicBezTo>
                    <a:pt x="319821" y="163119"/>
                    <a:pt x="297923" y="172190"/>
                    <a:pt x="275089" y="172190"/>
                  </a:cubicBezTo>
                  <a:lnTo>
                    <a:pt x="86095" y="172190"/>
                  </a:lnTo>
                  <a:cubicBezTo>
                    <a:pt x="38546" y="172190"/>
                    <a:pt x="0" y="133644"/>
                    <a:pt x="0" y="86095"/>
                  </a:cubicBezTo>
                  <a:lnTo>
                    <a:pt x="0" y="86095"/>
                  </a:lnTo>
                  <a:cubicBezTo>
                    <a:pt x="0" y="38546"/>
                    <a:pt x="38546" y="0"/>
                    <a:pt x="86095" y="0"/>
                  </a:cubicBezTo>
                  <a:close/>
                </a:path>
              </a:pathLst>
            </a:custGeom>
            <a:solidFill>
              <a:srgbClr val="2B3A67"/>
            </a:solidFill>
            <a:ln cap="rnd">
              <a:noFill/>
              <a:prstDash val="solid"/>
              <a:round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361184" cy="2198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6182975" y="666750"/>
            <a:ext cx="1438275" cy="1487929"/>
            <a:chOff x="0" y="0"/>
            <a:chExt cx="378805" cy="39188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8805" cy="391882"/>
            </a:xfrm>
            <a:custGeom>
              <a:avLst/>
              <a:gdLst/>
              <a:ahLst/>
              <a:cxnLst/>
              <a:rect l="l" t="t" r="r" b="b"/>
              <a:pathLst>
                <a:path w="378805" h="391882">
                  <a:moveTo>
                    <a:pt x="123804" y="0"/>
                  </a:moveTo>
                  <a:lnTo>
                    <a:pt x="255001" y="0"/>
                  </a:lnTo>
                  <a:cubicBezTo>
                    <a:pt x="323376" y="0"/>
                    <a:pt x="378805" y="55429"/>
                    <a:pt x="378805" y="123804"/>
                  </a:cubicBezTo>
                  <a:lnTo>
                    <a:pt x="378805" y="268078"/>
                  </a:lnTo>
                  <a:cubicBezTo>
                    <a:pt x="378805" y="336453"/>
                    <a:pt x="323376" y="391882"/>
                    <a:pt x="255001" y="391882"/>
                  </a:cubicBezTo>
                  <a:lnTo>
                    <a:pt x="123804" y="391882"/>
                  </a:lnTo>
                  <a:cubicBezTo>
                    <a:pt x="90969" y="391882"/>
                    <a:pt x="59479" y="378839"/>
                    <a:pt x="36261" y="355621"/>
                  </a:cubicBezTo>
                  <a:cubicBezTo>
                    <a:pt x="13044" y="332403"/>
                    <a:pt x="0" y="300913"/>
                    <a:pt x="0" y="268078"/>
                  </a:cubicBezTo>
                  <a:lnTo>
                    <a:pt x="0" y="123804"/>
                  </a:lnTo>
                  <a:cubicBezTo>
                    <a:pt x="0" y="90969"/>
                    <a:pt x="13044" y="59479"/>
                    <a:pt x="36261" y="36261"/>
                  </a:cubicBezTo>
                  <a:cubicBezTo>
                    <a:pt x="59479" y="13044"/>
                    <a:pt x="90969" y="0"/>
                    <a:pt x="123804" y="0"/>
                  </a:cubicBezTo>
                  <a:close/>
                </a:path>
              </a:pathLst>
            </a:custGeom>
            <a:solidFill>
              <a:srgbClr val="2B3A67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378805" cy="4395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2977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 rot="-10800000">
            <a:off x="16535010" y="993642"/>
            <a:ext cx="734205" cy="719521"/>
            <a:chOff x="0" y="0"/>
            <a:chExt cx="635000" cy="6223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146050" y="92075"/>
              <a:ext cx="342900" cy="3905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77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666750" y="533400"/>
            <a:ext cx="97631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526BAD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Introduction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666750" y="2497356"/>
            <a:ext cx="8324850" cy="969731"/>
            <a:chOff x="0" y="0"/>
            <a:chExt cx="11099800" cy="1292974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To provide versatile, professional templates for training.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</a:pPr>
              <a:r>
                <a:rPr lang="en-US" sz="237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GOAL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66750" y="6088267"/>
            <a:ext cx="8324850" cy="969731"/>
            <a:chOff x="0" y="0"/>
            <a:chExt cx="11099800" cy="1292974"/>
          </a:xfrm>
        </p:grpSpPr>
        <p:sp>
          <p:nvSpPr>
            <p:cNvPr id="21" name="TextBox 21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Designed for clarity, visualization, and audience engagement.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  <a:spcBef>
                  <a:spcPct val="0"/>
                </a:spcBef>
              </a:pPr>
              <a:r>
                <a:rPr lang="en-US" sz="237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AUDIENCE FOCUS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4288056"/>
            <a:ext cx="8324850" cy="969731"/>
            <a:chOff x="0" y="0"/>
            <a:chExt cx="11099800" cy="1292974"/>
          </a:xfrm>
        </p:grpSpPr>
        <p:sp>
          <p:nvSpPr>
            <p:cNvPr id="24" name="TextBox 24"/>
            <p:cNvSpPr txBox="1"/>
            <p:nvPr/>
          </p:nvSpPr>
          <p:spPr>
            <a:xfrm>
              <a:off x="0" y="822071"/>
              <a:ext cx="11099800" cy="47090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77"/>
                </a:lnSpc>
              </a:pPr>
              <a:r>
                <a:rPr lang="en-US" sz="2126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Modular style allows for flexible infographic components.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0" y="-57150"/>
              <a:ext cx="11099800" cy="53568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18"/>
                </a:lnSpc>
                <a:spcBef>
                  <a:spcPct val="0"/>
                </a:spcBef>
              </a:pPr>
              <a:r>
                <a:rPr lang="en-US" sz="237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DEFINITION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26B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4F6F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2639675" cy="1405890"/>
            <a:chOff x="0" y="0"/>
            <a:chExt cx="16852900" cy="1874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526BAD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Skill Development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2B3A6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Visualizing Learning Paths and Progress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5143500"/>
            <a:ext cx="5448300" cy="2686050"/>
            <a:chOff x="0" y="0"/>
            <a:chExt cx="7264400" cy="35814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11530"/>
              <a:ext cx="7264400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2B3A6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Clear milestones</a:t>
              </a: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 in the skill development roadmap provide essential markers that guide learners through various stages, ensuring they can track their progress effectively.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MILESTONES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3500"/>
            <a:ext cx="5448300" cy="3105150"/>
            <a:chOff x="0" y="0"/>
            <a:chExt cx="7264400" cy="41402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0"/>
              <a:ext cx="72644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Utilizing progress indicators allows trainers to visually demonstrate how learners advance through training modules, fostering motivation and engagement throughout the learning experience.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PROGRESS INDICATORS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6750" y="533400"/>
            <a:ext cx="14077950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</a:pPr>
            <a:r>
              <a:rPr lang="en-US" sz="6600">
                <a:solidFill>
                  <a:srgbClr val="526BAD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Skill Development Roadmap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666750" y="2215603"/>
            <a:ext cx="16954500" cy="7404647"/>
            <a:chOff x="0" y="0"/>
            <a:chExt cx="2626696" cy="1147174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626696" cy="1147174"/>
            </a:xfrm>
            <a:custGeom>
              <a:avLst/>
              <a:gdLst/>
              <a:ahLst/>
              <a:cxnLst/>
              <a:rect l="l" t="t" r="r" b="b"/>
              <a:pathLst>
                <a:path w="2626696" h="1147174">
                  <a:moveTo>
                    <a:pt x="31964" y="0"/>
                  </a:moveTo>
                  <a:lnTo>
                    <a:pt x="2594732" y="0"/>
                  </a:lnTo>
                  <a:cubicBezTo>
                    <a:pt x="2612385" y="0"/>
                    <a:pt x="2626696" y="14311"/>
                    <a:pt x="2626696" y="31964"/>
                  </a:cubicBezTo>
                  <a:lnTo>
                    <a:pt x="2626696" y="1115210"/>
                  </a:lnTo>
                  <a:cubicBezTo>
                    <a:pt x="2626696" y="1123687"/>
                    <a:pt x="2623328" y="1131817"/>
                    <a:pt x="2617334" y="1137812"/>
                  </a:cubicBezTo>
                  <a:cubicBezTo>
                    <a:pt x="2611339" y="1143806"/>
                    <a:pt x="2603209" y="1147174"/>
                    <a:pt x="2594732" y="1147174"/>
                  </a:cubicBezTo>
                  <a:lnTo>
                    <a:pt x="31964" y="1147174"/>
                  </a:lnTo>
                  <a:cubicBezTo>
                    <a:pt x="23487" y="1147174"/>
                    <a:pt x="15356" y="1143806"/>
                    <a:pt x="9362" y="1137812"/>
                  </a:cubicBezTo>
                  <a:cubicBezTo>
                    <a:pt x="3368" y="1131817"/>
                    <a:pt x="0" y="1123687"/>
                    <a:pt x="0" y="1115210"/>
                  </a:cubicBezTo>
                  <a:lnTo>
                    <a:pt x="0" y="31964"/>
                  </a:lnTo>
                  <a:cubicBezTo>
                    <a:pt x="0" y="23487"/>
                    <a:pt x="3368" y="15356"/>
                    <a:pt x="9362" y="9362"/>
                  </a:cubicBezTo>
                  <a:cubicBezTo>
                    <a:pt x="15356" y="3368"/>
                    <a:pt x="23487" y="0"/>
                    <a:pt x="31964" y="0"/>
                  </a:cubicBezTo>
                  <a:close/>
                </a:path>
              </a:pathLst>
            </a:custGeom>
            <a:blipFill>
              <a:blip r:embed="rId2"/>
              <a:stretch>
                <a:fillRect l="-344" r="-344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26B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4F6F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4077950" cy="1405890"/>
            <a:chOff x="0" y="0"/>
            <a:chExt cx="18770600" cy="1874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87706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526BAD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Training Metrics Overview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87706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2B3A6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Displaying and Analyzing Key Data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5143500"/>
            <a:ext cx="4010025" cy="3105150"/>
            <a:chOff x="0" y="0"/>
            <a:chExt cx="5346700" cy="41402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1370330"/>
              <a:ext cx="5346700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Utilizing KPIs helps track training effectiveness and measure outcomes, ensuring alignment with organizational goals.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3467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PERFORMANCE INDICATORS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38988" y="5143500"/>
            <a:ext cx="4010025" cy="2686050"/>
            <a:chOff x="0" y="0"/>
            <a:chExt cx="5346700" cy="35814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0"/>
              <a:ext cx="5346700" cy="27698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Charts and progress circles present data visually, making it easier to digest complex information for stakeholders.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467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VISUAL REPRESENTATION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72950" y="5143500"/>
            <a:ext cx="4010025" cy="3524250"/>
            <a:chOff x="0" y="0"/>
            <a:chExt cx="5346700" cy="46990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1370330"/>
              <a:ext cx="53467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Monitoring metrics allows for ongoing adjustments, enhancing training programs to better meet learner needs and objectives.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53467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CONTINUOUS IMPROVEMENT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215603"/>
            <a:ext cx="9763125" cy="7404647"/>
            <a:chOff x="0" y="0"/>
            <a:chExt cx="1512564" cy="1147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2564" cy="1147174"/>
            </a:xfrm>
            <a:custGeom>
              <a:avLst/>
              <a:gdLst/>
              <a:ahLst/>
              <a:cxnLst/>
              <a:rect l="l" t="t" r="r" b="b"/>
              <a:pathLst>
                <a:path w="1512564" h="1147174">
                  <a:moveTo>
                    <a:pt x="55508" y="0"/>
                  </a:moveTo>
                  <a:lnTo>
                    <a:pt x="1457055" y="0"/>
                  </a:lnTo>
                  <a:cubicBezTo>
                    <a:pt x="1487712" y="0"/>
                    <a:pt x="1512564" y="24852"/>
                    <a:pt x="1512564" y="55508"/>
                  </a:cubicBezTo>
                  <a:lnTo>
                    <a:pt x="1512564" y="1091665"/>
                  </a:lnTo>
                  <a:cubicBezTo>
                    <a:pt x="1512564" y="1122322"/>
                    <a:pt x="1487712" y="1147174"/>
                    <a:pt x="1457055" y="1147174"/>
                  </a:cubicBezTo>
                  <a:lnTo>
                    <a:pt x="55508" y="1147174"/>
                  </a:lnTo>
                  <a:cubicBezTo>
                    <a:pt x="24852" y="1147174"/>
                    <a:pt x="0" y="1122322"/>
                    <a:pt x="0" y="1091665"/>
                  </a:cubicBezTo>
                  <a:lnTo>
                    <a:pt x="0" y="55508"/>
                  </a:lnTo>
                  <a:cubicBezTo>
                    <a:pt x="0" y="24852"/>
                    <a:pt x="24852" y="0"/>
                    <a:pt x="55508" y="0"/>
                  </a:cubicBezTo>
                  <a:close/>
                </a:path>
              </a:pathLst>
            </a:custGeom>
            <a:blipFill>
              <a:blip r:embed="rId2"/>
              <a:stretch>
                <a:fillRect l="-310" r="-31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2215603"/>
            <a:ext cx="6884747" cy="7404647"/>
            <a:chOff x="0" y="0"/>
            <a:chExt cx="1066627" cy="11471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78715" y="0"/>
                  </a:moveTo>
                  <a:lnTo>
                    <a:pt x="987912" y="0"/>
                  </a:lnTo>
                  <a:cubicBezTo>
                    <a:pt x="1031385" y="0"/>
                    <a:pt x="1066627" y="35242"/>
                    <a:pt x="1066627" y="78715"/>
                  </a:cubicBezTo>
                  <a:lnTo>
                    <a:pt x="1066627" y="1068458"/>
                  </a:lnTo>
                  <a:cubicBezTo>
                    <a:pt x="1066627" y="1111932"/>
                    <a:pt x="1031385" y="1147174"/>
                    <a:pt x="987912" y="1147174"/>
                  </a:cubicBezTo>
                  <a:lnTo>
                    <a:pt x="78715" y="1147174"/>
                  </a:lnTo>
                  <a:cubicBezTo>
                    <a:pt x="35242" y="1147174"/>
                    <a:pt x="0" y="1111932"/>
                    <a:pt x="0" y="1068458"/>
                  </a:cubicBezTo>
                  <a:lnTo>
                    <a:pt x="0" y="78715"/>
                  </a:lnTo>
                  <a:cubicBezTo>
                    <a:pt x="0" y="35242"/>
                    <a:pt x="35242" y="0"/>
                    <a:pt x="78715" y="0"/>
                  </a:cubicBezTo>
                  <a:close/>
                </a:path>
              </a:pathLst>
            </a:custGeom>
            <a:blipFill>
              <a:blip r:embed="rId3"/>
              <a:stretch>
                <a:fillRect t="-258" b="-25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533400"/>
            <a:ext cx="155162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526BAD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Training Metrics Components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26B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F4F6FA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2639675" cy="1405890"/>
            <a:chOff x="0" y="0"/>
            <a:chExt cx="16852900" cy="1874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526BAD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Interactive Learning Cycle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2B3A6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Enhancing Training Effectiveness and Engagement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5143500"/>
            <a:ext cx="5448300" cy="3524250"/>
            <a:chOff x="0" y="0"/>
            <a:chExt cx="7264400" cy="46990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11530"/>
              <a:ext cx="7264400" cy="3887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The </a:t>
              </a:r>
              <a:r>
                <a:rPr lang="en-US" sz="2400" b="1">
                  <a:solidFill>
                    <a:srgbClr val="2B3A67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Interactive Learning Cycle</a:t>
              </a: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 promotes ongoing development, allowing participants to refine their skills through repeated practice and feedback, fostering a culture of continuous improvement in training environments.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CONTINUOUS IMPROVEMENT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296400" y="5143500"/>
            <a:ext cx="5448300" cy="3105150"/>
            <a:chOff x="0" y="0"/>
            <a:chExt cx="7264400" cy="41402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0"/>
              <a:ext cx="72644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Feedback collected during each cycle phase ensures that learners can adjust their approach, reinforcing knowledge retention and enhancing overall training effectiveness through a structured and engaging process.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ITERATIVE FEEDBACK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26B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2B3A67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2639675" cy="2987060"/>
            <a:chOff x="0" y="0"/>
            <a:chExt cx="16852900" cy="3982747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68529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F4F6FA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Interactive Learning Cycle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68529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Continuous Improvement Through Iterative Training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2330477"/>
              <a:ext cx="16852900" cy="16522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The </a:t>
              </a:r>
              <a:r>
                <a:rPr lang="en-US" sz="2400" b="1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Interactive Learning Cycle</a:t>
              </a: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 emphasizes the importance of </a:t>
              </a:r>
              <a:r>
                <a:rPr lang="en-US" sz="2400" i="1">
                  <a:solidFill>
                    <a:srgbClr val="F4F6FA"/>
                  </a:solidFill>
                  <a:latin typeface="Rubik Italics"/>
                  <a:ea typeface="Rubik Italics"/>
                  <a:cs typeface="Rubik Italics"/>
                  <a:sym typeface="Rubik Italics"/>
                </a:rPr>
                <a:t>repetition</a:t>
              </a: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 in training, guiding participants through phases of learning, practice, assessment, and feedback to foster ongoing development and improvement.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 rot="-10800000">
            <a:off x="2105025" y="7829550"/>
            <a:ext cx="913622" cy="895350"/>
            <a:chOff x="0" y="0"/>
            <a:chExt cx="635000" cy="622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215603"/>
            <a:ext cx="9763125" cy="7404647"/>
            <a:chOff x="0" y="0"/>
            <a:chExt cx="1512564" cy="1147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2564" cy="1147174"/>
            </a:xfrm>
            <a:custGeom>
              <a:avLst/>
              <a:gdLst/>
              <a:ahLst/>
              <a:cxnLst/>
              <a:rect l="l" t="t" r="r" b="b"/>
              <a:pathLst>
                <a:path w="1512564" h="1147174">
                  <a:moveTo>
                    <a:pt x="55508" y="0"/>
                  </a:moveTo>
                  <a:lnTo>
                    <a:pt x="1457055" y="0"/>
                  </a:lnTo>
                  <a:cubicBezTo>
                    <a:pt x="1487712" y="0"/>
                    <a:pt x="1512564" y="24852"/>
                    <a:pt x="1512564" y="55508"/>
                  </a:cubicBezTo>
                  <a:lnTo>
                    <a:pt x="1512564" y="1091665"/>
                  </a:lnTo>
                  <a:cubicBezTo>
                    <a:pt x="1512564" y="1122322"/>
                    <a:pt x="1487712" y="1147174"/>
                    <a:pt x="1457055" y="1147174"/>
                  </a:cubicBezTo>
                  <a:lnTo>
                    <a:pt x="55508" y="1147174"/>
                  </a:lnTo>
                  <a:cubicBezTo>
                    <a:pt x="24852" y="1147174"/>
                    <a:pt x="0" y="1122322"/>
                    <a:pt x="0" y="1091665"/>
                  </a:cubicBezTo>
                  <a:lnTo>
                    <a:pt x="0" y="55508"/>
                  </a:lnTo>
                  <a:cubicBezTo>
                    <a:pt x="0" y="24852"/>
                    <a:pt x="24852" y="0"/>
                    <a:pt x="55508" y="0"/>
                  </a:cubicBezTo>
                  <a:close/>
                </a:path>
              </a:pathLst>
            </a:custGeom>
            <a:blipFill>
              <a:blip r:embed="rId2"/>
              <a:stretch>
                <a:fillRect l="-310" r="-31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2215603"/>
            <a:ext cx="6884747" cy="7404647"/>
            <a:chOff x="0" y="0"/>
            <a:chExt cx="1066627" cy="11471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78715" y="0"/>
                  </a:moveTo>
                  <a:lnTo>
                    <a:pt x="987912" y="0"/>
                  </a:lnTo>
                  <a:cubicBezTo>
                    <a:pt x="1031385" y="0"/>
                    <a:pt x="1066627" y="35242"/>
                    <a:pt x="1066627" y="78715"/>
                  </a:cubicBezTo>
                  <a:lnTo>
                    <a:pt x="1066627" y="1068458"/>
                  </a:lnTo>
                  <a:cubicBezTo>
                    <a:pt x="1066627" y="1111932"/>
                    <a:pt x="1031385" y="1147174"/>
                    <a:pt x="987912" y="1147174"/>
                  </a:cubicBezTo>
                  <a:lnTo>
                    <a:pt x="78715" y="1147174"/>
                  </a:lnTo>
                  <a:cubicBezTo>
                    <a:pt x="35242" y="1147174"/>
                    <a:pt x="0" y="1111932"/>
                    <a:pt x="0" y="1068458"/>
                  </a:cubicBezTo>
                  <a:lnTo>
                    <a:pt x="0" y="78715"/>
                  </a:lnTo>
                  <a:cubicBezTo>
                    <a:pt x="0" y="35242"/>
                    <a:pt x="35242" y="0"/>
                    <a:pt x="78715" y="0"/>
                  </a:cubicBezTo>
                  <a:close/>
                </a:path>
              </a:pathLst>
            </a:custGeom>
            <a:blipFill>
              <a:blip r:embed="rId3"/>
              <a:stretch>
                <a:fillRect t="-258" b="-25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533400"/>
            <a:ext cx="155162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F4F6FA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Interactive Learning Cycle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934200"/>
            <a:ext cx="18288000" cy="3352800"/>
            <a:chOff x="0" y="0"/>
            <a:chExt cx="4816593" cy="88304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16592" cy="883042"/>
            </a:xfrm>
            <a:custGeom>
              <a:avLst/>
              <a:gdLst/>
              <a:ahLst/>
              <a:cxnLst/>
              <a:rect l="l" t="t" r="r" b="b"/>
              <a:pathLst>
                <a:path w="4816592" h="883042">
                  <a:moveTo>
                    <a:pt x="0" y="0"/>
                  </a:moveTo>
                  <a:lnTo>
                    <a:pt x="4816592" y="0"/>
                  </a:lnTo>
                  <a:lnTo>
                    <a:pt x="4816592" y="883042"/>
                  </a:lnTo>
                  <a:lnTo>
                    <a:pt x="0" y="883042"/>
                  </a:lnTo>
                  <a:close/>
                </a:path>
              </a:pathLst>
            </a:custGeom>
            <a:solidFill>
              <a:srgbClr val="526BAD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4816593" cy="9401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66750" y="666750"/>
            <a:ext cx="16954500" cy="8953500"/>
            <a:chOff x="0" y="0"/>
            <a:chExt cx="4465383" cy="23581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465383" cy="2358124"/>
            </a:xfrm>
            <a:custGeom>
              <a:avLst/>
              <a:gdLst/>
              <a:ahLst/>
              <a:cxnLst/>
              <a:rect l="l" t="t" r="r" b="b"/>
              <a:pathLst>
                <a:path w="4465383" h="2358124">
                  <a:moveTo>
                    <a:pt x="18265" y="0"/>
                  </a:moveTo>
                  <a:lnTo>
                    <a:pt x="4447118" y="0"/>
                  </a:lnTo>
                  <a:cubicBezTo>
                    <a:pt x="4457205" y="0"/>
                    <a:pt x="4465383" y="8178"/>
                    <a:pt x="4465383" y="18265"/>
                  </a:cubicBezTo>
                  <a:lnTo>
                    <a:pt x="4465383" y="2339858"/>
                  </a:lnTo>
                  <a:cubicBezTo>
                    <a:pt x="4465383" y="2349946"/>
                    <a:pt x="4457205" y="2358124"/>
                    <a:pt x="4447118" y="2358124"/>
                  </a:cubicBezTo>
                  <a:lnTo>
                    <a:pt x="18265" y="2358124"/>
                  </a:lnTo>
                  <a:cubicBezTo>
                    <a:pt x="8178" y="2358124"/>
                    <a:pt x="0" y="2349946"/>
                    <a:pt x="0" y="2339858"/>
                  </a:cubicBezTo>
                  <a:lnTo>
                    <a:pt x="0" y="18265"/>
                  </a:lnTo>
                  <a:cubicBezTo>
                    <a:pt x="0" y="8178"/>
                    <a:pt x="8178" y="0"/>
                    <a:pt x="18265" y="0"/>
                  </a:cubicBezTo>
                  <a:close/>
                </a:path>
              </a:pathLst>
            </a:custGeom>
            <a:solidFill>
              <a:srgbClr val="11254F"/>
            </a:solidFill>
            <a:ln cap="rnd">
              <a:noFill/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4465383" cy="2415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2105025" y="1562100"/>
            <a:ext cx="14077950" cy="1405890"/>
            <a:chOff x="0" y="0"/>
            <a:chExt cx="18770600" cy="1874520"/>
          </a:xfrm>
        </p:grpSpPr>
        <p:sp>
          <p:nvSpPr>
            <p:cNvPr id="9" name="TextBox 9"/>
            <p:cNvSpPr txBox="1"/>
            <p:nvPr/>
          </p:nvSpPr>
          <p:spPr>
            <a:xfrm>
              <a:off x="0" y="-133350"/>
              <a:ext cx="18770600" cy="146685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7920"/>
                </a:lnSpc>
                <a:spcBef>
                  <a:spcPct val="0"/>
                </a:spcBef>
              </a:pPr>
              <a:r>
                <a:rPr lang="en-US" sz="6600" b="1" u="none" strike="noStrike">
                  <a:solidFill>
                    <a:srgbClr val="F4F6FA"/>
                  </a:solidFill>
                  <a:latin typeface="ITC Motter Corpus Semicondensed"/>
                  <a:ea typeface="ITC Motter Corpus Semicondensed"/>
                  <a:cs typeface="ITC Motter Corpus Semicondensed"/>
                  <a:sym typeface="ITC Motter Corpus Semicondensed"/>
                </a:rPr>
                <a:t>Training Options Comparison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1339850"/>
              <a:ext cx="187706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Evaluating Methods and Effectiveness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105025" y="5143500"/>
            <a:ext cx="4010025" cy="3105150"/>
            <a:chOff x="0" y="0"/>
            <a:chExt cx="5346700" cy="414020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811530"/>
              <a:ext cx="53467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Each training method offers unique features that cater to specific learning styles and organizational needs, enhancing overall effectiveness.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57150"/>
              <a:ext cx="53467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FEATURES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138988" y="5143500"/>
            <a:ext cx="4010025" cy="3105150"/>
            <a:chOff x="0" y="0"/>
            <a:chExt cx="5346700" cy="414020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811530"/>
              <a:ext cx="53467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Understanding the benefits of each option allows organizations to align training with goals, maximizing employee engagement and retention.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53467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BENEFITS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172950" y="5143500"/>
            <a:ext cx="4010025" cy="3105150"/>
            <a:chOff x="0" y="0"/>
            <a:chExt cx="5346700" cy="4140200"/>
          </a:xfrm>
        </p:grpSpPr>
        <p:sp>
          <p:nvSpPr>
            <p:cNvPr id="18" name="TextBox 18"/>
            <p:cNvSpPr txBox="1"/>
            <p:nvPr/>
          </p:nvSpPr>
          <p:spPr>
            <a:xfrm>
              <a:off x="0" y="811530"/>
              <a:ext cx="5346700" cy="3328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F4F6FA"/>
                  </a:solidFill>
                  <a:latin typeface="Rubik"/>
                  <a:ea typeface="Rubik"/>
                  <a:cs typeface="Rubik"/>
                  <a:sym typeface="Rubik"/>
                </a:rPr>
                <a:t>A thorough pros and cons analysis helps decision-makers choose the most suitable training approach for their audience and objectives.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53467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F4F6FA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PROS AND CONS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66750" y="2215603"/>
            <a:ext cx="9763125" cy="7404647"/>
            <a:chOff x="0" y="0"/>
            <a:chExt cx="1512564" cy="11471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12564" cy="1147174"/>
            </a:xfrm>
            <a:custGeom>
              <a:avLst/>
              <a:gdLst/>
              <a:ahLst/>
              <a:cxnLst/>
              <a:rect l="l" t="t" r="r" b="b"/>
              <a:pathLst>
                <a:path w="1512564" h="1147174">
                  <a:moveTo>
                    <a:pt x="55508" y="0"/>
                  </a:moveTo>
                  <a:lnTo>
                    <a:pt x="1457055" y="0"/>
                  </a:lnTo>
                  <a:cubicBezTo>
                    <a:pt x="1487712" y="0"/>
                    <a:pt x="1512564" y="24852"/>
                    <a:pt x="1512564" y="55508"/>
                  </a:cubicBezTo>
                  <a:lnTo>
                    <a:pt x="1512564" y="1091665"/>
                  </a:lnTo>
                  <a:cubicBezTo>
                    <a:pt x="1512564" y="1122322"/>
                    <a:pt x="1487712" y="1147174"/>
                    <a:pt x="1457055" y="1147174"/>
                  </a:cubicBezTo>
                  <a:lnTo>
                    <a:pt x="55508" y="1147174"/>
                  </a:lnTo>
                  <a:cubicBezTo>
                    <a:pt x="24852" y="1147174"/>
                    <a:pt x="0" y="1122322"/>
                    <a:pt x="0" y="1091665"/>
                  </a:cubicBezTo>
                  <a:lnTo>
                    <a:pt x="0" y="55508"/>
                  </a:lnTo>
                  <a:cubicBezTo>
                    <a:pt x="0" y="24852"/>
                    <a:pt x="24852" y="0"/>
                    <a:pt x="55508" y="0"/>
                  </a:cubicBezTo>
                  <a:close/>
                </a:path>
              </a:pathLst>
            </a:custGeom>
            <a:blipFill>
              <a:blip r:embed="rId2"/>
              <a:stretch>
                <a:fillRect l="-310" r="-310"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10734675" y="2215603"/>
            <a:ext cx="6884747" cy="7404647"/>
            <a:chOff x="0" y="0"/>
            <a:chExt cx="1066627" cy="114717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78715" y="0"/>
                  </a:moveTo>
                  <a:lnTo>
                    <a:pt x="987912" y="0"/>
                  </a:lnTo>
                  <a:cubicBezTo>
                    <a:pt x="1031385" y="0"/>
                    <a:pt x="1066627" y="35242"/>
                    <a:pt x="1066627" y="78715"/>
                  </a:cubicBezTo>
                  <a:lnTo>
                    <a:pt x="1066627" y="1068458"/>
                  </a:lnTo>
                  <a:cubicBezTo>
                    <a:pt x="1066627" y="1111932"/>
                    <a:pt x="1031385" y="1147174"/>
                    <a:pt x="987912" y="1147174"/>
                  </a:cubicBezTo>
                  <a:lnTo>
                    <a:pt x="78715" y="1147174"/>
                  </a:lnTo>
                  <a:cubicBezTo>
                    <a:pt x="35242" y="1147174"/>
                    <a:pt x="0" y="1111932"/>
                    <a:pt x="0" y="1068458"/>
                  </a:cubicBezTo>
                  <a:lnTo>
                    <a:pt x="0" y="78715"/>
                  </a:lnTo>
                  <a:cubicBezTo>
                    <a:pt x="0" y="35242"/>
                    <a:pt x="35242" y="0"/>
                    <a:pt x="78715" y="0"/>
                  </a:cubicBezTo>
                  <a:close/>
                </a:path>
              </a:pathLst>
            </a:custGeom>
            <a:blipFill>
              <a:blip r:embed="rId3"/>
              <a:stretch>
                <a:fillRect t="-258" b="-258"/>
              </a:stretch>
            </a:blipFill>
          </p:spPr>
        </p:sp>
      </p:grpSp>
      <p:sp>
        <p:nvSpPr>
          <p:cNvPr id="6" name="TextBox 6"/>
          <p:cNvSpPr txBox="1"/>
          <p:nvPr/>
        </p:nvSpPr>
        <p:spPr>
          <a:xfrm>
            <a:off x="666750" y="533400"/>
            <a:ext cx="15516225" cy="1133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F4F6FA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Training Module Comparison</a:t>
            </a:r>
          </a:p>
        </p:txBody>
      </p:sp>
      <p:grpSp>
        <p:nvGrpSpPr>
          <p:cNvPr id="7" name="Group 7"/>
          <p:cNvGrpSpPr/>
          <p:nvPr/>
        </p:nvGrpSpPr>
        <p:grpSpPr>
          <a:xfrm rot="-10800000">
            <a:off x="16707628" y="666750"/>
            <a:ext cx="913622" cy="895350"/>
            <a:chOff x="0" y="0"/>
            <a:chExt cx="635000" cy="6223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66750" y="533400"/>
            <a:ext cx="14077950" cy="213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920"/>
              </a:lnSpc>
              <a:spcBef>
                <a:spcPct val="0"/>
              </a:spcBef>
            </a:pPr>
            <a:r>
              <a:rPr lang="en-US" sz="6600" b="1" u="none" strike="noStrike">
                <a:solidFill>
                  <a:srgbClr val="526BAD"/>
                </a:solidFill>
                <a:latin typeface="ITC Motter Corpus Semicondensed"/>
                <a:ea typeface="ITC Motter Corpus Semicondensed"/>
                <a:cs typeface="ITC Motter Corpus Semicondensed"/>
                <a:sym typeface="ITC Motter Corpus Semicondensed"/>
              </a:rPr>
              <a:t>Maximizing the Impact of Templates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666750" y="3352800"/>
            <a:ext cx="5448300" cy="3515837"/>
            <a:chOff x="0" y="0"/>
            <a:chExt cx="1862768" cy="1202061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2"/>
              <a:stretch>
                <a:fillRect l="-414" r="-414"/>
              </a:stretch>
            </a:blipFill>
          </p:spPr>
        </p:sp>
      </p:grpSp>
      <p:grpSp>
        <p:nvGrpSpPr>
          <p:cNvPr id="5" name="Group 5"/>
          <p:cNvGrpSpPr/>
          <p:nvPr/>
        </p:nvGrpSpPr>
        <p:grpSpPr>
          <a:xfrm>
            <a:off x="6419850" y="3352800"/>
            <a:ext cx="5448300" cy="3515837"/>
            <a:chOff x="0" y="0"/>
            <a:chExt cx="1862768" cy="120206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3"/>
              <a:stretch>
                <a:fillRect l="-414" r="-414"/>
              </a:stretch>
            </a:blipFill>
          </p:spPr>
        </p:sp>
      </p:grpSp>
      <p:grpSp>
        <p:nvGrpSpPr>
          <p:cNvPr id="7" name="Group 7"/>
          <p:cNvGrpSpPr/>
          <p:nvPr/>
        </p:nvGrpSpPr>
        <p:grpSpPr>
          <a:xfrm>
            <a:off x="12172950" y="3352800"/>
            <a:ext cx="5448300" cy="3515837"/>
            <a:chOff x="0" y="0"/>
            <a:chExt cx="1862768" cy="120206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862768" cy="1202061"/>
            </a:xfrm>
            <a:custGeom>
              <a:avLst/>
              <a:gdLst/>
              <a:ahLst/>
              <a:cxnLst/>
              <a:rect l="l" t="t" r="r" b="b"/>
              <a:pathLst>
                <a:path w="1862768" h="1202061">
                  <a:moveTo>
                    <a:pt x="71049" y="0"/>
                  </a:moveTo>
                  <a:lnTo>
                    <a:pt x="1791720" y="0"/>
                  </a:lnTo>
                  <a:cubicBezTo>
                    <a:pt x="1810563" y="0"/>
                    <a:pt x="1828635" y="7485"/>
                    <a:pt x="1841959" y="20810"/>
                  </a:cubicBezTo>
                  <a:cubicBezTo>
                    <a:pt x="1855283" y="34134"/>
                    <a:pt x="1862768" y="52206"/>
                    <a:pt x="1862768" y="71049"/>
                  </a:cubicBezTo>
                  <a:lnTo>
                    <a:pt x="1862768" y="1131012"/>
                  </a:lnTo>
                  <a:cubicBezTo>
                    <a:pt x="1862768" y="1149855"/>
                    <a:pt x="1855283" y="1167927"/>
                    <a:pt x="1841959" y="1181251"/>
                  </a:cubicBezTo>
                  <a:cubicBezTo>
                    <a:pt x="1828635" y="1194576"/>
                    <a:pt x="1810563" y="1202061"/>
                    <a:pt x="1791720" y="1202061"/>
                  </a:cubicBezTo>
                  <a:lnTo>
                    <a:pt x="71049" y="1202061"/>
                  </a:lnTo>
                  <a:cubicBezTo>
                    <a:pt x="52206" y="1202061"/>
                    <a:pt x="34134" y="1194576"/>
                    <a:pt x="20810" y="1181251"/>
                  </a:cubicBezTo>
                  <a:cubicBezTo>
                    <a:pt x="7485" y="1167927"/>
                    <a:pt x="0" y="1149855"/>
                    <a:pt x="0" y="1131012"/>
                  </a:cubicBezTo>
                  <a:lnTo>
                    <a:pt x="0" y="71049"/>
                  </a:lnTo>
                  <a:cubicBezTo>
                    <a:pt x="0" y="52206"/>
                    <a:pt x="7485" y="34134"/>
                    <a:pt x="20810" y="20810"/>
                  </a:cubicBezTo>
                  <a:cubicBezTo>
                    <a:pt x="34134" y="7485"/>
                    <a:pt x="52206" y="0"/>
                    <a:pt x="71049" y="0"/>
                  </a:cubicBezTo>
                  <a:close/>
                </a:path>
              </a:pathLst>
            </a:custGeom>
            <a:blipFill>
              <a:blip r:embed="rId4"/>
              <a:stretch>
                <a:fillRect l="-414" r="-414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666750" y="7471424"/>
            <a:ext cx="5448300" cy="1282051"/>
            <a:chOff x="0" y="0"/>
            <a:chExt cx="7264400" cy="1709402"/>
          </a:xfrm>
        </p:grpSpPr>
        <p:sp>
          <p:nvSpPr>
            <p:cNvPr id="10" name="TextBox 10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Review the four templates for effective training applications.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TEMPLATE RECAP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419850" y="7471424"/>
            <a:ext cx="5448300" cy="1282051"/>
            <a:chOff x="0" y="0"/>
            <a:chExt cx="7264400" cy="1709402"/>
          </a:xfrm>
        </p:grpSpPr>
        <p:sp>
          <p:nvSpPr>
            <p:cNvPr id="13" name="TextBox 13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Adapt elements easily to suit specific audience needs.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CUSTOMIZATION TIPS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2172950" y="7471424"/>
            <a:ext cx="5448300" cy="1282051"/>
            <a:chOff x="0" y="0"/>
            <a:chExt cx="7264400" cy="1709402"/>
          </a:xfrm>
        </p:grpSpPr>
        <p:sp>
          <p:nvSpPr>
            <p:cNvPr id="16" name="TextBox 16"/>
            <p:cNvSpPr txBox="1"/>
            <p:nvPr/>
          </p:nvSpPr>
          <p:spPr>
            <a:xfrm>
              <a:off x="0" y="615932"/>
              <a:ext cx="7264400" cy="10934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Merge templates for comprehensive training presentations.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57150"/>
              <a:ext cx="72644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COMBINING TEMPLATES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3A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96400" y="3032662"/>
            <a:ext cx="8324850" cy="6587588"/>
            <a:chOff x="0" y="0"/>
            <a:chExt cx="2192553" cy="173500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192553" cy="1735003"/>
            </a:xfrm>
            <a:custGeom>
              <a:avLst/>
              <a:gdLst/>
              <a:ahLst/>
              <a:cxnLst/>
              <a:rect l="l" t="t" r="r" b="b"/>
              <a:pathLst>
                <a:path w="2192553" h="1735003">
                  <a:moveTo>
                    <a:pt x="37199" y="0"/>
                  </a:moveTo>
                  <a:lnTo>
                    <a:pt x="2155354" y="0"/>
                  </a:lnTo>
                  <a:cubicBezTo>
                    <a:pt x="2165220" y="0"/>
                    <a:pt x="2174682" y="3919"/>
                    <a:pt x="2181658" y="10895"/>
                  </a:cubicBezTo>
                  <a:cubicBezTo>
                    <a:pt x="2188634" y="17872"/>
                    <a:pt x="2192553" y="27333"/>
                    <a:pt x="2192553" y="37199"/>
                  </a:cubicBezTo>
                  <a:lnTo>
                    <a:pt x="2192553" y="1697804"/>
                  </a:lnTo>
                  <a:cubicBezTo>
                    <a:pt x="2192553" y="1707669"/>
                    <a:pt x="2188634" y="1717131"/>
                    <a:pt x="2181658" y="1724107"/>
                  </a:cubicBezTo>
                  <a:cubicBezTo>
                    <a:pt x="2174682" y="1731083"/>
                    <a:pt x="2165220" y="1735003"/>
                    <a:pt x="2155354" y="1735003"/>
                  </a:cubicBezTo>
                  <a:lnTo>
                    <a:pt x="37199" y="1735003"/>
                  </a:lnTo>
                  <a:cubicBezTo>
                    <a:pt x="27333" y="1735003"/>
                    <a:pt x="17872" y="1731083"/>
                    <a:pt x="10895" y="1724107"/>
                  </a:cubicBezTo>
                  <a:cubicBezTo>
                    <a:pt x="3919" y="1717131"/>
                    <a:pt x="0" y="1707669"/>
                    <a:pt x="0" y="1697804"/>
                  </a:cubicBezTo>
                  <a:lnTo>
                    <a:pt x="0" y="37199"/>
                  </a:lnTo>
                  <a:cubicBezTo>
                    <a:pt x="0" y="27333"/>
                    <a:pt x="3919" y="17872"/>
                    <a:pt x="10895" y="10895"/>
                  </a:cubicBezTo>
                  <a:cubicBezTo>
                    <a:pt x="17872" y="3919"/>
                    <a:pt x="27333" y="0"/>
                    <a:pt x="37199" y="0"/>
                  </a:cubicBezTo>
                  <a:close/>
                </a:path>
              </a:pathLst>
            </a:custGeom>
            <a:solidFill>
              <a:srgbClr val="F4F6FA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192553" cy="17921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296400" y="666750"/>
            <a:ext cx="5448300" cy="2061112"/>
            <a:chOff x="0" y="0"/>
            <a:chExt cx="1434943" cy="54284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434943" cy="542844"/>
            </a:xfrm>
            <a:custGeom>
              <a:avLst/>
              <a:gdLst/>
              <a:ahLst/>
              <a:cxnLst/>
              <a:rect l="l" t="t" r="r" b="b"/>
              <a:pathLst>
                <a:path w="1434943" h="542844">
                  <a:moveTo>
                    <a:pt x="56839" y="0"/>
                  </a:moveTo>
                  <a:lnTo>
                    <a:pt x="1378104" y="0"/>
                  </a:lnTo>
                  <a:cubicBezTo>
                    <a:pt x="1409495" y="0"/>
                    <a:pt x="1434943" y="25448"/>
                    <a:pt x="1434943" y="56839"/>
                  </a:cubicBezTo>
                  <a:lnTo>
                    <a:pt x="1434943" y="486005"/>
                  </a:lnTo>
                  <a:cubicBezTo>
                    <a:pt x="1434943" y="517397"/>
                    <a:pt x="1409495" y="542844"/>
                    <a:pt x="1378104" y="542844"/>
                  </a:cubicBezTo>
                  <a:lnTo>
                    <a:pt x="56839" y="542844"/>
                  </a:lnTo>
                  <a:cubicBezTo>
                    <a:pt x="25448" y="542844"/>
                    <a:pt x="0" y="517397"/>
                    <a:pt x="0" y="486005"/>
                  </a:cubicBezTo>
                  <a:lnTo>
                    <a:pt x="0" y="56839"/>
                  </a:lnTo>
                  <a:cubicBezTo>
                    <a:pt x="0" y="25448"/>
                    <a:pt x="25448" y="0"/>
                    <a:pt x="56839" y="0"/>
                  </a:cubicBez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43494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049500" y="666750"/>
            <a:ext cx="2571750" cy="2061112"/>
            <a:chOff x="0" y="0"/>
            <a:chExt cx="677333" cy="54284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77333" cy="542844"/>
            </a:xfrm>
            <a:custGeom>
              <a:avLst/>
              <a:gdLst/>
              <a:ahLst/>
              <a:cxnLst/>
              <a:rect l="l" t="t" r="r" b="b"/>
              <a:pathLst>
                <a:path w="677333" h="542844">
                  <a:moveTo>
                    <a:pt x="120415" y="0"/>
                  </a:moveTo>
                  <a:lnTo>
                    <a:pt x="556919" y="0"/>
                  </a:lnTo>
                  <a:cubicBezTo>
                    <a:pt x="623422" y="0"/>
                    <a:pt x="677333" y="53912"/>
                    <a:pt x="677333" y="120415"/>
                  </a:cubicBezTo>
                  <a:lnTo>
                    <a:pt x="677333" y="422429"/>
                  </a:lnTo>
                  <a:cubicBezTo>
                    <a:pt x="677333" y="488933"/>
                    <a:pt x="623422" y="542844"/>
                    <a:pt x="556919" y="542844"/>
                  </a:cubicBezTo>
                  <a:lnTo>
                    <a:pt x="120415" y="542844"/>
                  </a:lnTo>
                  <a:cubicBezTo>
                    <a:pt x="88479" y="542844"/>
                    <a:pt x="57851" y="530158"/>
                    <a:pt x="35269" y="507576"/>
                  </a:cubicBezTo>
                  <a:cubicBezTo>
                    <a:pt x="12687" y="484993"/>
                    <a:pt x="0" y="454365"/>
                    <a:pt x="0" y="422429"/>
                  </a:cubicBezTo>
                  <a:lnTo>
                    <a:pt x="0" y="120415"/>
                  </a:lnTo>
                  <a:cubicBezTo>
                    <a:pt x="0" y="88479"/>
                    <a:pt x="12687" y="57851"/>
                    <a:pt x="35269" y="35269"/>
                  </a:cubicBezTo>
                  <a:cubicBezTo>
                    <a:pt x="57851" y="12687"/>
                    <a:pt x="88479" y="0"/>
                    <a:pt x="120415" y="0"/>
                  </a:cubicBezTo>
                  <a:close/>
                </a:path>
              </a:pathLst>
            </a:custGeom>
            <a:solidFill>
              <a:srgbClr val="D9E2F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677333" cy="5999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 rot="-10800000">
            <a:off x="15878564" y="1249631"/>
            <a:ext cx="913622" cy="895350"/>
            <a:chOff x="0" y="0"/>
            <a:chExt cx="635000" cy="6223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" cy="622300"/>
            </a:xfrm>
            <a:custGeom>
              <a:avLst/>
              <a:gdLst/>
              <a:ahLst/>
              <a:cxnLst/>
              <a:rect l="l" t="t" r="r" b="b"/>
              <a:pathLst>
                <a:path w="635000" h="622300">
                  <a:moveTo>
                    <a:pt x="547370" y="62230"/>
                  </a:moveTo>
                  <a:lnTo>
                    <a:pt x="401320" y="267970"/>
                  </a:lnTo>
                  <a:lnTo>
                    <a:pt x="635000" y="346710"/>
                  </a:lnTo>
                  <a:lnTo>
                    <a:pt x="605790" y="445770"/>
                  </a:lnTo>
                  <a:lnTo>
                    <a:pt x="369570" y="367030"/>
                  </a:lnTo>
                  <a:lnTo>
                    <a:pt x="369570" y="622300"/>
                  </a:lnTo>
                  <a:lnTo>
                    <a:pt x="267970" y="622300"/>
                  </a:lnTo>
                  <a:lnTo>
                    <a:pt x="267970" y="367030"/>
                  </a:lnTo>
                  <a:lnTo>
                    <a:pt x="31750" y="445770"/>
                  </a:lnTo>
                  <a:lnTo>
                    <a:pt x="0" y="346710"/>
                  </a:lnTo>
                  <a:lnTo>
                    <a:pt x="236220" y="267970"/>
                  </a:lnTo>
                  <a:lnTo>
                    <a:pt x="90170" y="62230"/>
                  </a:lnTo>
                  <a:lnTo>
                    <a:pt x="172720" y="0"/>
                  </a:lnTo>
                  <a:lnTo>
                    <a:pt x="318770" y="205740"/>
                  </a:lnTo>
                  <a:lnTo>
                    <a:pt x="464820" y="0"/>
                  </a:lnTo>
                  <a:lnTo>
                    <a:pt x="547370" y="62230"/>
                  </a:lnTo>
                  <a:close/>
                </a:path>
              </a:pathLst>
            </a:custGeom>
            <a:solidFill>
              <a:srgbClr val="526BAD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146050" y="82550"/>
              <a:ext cx="342900" cy="4000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29875" y="4248150"/>
            <a:ext cx="6057900" cy="895377"/>
            <a:chOff x="0" y="0"/>
            <a:chExt cx="8077200" cy="1193836"/>
          </a:xfrm>
        </p:grpSpPr>
        <p:sp>
          <p:nvSpPr>
            <p:cNvPr id="15" name="TextBox 15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hello@reallygreatsite.com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 b="1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EMAIL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429875" y="6038850"/>
            <a:ext cx="6057900" cy="895377"/>
            <a:chOff x="0" y="0"/>
            <a:chExt cx="8077200" cy="1193836"/>
          </a:xfrm>
        </p:grpSpPr>
        <p:sp>
          <p:nvSpPr>
            <p:cNvPr id="18" name="TextBox 18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@reallygreatsite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SOCIAL MEDIA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29875" y="7829515"/>
            <a:ext cx="6057900" cy="895377"/>
            <a:chOff x="0" y="0"/>
            <a:chExt cx="8077200" cy="1193836"/>
          </a:xfrm>
        </p:grpSpPr>
        <p:sp>
          <p:nvSpPr>
            <p:cNvPr id="21" name="TextBox 21"/>
            <p:cNvSpPr txBox="1"/>
            <p:nvPr/>
          </p:nvSpPr>
          <p:spPr>
            <a:xfrm>
              <a:off x="0" y="659166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</a:pPr>
              <a:r>
                <a:rPr lang="en-US" sz="2400">
                  <a:solidFill>
                    <a:srgbClr val="2B3A67"/>
                  </a:solidFill>
                  <a:latin typeface="Rubik"/>
                  <a:ea typeface="Rubik"/>
                  <a:cs typeface="Rubik"/>
                  <a:sym typeface="Rubik"/>
                </a:rPr>
                <a:t>123-456-7890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0" y="-57150"/>
              <a:ext cx="8077200" cy="5346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3359"/>
                </a:lnSpc>
                <a:spcBef>
                  <a:spcPct val="0"/>
                </a:spcBef>
              </a:pPr>
              <a:r>
                <a:rPr lang="en-US" sz="2400" b="1" u="none" strike="noStrike">
                  <a:solidFill>
                    <a:srgbClr val="526BAD"/>
                  </a:solidFill>
                  <a:latin typeface="Rubik Bold"/>
                  <a:ea typeface="Rubik Bold"/>
                  <a:cs typeface="Rubik Bold"/>
                  <a:sym typeface="Rubik Bold"/>
                </a:rPr>
                <a:t>PHONE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66750" y="666750"/>
            <a:ext cx="8324850" cy="8953500"/>
            <a:chOff x="0" y="0"/>
            <a:chExt cx="1066627" cy="1147174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66627" cy="1147174"/>
            </a:xfrm>
            <a:custGeom>
              <a:avLst/>
              <a:gdLst/>
              <a:ahLst/>
              <a:cxnLst/>
              <a:rect l="l" t="t" r="r" b="b"/>
              <a:pathLst>
                <a:path w="1066627" h="1147174">
                  <a:moveTo>
                    <a:pt x="65098" y="0"/>
                  </a:moveTo>
                  <a:lnTo>
                    <a:pt x="1001529" y="0"/>
                  </a:lnTo>
                  <a:cubicBezTo>
                    <a:pt x="1018794" y="0"/>
                    <a:pt x="1035352" y="6859"/>
                    <a:pt x="1047561" y="19067"/>
                  </a:cubicBezTo>
                  <a:cubicBezTo>
                    <a:pt x="1059769" y="31275"/>
                    <a:pt x="1066627" y="47833"/>
                    <a:pt x="1066627" y="65098"/>
                  </a:cubicBezTo>
                  <a:lnTo>
                    <a:pt x="1066627" y="1082075"/>
                  </a:lnTo>
                  <a:cubicBezTo>
                    <a:pt x="1066627" y="1099340"/>
                    <a:pt x="1059769" y="1115898"/>
                    <a:pt x="1047561" y="1128107"/>
                  </a:cubicBezTo>
                  <a:cubicBezTo>
                    <a:pt x="1035352" y="1140315"/>
                    <a:pt x="1018794" y="1147174"/>
                    <a:pt x="1001529" y="1147174"/>
                  </a:cubicBezTo>
                  <a:lnTo>
                    <a:pt x="65098" y="1147174"/>
                  </a:lnTo>
                  <a:cubicBezTo>
                    <a:pt x="47833" y="1147174"/>
                    <a:pt x="31275" y="1140315"/>
                    <a:pt x="19067" y="1128107"/>
                  </a:cubicBezTo>
                  <a:cubicBezTo>
                    <a:pt x="6859" y="1115898"/>
                    <a:pt x="0" y="1099340"/>
                    <a:pt x="0" y="1082075"/>
                  </a:cubicBezTo>
                  <a:lnTo>
                    <a:pt x="0" y="65098"/>
                  </a:lnTo>
                  <a:cubicBezTo>
                    <a:pt x="0" y="47833"/>
                    <a:pt x="6859" y="31275"/>
                    <a:pt x="19067" y="19067"/>
                  </a:cubicBezTo>
                  <a:cubicBezTo>
                    <a:pt x="31275" y="6859"/>
                    <a:pt x="47833" y="0"/>
                    <a:pt x="65098" y="0"/>
                  </a:cubicBezTo>
                  <a:close/>
                </a:path>
              </a:pathLst>
            </a:custGeom>
            <a:blipFill>
              <a:blip r:embed="rId2"/>
              <a:stretch>
                <a:fillRect t="-258" b="-258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</Words>
  <Application>Microsoft Office PowerPoint</Application>
  <PresentationFormat>Custom</PresentationFormat>
  <Paragraphs>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Calibri</vt:lpstr>
      <vt:lpstr>Rubik Bold</vt:lpstr>
      <vt:lpstr>ITC Motter Corpus Semicondensed</vt:lpstr>
      <vt:lpstr>Arial</vt:lpstr>
      <vt:lpstr>Rubik</vt:lpstr>
      <vt:lpstr>Rubik Italics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- Training &amp; Development Templates</dc:title>
  <dc:creator>PADMANAVA</dc:creator>
  <dc:description>Presentation - Training &amp; Development Templates</dc:description>
  <cp:lastModifiedBy>mojumderpadmanava@gmail.com</cp:lastModifiedBy>
  <cp:revision>1</cp:revision>
  <dcterms:created xsi:type="dcterms:W3CDTF">2006-08-16T00:00:00Z</dcterms:created>
  <dcterms:modified xsi:type="dcterms:W3CDTF">2025-10-18T06:24:01Z</dcterms:modified>
  <dc:identifier>DAG14Hdi6LM</dc:identifier>
</cp:coreProperties>
</file>