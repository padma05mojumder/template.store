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ooper BT Light" panose="020B0604020202020204" charset="0"/>
      <p:regular r:id="rId19"/>
    </p:embeddedFont>
    <p:embeddedFont>
      <p:font typeface="Cooper BT Medium" panose="020B0604020202020204" charset="0"/>
      <p:regular r:id="rId20"/>
    </p:embeddedFont>
    <p:embeddedFont>
      <p:font typeface="TT Interphases" panose="020B0604020202020204" charset="0"/>
      <p:regular r:id="rId21"/>
    </p:embeddedFont>
    <p:embeddedFont>
      <p:font typeface="TT Interphase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8324850" cy="5398824"/>
            <a:chOff x="0" y="0"/>
            <a:chExt cx="11099800" cy="7198432"/>
          </a:xfrm>
        </p:grpSpPr>
        <p:sp>
          <p:nvSpPr>
            <p:cNvPr id="6" name="TextBox 6"/>
            <p:cNvSpPr txBox="1"/>
            <p:nvPr/>
          </p:nvSpPr>
          <p:spPr>
            <a:xfrm>
              <a:off x="0" y="6680272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 spc="-47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For Engaging Lectures and Lessons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28600"/>
              <a:ext cx="11099800" cy="5990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499"/>
                </a:lnSpc>
              </a:pPr>
              <a:r>
                <a:rPr lang="en-US" sz="11499" spc="-229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Minimalist PowerPoint Templates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8724859"/>
            <a:ext cx="8324850" cy="895391"/>
            <a:chOff x="0" y="0"/>
            <a:chExt cx="11099800" cy="1193854"/>
          </a:xfrm>
        </p:grpSpPr>
        <p:sp>
          <p:nvSpPr>
            <p:cNvPr id="9" name="TextBox 9"/>
            <p:cNvSpPr txBox="1"/>
            <p:nvPr/>
          </p:nvSpPr>
          <p:spPr>
            <a:xfrm>
              <a:off x="0" y="659184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Educational Content Specialist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581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[Presenter Name Here]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296400" y="3533775"/>
            <a:ext cx="8324850" cy="246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00"/>
              </a:lnSpc>
            </a:pPr>
            <a:r>
              <a:rPr lang="en-US" sz="9500" u="none" strike="noStrike" spc="-190">
                <a:solidFill>
                  <a:srgbClr val="2F2F2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Introduction Principles</a:t>
            </a:r>
          </a:p>
        </p:txBody>
      </p:sp>
      <p:sp>
        <p:nvSpPr>
          <p:cNvPr id="8" name="Freeform 8"/>
          <p:cNvSpPr/>
          <p:nvPr/>
        </p:nvSpPr>
        <p:spPr>
          <a:xfrm>
            <a:off x="-52388" y="1028700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Minimalist design principles enhance educational materials by promoting </a:t>
              </a: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faster comprehension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ensuring a professional appearance. This style encourages better audience focus, making learning more effective and engaging.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3341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Minimalist Design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Faster Comprehension and Audience Focus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66775"/>
            <a:ext cx="9763125" cy="258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  <a:spcBef>
                <a:spcPct val="0"/>
              </a:spcBef>
            </a:pPr>
            <a:r>
              <a:rPr lang="en-US" sz="9999" u="none" strike="noStrike" spc="-199">
                <a:solidFill>
                  <a:srgbClr val="2F2F2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Template 1 – Lecture Overview</a:t>
            </a:r>
          </a:p>
        </p:txBody>
      </p:sp>
      <p:sp>
        <p:nvSpPr>
          <p:cNvPr id="3" name="Freeform 3"/>
          <p:cNvSpPr/>
          <p:nvPr/>
        </p:nvSpPr>
        <p:spPr>
          <a:xfrm>
            <a:off x="15428144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Minimalist templates prioritize </a:t>
              </a: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simplicity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</a:t>
              </a: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clarity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allowing educators to focus on content delivery without distractions. This approach enhances audience engagement and comprehension, fostering a more effective learning environment.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3341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Lecture Design Principles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Key Elements for Effective Presentations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73009" y="666750"/>
            <a:ext cx="9148241" cy="8953500"/>
            <a:chOff x="0" y="0"/>
            <a:chExt cx="240941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9413" cy="2358124"/>
            </a:xfrm>
            <a:custGeom>
              <a:avLst/>
              <a:gdLst/>
              <a:ahLst/>
              <a:cxnLst/>
              <a:rect l="l" t="t" r="r" b="b"/>
              <a:pathLst>
                <a:path w="2409413" h="2358124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2F2F2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1971676"/>
            <a:chOff x="0" y="0"/>
            <a:chExt cx="9182100" cy="2628901"/>
          </a:xfrm>
        </p:grpSpPr>
        <p:sp>
          <p:nvSpPr>
            <p:cNvPr id="6" name="TextBox 6"/>
            <p:cNvSpPr txBox="1"/>
            <p:nvPr/>
          </p:nvSpPr>
          <p:spPr>
            <a:xfrm>
              <a:off x="0" y="2110741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Key Highlights of the Lecture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1450"/>
              <a:ext cx="9182100" cy="1551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Agenda Points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1562100"/>
            <a:ext cx="6886575" cy="903605"/>
            <a:chOff x="0" y="0"/>
            <a:chExt cx="9182100" cy="1204806"/>
          </a:xfrm>
        </p:grpSpPr>
        <p:sp>
          <p:nvSpPr>
            <p:cNvPr id="9" name="TextBox 9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Introduction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Overview of lecture topics to be covered.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4706"/>
            <a:ext cx="6886575" cy="903605"/>
            <a:chOff x="0" y="0"/>
            <a:chExt cx="9182100" cy="120480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Main Concepts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Explanation of core ideas with supporting details.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44135"/>
            <a:ext cx="6886575" cy="1294130"/>
            <a:chOff x="0" y="0"/>
            <a:chExt cx="9182100" cy="172550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Discussion Section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Prompt for engaging class participation and interaction.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6933565"/>
            <a:ext cx="6886575" cy="903605"/>
            <a:chOff x="0" y="0"/>
            <a:chExt cx="9182100" cy="120480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Conclusion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Summary of key takeaways and final thoughts.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00187"/>
            <a:ext cx="9763125" cy="132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  <a:spcBef>
                <a:spcPct val="0"/>
              </a:spcBef>
            </a:pPr>
            <a:r>
              <a:rPr lang="en-US" sz="9999" u="none" strike="noStrike" spc="-199">
                <a:solidFill>
                  <a:srgbClr val="2F2F2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Lesson Content</a:t>
            </a:r>
          </a:p>
        </p:txBody>
      </p:sp>
      <p:sp>
        <p:nvSpPr>
          <p:cNvPr id="3" name="Freeform 3"/>
          <p:cNvSpPr/>
          <p:nvPr/>
        </p:nvSpPr>
        <p:spPr>
          <a:xfrm>
            <a:off x="15428144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3912870"/>
            <a:chOff x="0" y="0"/>
            <a:chExt cx="11099800" cy="52171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1369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section outlines essential lesson topics, designed to </a:t>
              </a: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engage students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foster understanding, ensuring clarity in presentations while maintaining a </a:t>
              </a: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minimalist approach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optimal focus.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1740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Lesson Topics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431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Introducing Core Concepts for Engagement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274696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6963" cy="2709333"/>
            </a:xfrm>
            <a:custGeom>
              <a:avLst/>
              <a:gdLst/>
              <a:ahLst/>
              <a:cxnLst/>
              <a:rect l="l" t="t" r="r" b="b"/>
              <a:pathLst>
                <a:path w="2746963" h="270933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46963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934200"/>
            <a:ext cx="4010025" cy="2712720"/>
            <a:chOff x="0" y="0"/>
            <a:chExt cx="1056138" cy="7144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714461"/>
            </a:xfrm>
            <a:custGeom>
              <a:avLst/>
              <a:gdLst/>
              <a:ahLst/>
              <a:cxnLst/>
              <a:rect l="l" t="t" r="r" b="b"/>
              <a:pathLst>
                <a:path w="1056138" h="714461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7236"/>
                  </a:lnTo>
                  <a:cubicBezTo>
                    <a:pt x="1056138" y="679886"/>
                    <a:pt x="1021563" y="714461"/>
                    <a:pt x="978913" y="714461"/>
                  </a:cubicBezTo>
                  <a:lnTo>
                    <a:pt x="77226" y="714461"/>
                  </a:lnTo>
                  <a:cubicBezTo>
                    <a:pt x="34575" y="714461"/>
                    <a:pt x="0" y="679886"/>
                    <a:pt x="0" y="637236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723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11225" y="6934200"/>
            <a:ext cx="4010025" cy="2686050"/>
            <a:chOff x="0" y="0"/>
            <a:chExt cx="1056138" cy="7074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707437"/>
            </a:xfrm>
            <a:custGeom>
              <a:avLst/>
              <a:gdLst/>
              <a:ahLst/>
              <a:cxnLst/>
              <a:rect l="l" t="t" r="r" b="b"/>
              <a:pathLst>
                <a:path w="1056138" h="707437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0211"/>
                  </a:lnTo>
                  <a:cubicBezTo>
                    <a:pt x="1056138" y="672862"/>
                    <a:pt x="1021563" y="707437"/>
                    <a:pt x="978913" y="707437"/>
                  </a:cubicBezTo>
                  <a:lnTo>
                    <a:pt x="77226" y="707437"/>
                  </a:lnTo>
                  <a:cubicBezTo>
                    <a:pt x="34575" y="707437"/>
                    <a:pt x="0" y="672862"/>
                    <a:pt x="0" y="63021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7169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66750"/>
            <a:ext cx="4010025" cy="5956430"/>
            <a:chOff x="0" y="0"/>
            <a:chExt cx="812800" cy="12073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207321"/>
            </a:xfrm>
            <a:custGeom>
              <a:avLst/>
              <a:gdLst/>
              <a:ahLst/>
              <a:cxnLst/>
              <a:rect l="l" t="t" r="r" b="b"/>
              <a:pathLst>
                <a:path w="812800" h="1207321">
                  <a:moveTo>
                    <a:pt x="77226" y="0"/>
                  </a:moveTo>
                  <a:lnTo>
                    <a:pt x="735574" y="0"/>
                  </a:lnTo>
                  <a:cubicBezTo>
                    <a:pt x="778225" y="0"/>
                    <a:pt x="812800" y="34575"/>
                    <a:pt x="812800" y="77226"/>
                  </a:cubicBezTo>
                  <a:lnTo>
                    <a:pt x="812800" y="1130095"/>
                  </a:lnTo>
                  <a:cubicBezTo>
                    <a:pt x="812800" y="1172746"/>
                    <a:pt x="778225" y="1207321"/>
                    <a:pt x="735574" y="1207321"/>
                  </a:cubicBezTo>
                  <a:lnTo>
                    <a:pt x="77226" y="1207321"/>
                  </a:lnTo>
                  <a:cubicBezTo>
                    <a:pt x="34575" y="1207321"/>
                    <a:pt x="0" y="1172746"/>
                    <a:pt x="0" y="1130095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2"/>
              <a:stretch>
                <a:fillRect t="-428" b="-42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611225" y="666750"/>
            <a:ext cx="4010025" cy="5956430"/>
            <a:chOff x="0" y="0"/>
            <a:chExt cx="812800" cy="12073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207321"/>
            </a:xfrm>
            <a:custGeom>
              <a:avLst/>
              <a:gdLst/>
              <a:ahLst/>
              <a:cxnLst/>
              <a:rect l="l" t="t" r="r" b="b"/>
              <a:pathLst>
                <a:path w="812800" h="1207321">
                  <a:moveTo>
                    <a:pt x="77226" y="0"/>
                  </a:moveTo>
                  <a:lnTo>
                    <a:pt x="735574" y="0"/>
                  </a:lnTo>
                  <a:cubicBezTo>
                    <a:pt x="778225" y="0"/>
                    <a:pt x="812800" y="34575"/>
                    <a:pt x="812800" y="77226"/>
                  </a:cubicBezTo>
                  <a:lnTo>
                    <a:pt x="812800" y="1130095"/>
                  </a:lnTo>
                  <a:cubicBezTo>
                    <a:pt x="812800" y="1172746"/>
                    <a:pt x="778225" y="1207321"/>
                    <a:pt x="735574" y="1207321"/>
                  </a:cubicBezTo>
                  <a:lnTo>
                    <a:pt x="77226" y="1207321"/>
                  </a:lnTo>
                  <a:cubicBezTo>
                    <a:pt x="34575" y="1207321"/>
                    <a:pt x="0" y="1172746"/>
                    <a:pt x="0" y="1130095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3"/>
              <a:stretch>
                <a:fillRect t="-428" b="-428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66750" y="828675"/>
            <a:ext cx="6886575" cy="5237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1"/>
              </a:lnSpc>
              <a:spcBef>
                <a:spcPct val="0"/>
              </a:spcBef>
            </a:pPr>
            <a:r>
              <a:rPr lang="en-US" sz="8181" u="none" strike="noStrike" spc="-163">
                <a:solidFill>
                  <a:srgbClr val="2F2F2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Engaging Students through Effective Design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684671" y="7454265"/>
            <a:ext cx="3257550" cy="1852749"/>
            <a:chOff x="0" y="0"/>
            <a:chExt cx="4343400" cy="2470332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4343400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39"/>
                </a:lnSpc>
                <a:spcBef>
                  <a:spcPct val="0"/>
                </a:spcBef>
              </a:pPr>
              <a:r>
                <a:rPr lang="en-US" sz="2533">
                  <a:solidFill>
                    <a:srgbClr val="6C757D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Effective Engagement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054100"/>
              <a:ext cx="4343400" cy="1416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057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Clear design enhances student interaction and focus.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7462" y="7454265"/>
            <a:ext cx="3257550" cy="1852749"/>
            <a:chOff x="0" y="0"/>
            <a:chExt cx="4343400" cy="2470332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9525"/>
              <a:ext cx="4343400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39"/>
                </a:lnSpc>
                <a:spcBef>
                  <a:spcPct val="0"/>
                </a:spcBef>
              </a:pPr>
              <a:r>
                <a:rPr lang="en-US" sz="2533">
                  <a:solidFill>
                    <a:srgbClr val="6C757D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Visual Clarity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054100"/>
              <a:ext cx="4343400" cy="1416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057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Simplified layouts improve comprehension and retention.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66775"/>
            <a:ext cx="9763125" cy="258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  <a:spcBef>
                <a:spcPct val="0"/>
              </a:spcBef>
            </a:pPr>
            <a:r>
              <a:rPr lang="en-US" sz="9999" u="none" strike="noStrike" spc="-199">
                <a:solidFill>
                  <a:srgbClr val="2F2F2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Interactive Discussion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5428144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Engaging questions stimulate discussion and encourage student participation. By </a:t>
              </a: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actively involving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students in the learning process, educators foster a stimulating environment that enhances understanding.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3341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Engaging Questions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Prompting Student Participation in Class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6267450"/>
            <a:chOff x="0" y="0"/>
            <a:chExt cx="143494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858F9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6267450"/>
            <a:chOff x="0" y="0"/>
            <a:chExt cx="143494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858F9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3352800"/>
            <a:ext cx="5448300" cy="6267450"/>
            <a:chOff x="0" y="0"/>
            <a:chExt cx="1434943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858F9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7589" y="838200"/>
            <a:ext cx="16952821" cy="112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2F2F2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Group Activity Steps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05025" y="4248262"/>
            <a:ext cx="2571750" cy="3436434"/>
            <a:chOff x="0" y="0"/>
            <a:chExt cx="3429000" cy="458191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42875"/>
              <a:ext cx="3429000" cy="147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49326"/>
              <a:ext cx="34290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Step One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543052"/>
              <a:ext cx="34290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Discuss key topics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as a group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150"/>
            <a:ext cx="2571750" cy="4217521"/>
            <a:chOff x="0" y="0"/>
            <a:chExt cx="3429000" cy="5623362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42875"/>
              <a:ext cx="3429000" cy="147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749326"/>
              <a:ext cx="34290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Step Two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543102"/>
              <a:ext cx="34290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Brainstorm solutions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collaboratively with peers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1225" y="4248150"/>
            <a:ext cx="2571750" cy="3436620"/>
            <a:chOff x="0" y="0"/>
            <a:chExt cx="3429000" cy="458216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42875"/>
              <a:ext cx="3429000" cy="147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749326"/>
              <a:ext cx="34290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Step Three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543300"/>
              <a:ext cx="34290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Share findings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with the entire class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66775"/>
            <a:ext cx="9763125" cy="258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  <a:spcBef>
                <a:spcPct val="0"/>
              </a:spcBef>
            </a:pPr>
            <a:r>
              <a:rPr lang="en-US" sz="9999" u="none" strike="noStrike" spc="-199">
                <a:solidFill>
                  <a:srgbClr val="2F2F2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Summary and Assignment</a:t>
            </a:r>
          </a:p>
        </p:txBody>
      </p:sp>
      <p:sp>
        <p:nvSpPr>
          <p:cNvPr id="3" name="Freeform 3"/>
          <p:cNvSpPr/>
          <p:nvPr/>
        </p:nvSpPr>
        <p:spPr>
          <a:xfrm>
            <a:off x="15428144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slide highlights important </a:t>
              </a: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summary points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assignments for students, ensuring clarity and focus on key tasks. Simple icons enhance understanding while maintaining a minimalist aesthetic.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3341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Summary and Assignments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Key Takeaways and Action Items for Students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113020"/>
            <a:chOff x="0" y="0"/>
            <a:chExt cx="11099800" cy="68173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slide outlines the key </a:t>
              </a:r>
              <a:r>
                <a:rPr lang="en-US" sz="2400" b="1" u="none" strike="noStrike" spc="-48">
                  <a:solidFill>
                    <a:srgbClr val="2F2F2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assignment instructions</a:t>
              </a: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including due dates, submission formats, and grading criteria. Ensure all materials adhere to the provided guidelines for clarity and structure.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3341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Assignment Details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Instructions for Submissions and Deadlines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296400" y="3533775"/>
            <a:ext cx="8324850" cy="2460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00"/>
              </a:lnSpc>
            </a:pPr>
            <a:r>
              <a:rPr lang="en-US" sz="9500" u="none" strike="noStrike" spc="-190">
                <a:solidFill>
                  <a:srgbClr val="2F2F2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Conclusion and Usage Tips</a:t>
            </a:r>
          </a:p>
        </p:txBody>
      </p:sp>
      <p:sp>
        <p:nvSpPr>
          <p:cNvPr id="8" name="Freeform 8"/>
          <p:cNvSpPr/>
          <p:nvPr/>
        </p:nvSpPr>
        <p:spPr>
          <a:xfrm>
            <a:off x="-52388" y="1028700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02596" y="0"/>
            <a:ext cx="8185404" cy="10287000"/>
            <a:chOff x="0" y="0"/>
            <a:chExt cx="215582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5827" cy="2709333"/>
            </a:xfrm>
            <a:custGeom>
              <a:avLst/>
              <a:gdLst/>
              <a:ahLst/>
              <a:cxnLst/>
              <a:rect l="l" t="t" r="r" b="b"/>
              <a:pathLst>
                <a:path w="2155827" h="2709333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08180" y="666750"/>
            <a:ext cx="6947741" cy="8953500"/>
            <a:chOff x="0" y="0"/>
            <a:chExt cx="812800" cy="10474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47449"/>
            </a:xfrm>
            <a:custGeom>
              <a:avLst/>
              <a:gdLst/>
              <a:ahLst/>
              <a:cxnLst/>
              <a:rect l="l" t="t" r="r" b="b"/>
              <a:pathLst>
                <a:path w="812800" h="1047449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t="-306" b="-3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66750" y="666750"/>
            <a:ext cx="8324850" cy="1969824"/>
            <a:chOff x="0" y="0"/>
            <a:chExt cx="11099800" cy="2626432"/>
          </a:xfrm>
        </p:grpSpPr>
        <p:sp>
          <p:nvSpPr>
            <p:cNvPr id="8" name="TextBox 8"/>
            <p:cNvSpPr txBox="1"/>
            <p:nvPr/>
          </p:nvSpPr>
          <p:spPr>
            <a:xfrm>
              <a:off x="0" y="2108272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Stay Connected and Informed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71450"/>
              <a:ext cx="11099800" cy="1551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>
                  <a:solidFill>
                    <a:srgbClr val="2F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Contact Us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5143500"/>
            <a:ext cx="8324850" cy="895350"/>
            <a:chOff x="0" y="0"/>
            <a:chExt cx="11099800" cy="11938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381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Email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7564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hello@reallygreatsite.com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6750" y="6934200"/>
            <a:ext cx="8324850" cy="895350"/>
            <a:chOff x="0" y="0"/>
            <a:chExt cx="11099800" cy="119380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381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Social Media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7564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@reallygreatsite.com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6750" y="8724900"/>
            <a:ext cx="8324850" cy="895350"/>
            <a:chOff x="0" y="0"/>
            <a:chExt cx="11099800" cy="119380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381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Phone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7564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F2F2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123-456-7890</a:t>
              </a:r>
            </a:p>
          </p:txBody>
        </p:sp>
      </p:grpSp>
      <p:sp>
        <p:nvSpPr>
          <p:cNvPr id="19" name="Freeform 19"/>
          <p:cNvSpPr/>
          <p:nvPr/>
        </p:nvSpPr>
        <p:spPr>
          <a:xfrm rot="5400000" flipH="1">
            <a:off x="16106389" y="8352937"/>
            <a:ext cx="1792448" cy="1639275"/>
          </a:xfrm>
          <a:custGeom>
            <a:avLst/>
            <a:gdLst/>
            <a:ahLst/>
            <a:cxnLst/>
            <a:rect l="l" t="t" r="r" b="b"/>
            <a:pathLst>
              <a:path w="1792448" h="1639275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Custom</PresentationFormat>
  <Paragraphs>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TT Interphases</vt:lpstr>
      <vt:lpstr>Cooper BT Medium</vt:lpstr>
      <vt:lpstr>TT Interphases Bold</vt:lpstr>
      <vt:lpstr>Cooper BT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Minimalist PowerPoint Templates</dc:title>
  <dc:creator>PADMANAVA</dc:creator>
  <dc:description>Presentation - Minimalist PowerPoint Templates</dc:description>
  <cp:lastModifiedBy>mojumderpadmanava@gmail.com</cp:lastModifiedBy>
  <cp:revision>1</cp:revision>
  <dcterms:created xsi:type="dcterms:W3CDTF">2006-08-16T00:00:00Z</dcterms:created>
  <dcterms:modified xsi:type="dcterms:W3CDTF">2025-10-18T05:29:26Z</dcterms:modified>
  <dc:identifier>DAG135Na1AQ</dc:identifier>
</cp:coreProperties>
</file>